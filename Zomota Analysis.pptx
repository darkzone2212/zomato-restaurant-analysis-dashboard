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84" r:id="rId3"/>
    <p:sldId id="279" r:id="rId4"/>
    <p:sldId id="259" r:id="rId5"/>
    <p:sldId id="287" r:id="rId6"/>
    <p:sldId id="263" r:id="rId7"/>
    <p:sldId id="280" r:id="rId8"/>
    <p:sldId id="262" r:id="rId9"/>
    <p:sldId id="281" r:id="rId10"/>
    <p:sldId id="266" r:id="rId11"/>
    <p:sldId id="267" r:id="rId12"/>
    <p:sldId id="268" r:id="rId13"/>
    <p:sldId id="269" r:id="rId14"/>
    <p:sldId id="276" r:id="rId15"/>
    <p:sldId id="286" r:id="rId16"/>
    <p:sldId id="288" r:id="rId17"/>
    <p:sldId id="282" r:id="rId18"/>
    <p:sldId id="28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0E15"/>
    <a:srgbClr val="874A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83"/>
    <p:restoredTop sz="91052"/>
  </p:normalViewPr>
  <p:slideViewPr>
    <p:cSldViewPr snapToGrid="0">
      <p:cViewPr varScale="1">
        <p:scale>
          <a:sx n="100" d="100"/>
          <a:sy n="100" d="100"/>
        </p:scale>
        <p:origin x="124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mymac/Desktop/Zomato%20/Final%20Project/Zomato%20Analysis/Zomato_Data_1.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[Zomato_Data_1.xlsx]Pivot!PivotTable1</c:name>
    <c:fmtId val="15"/>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a:t>Country Wise count of Restaurant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rgbClr val="FF404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404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404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Pivot!$B$3</c:f>
              <c:strCache>
                <c:ptCount val="1"/>
                <c:pt idx="0">
                  <c:v>Total</c:v>
                </c:pt>
              </c:strCache>
            </c:strRef>
          </c:tx>
          <c:spPr>
            <a:solidFill>
              <a:srgbClr val="FF404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Pivot!$A$4:$A$19</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Pivot!$B$4:$B$19</c:f>
              <c:numCache>
                <c:formatCode>General</c:formatCode>
                <c:ptCount val="15"/>
                <c:pt idx="0">
                  <c:v>24</c:v>
                </c:pt>
                <c:pt idx="1">
                  <c:v>60</c:v>
                </c:pt>
                <c:pt idx="2">
                  <c:v>4</c:v>
                </c:pt>
                <c:pt idx="3">
                  <c:v>8652</c:v>
                </c:pt>
                <c:pt idx="4">
                  <c:v>21</c:v>
                </c:pt>
                <c:pt idx="5">
                  <c:v>40</c:v>
                </c:pt>
                <c:pt idx="6">
                  <c:v>22</c:v>
                </c:pt>
                <c:pt idx="7">
                  <c:v>20</c:v>
                </c:pt>
                <c:pt idx="8">
                  <c:v>20</c:v>
                </c:pt>
                <c:pt idx="9">
                  <c:v>60</c:v>
                </c:pt>
                <c:pt idx="10">
                  <c:v>20</c:v>
                </c:pt>
                <c:pt idx="11">
                  <c:v>34</c:v>
                </c:pt>
                <c:pt idx="12">
                  <c:v>60</c:v>
                </c:pt>
                <c:pt idx="13">
                  <c:v>80</c:v>
                </c:pt>
                <c:pt idx="14">
                  <c:v>434</c:v>
                </c:pt>
              </c:numCache>
            </c:numRef>
          </c:val>
          <c:extLst>
            <c:ext xmlns:c16="http://schemas.microsoft.com/office/drawing/2014/chart" uri="{C3380CC4-5D6E-409C-BE32-E72D297353CC}">
              <c16:uniqueId val="{00000000-8727-0945-A7A7-BA2D51634DA4}"/>
            </c:ext>
          </c:extLst>
        </c:ser>
        <c:dLbls>
          <c:dLblPos val="outEnd"/>
          <c:showLegendKey val="0"/>
          <c:showVal val="1"/>
          <c:showCatName val="0"/>
          <c:showSerName val="0"/>
          <c:showPercent val="0"/>
          <c:showBubbleSize val="0"/>
        </c:dLbls>
        <c:gapWidth val="219"/>
        <c:overlap val="-27"/>
        <c:axId val="1781743391"/>
        <c:axId val="1781745119"/>
      </c:barChart>
      <c:catAx>
        <c:axId val="1781743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781745119"/>
        <c:crosses val="autoZero"/>
        <c:auto val="1"/>
        <c:lblAlgn val="ctr"/>
        <c:lblOffset val="100"/>
        <c:noMultiLvlLbl val="0"/>
      </c:catAx>
      <c:valAx>
        <c:axId val="17817451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781743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pivotSource>
    <c:name>[Zomato_Data_1.xlsx]Pivot!PivotTable2</c:name>
    <c:fmtId val="18"/>
  </c:pivotSource>
  <c:chart>
    <c:title>
      <c:tx>
        <c:rich>
          <a:bodyPr rot="0" spcFirstLastPara="1" vertOverflow="ellipsis" vert="horz" wrap="square" anchor="ctr" anchorCtr="1"/>
          <a:lstStyle/>
          <a:p>
            <a:pPr>
              <a:defRPr sz="1800" b="1" i="0" u="none" strike="noStrike" kern="1200" cap="all" spc="150" baseline="0">
                <a:solidFill>
                  <a:schemeClr val="dk1"/>
                </a:solidFill>
                <a:latin typeface="+mn-lt"/>
                <a:ea typeface="+mn-ea"/>
                <a:cs typeface="+mn-cs"/>
              </a:defRPr>
            </a:pPr>
            <a:r>
              <a:rPr lang="en-US"/>
              <a:t>Restaurant Opened Anually </a:t>
            </a:r>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dk1"/>
              </a:solidFill>
              <a:latin typeface="+mn-lt"/>
              <a:ea typeface="+mn-ea"/>
              <a:cs typeface="+mn-cs"/>
            </a:defRPr>
          </a:pPr>
          <a:endParaRPr lang="en-US"/>
        </a:p>
      </c:txPr>
    </c:title>
    <c:autoTitleDeleted val="0"/>
    <c:pivotFmts>
      <c:pivotFmt>
        <c:idx val="0"/>
        <c:spPr>
          <a:pattFill prst="ltUpDiag">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Pivot!$B$25</c:f>
              <c:strCache>
                <c:ptCount val="1"/>
                <c:pt idx="0">
                  <c:v>Total</c:v>
                </c:pt>
              </c:strCache>
            </c:strRef>
          </c:tx>
          <c:spPr>
            <a:pattFill prst="ltUpDiag">
              <a:fgClr>
                <a:schemeClr val="accent2"/>
              </a:fgClr>
              <a:bgClr>
                <a:schemeClr val="accent2">
                  <a:lumMod val="20000"/>
                  <a:lumOff val="80000"/>
                </a:schemeClr>
              </a:bgClr>
            </a:pattFill>
            <a:ln>
              <a:noFill/>
            </a:ln>
            <a:effectLst>
              <a:innerShdw blurRad="114300">
                <a:schemeClr val="accent2"/>
              </a:innerShdw>
            </a:effectLst>
          </c:spPr>
          <c:cat>
            <c:strRef>
              <c:f>Pivot!$A$26:$A$35</c:f>
              <c:strCache>
                <c:ptCount val="9"/>
                <c:pt idx="0">
                  <c:v>2010</c:v>
                </c:pt>
                <c:pt idx="1">
                  <c:v>2011</c:v>
                </c:pt>
                <c:pt idx="2">
                  <c:v>2012</c:v>
                </c:pt>
                <c:pt idx="3">
                  <c:v>2013</c:v>
                </c:pt>
                <c:pt idx="4">
                  <c:v>2014</c:v>
                </c:pt>
                <c:pt idx="5">
                  <c:v>2015</c:v>
                </c:pt>
                <c:pt idx="6">
                  <c:v>2016</c:v>
                </c:pt>
                <c:pt idx="7">
                  <c:v>2017</c:v>
                </c:pt>
                <c:pt idx="8">
                  <c:v>2018</c:v>
                </c:pt>
              </c:strCache>
            </c:strRef>
          </c:cat>
          <c:val>
            <c:numRef>
              <c:f>Pivot!$B$26:$B$35</c:f>
              <c:numCache>
                <c:formatCode>General</c:formatCode>
                <c:ptCount val="9"/>
                <c:pt idx="0">
                  <c:v>1080</c:v>
                </c:pt>
                <c:pt idx="1">
                  <c:v>1098</c:v>
                </c:pt>
                <c:pt idx="2">
                  <c:v>1022</c:v>
                </c:pt>
                <c:pt idx="3">
                  <c:v>1061</c:v>
                </c:pt>
                <c:pt idx="4">
                  <c:v>1051</c:v>
                </c:pt>
                <c:pt idx="5">
                  <c:v>1024</c:v>
                </c:pt>
                <c:pt idx="6">
                  <c:v>1027</c:v>
                </c:pt>
                <c:pt idx="7">
                  <c:v>1086</c:v>
                </c:pt>
                <c:pt idx="8">
                  <c:v>1102</c:v>
                </c:pt>
              </c:numCache>
            </c:numRef>
          </c:val>
          <c:extLst>
            <c:ext xmlns:c16="http://schemas.microsoft.com/office/drawing/2014/chart" uri="{C3380CC4-5D6E-409C-BE32-E72D297353CC}">
              <c16:uniqueId val="{00000000-C7CA-B941-977B-98A506CA2BAD}"/>
            </c:ext>
          </c:extLst>
        </c:ser>
        <c:dLbls>
          <c:showLegendKey val="0"/>
          <c:showVal val="0"/>
          <c:showCatName val="0"/>
          <c:showSerName val="0"/>
          <c:showPercent val="0"/>
          <c:showBubbleSize val="0"/>
        </c:dLbls>
        <c:axId val="1599633951"/>
        <c:axId val="1599635663"/>
      </c:areaChart>
      <c:catAx>
        <c:axId val="1599633951"/>
        <c:scaling>
          <c:orientation val="minMax"/>
        </c:scaling>
        <c:delete val="0"/>
        <c:axPos val="b"/>
        <c:numFmt formatCode="General" sourceLinked="1"/>
        <c:majorTickMark val="out"/>
        <c:minorTickMark val="out"/>
        <c:tickLblPos val="nextTo"/>
        <c:spPr>
          <a:noFill/>
          <a:ln>
            <a:noFill/>
          </a:ln>
          <a:effectLst/>
        </c:spPr>
        <c:txPr>
          <a:bodyPr rot="-60000000" spcFirstLastPara="1" vertOverflow="ellipsis" vert="horz" wrap="square" anchor="ctr" anchorCtr="1"/>
          <a:lstStyle/>
          <a:p>
            <a:pPr>
              <a:defRPr sz="900" b="0" i="0" u="none" strike="noStrike" kern="1200" cap="all" spc="120" normalizeH="0" baseline="0">
                <a:solidFill>
                  <a:schemeClr val="dk1"/>
                </a:solidFill>
                <a:latin typeface="+mn-lt"/>
                <a:ea typeface="+mn-ea"/>
                <a:cs typeface="+mn-cs"/>
              </a:defRPr>
            </a:pPr>
            <a:endParaRPr lang="en-US"/>
          </a:p>
        </c:txPr>
        <c:crossAx val="1599635663"/>
        <c:crosses val="autoZero"/>
        <c:auto val="1"/>
        <c:lblAlgn val="ctr"/>
        <c:lblOffset val="100"/>
        <c:noMultiLvlLbl val="0"/>
      </c:catAx>
      <c:valAx>
        <c:axId val="1599635663"/>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599633951"/>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[Zomato_Data_1.xlsx]Pivot!PivotTable4</c:name>
    <c:fmtId val="5"/>
  </c:pivotSource>
  <c:chart>
    <c:title>
      <c:tx>
        <c:rich>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r>
              <a:rPr lang="en-US"/>
              <a:t>Country Wise Average Voters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dk1"/>
              </a:solidFill>
              <a:latin typeface="+mn-lt"/>
              <a:ea typeface="+mn-ea"/>
              <a:cs typeface="+mn-cs"/>
            </a:defRPr>
          </a:pPr>
          <a:endParaRPr lang="en-US"/>
        </a:p>
      </c:txPr>
    </c:title>
    <c:autoTitleDeleted val="0"/>
    <c:pivotFmts>
      <c:pivotFmt>
        <c:idx val="0"/>
        <c:spPr>
          <a:solidFill>
            <a:srgbClr val="FF0000"/>
          </a:solidFill>
          <a:ln>
            <a:noFill/>
          </a:ln>
          <a:effectLst/>
        </c:spPr>
        <c:marker>
          <c:symbol val="none"/>
        </c:marker>
        <c:dLbl>
          <c:idx val="0"/>
          <c:numFmt formatCode="#,##0.00"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marker>
          <c:symbol val="none"/>
        </c:marker>
        <c:dLbl>
          <c:idx val="0"/>
          <c:numFmt formatCode="#,##0.00"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marker>
          <c:symbol val="none"/>
        </c:marker>
        <c:dLbl>
          <c:idx val="0"/>
          <c:numFmt formatCode="#,##0.00"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Pivot!$B$53</c:f>
              <c:strCache>
                <c:ptCount val="1"/>
                <c:pt idx="0">
                  <c:v>Total</c:v>
                </c:pt>
              </c:strCache>
            </c:strRef>
          </c:tx>
          <c:spPr>
            <a:solidFill>
              <a:srgbClr val="FF0000"/>
            </a:solidFill>
            <a:ln>
              <a:noFill/>
            </a:ln>
            <a:effectLst/>
          </c:spPr>
          <c:invertIfNegative val="0"/>
          <c:dLbls>
            <c:numFmt formatCode="#,##0.00" sourceLinked="0"/>
            <c:spPr>
              <a:noFill/>
              <a:ln>
                <a:noFill/>
              </a:ln>
              <a:effectLst/>
            </c:spPr>
            <c:txPr>
              <a:bodyPr rot="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Pivot!$A$54:$A$69</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Pivot!$B$54:$B$69</c:f>
              <c:numCache>
                <c:formatCode>General</c:formatCode>
                <c:ptCount val="15"/>
                <c:pt idx="0">
                  <c:v>111.41666666666667</c:v>
                </c:pt>
                <c:pt idx="1">
                  <c:v>19.616666666666667</c:v>
                </c:pt>
                <c:pt idx="2">
                  <c:v>103</c:v>
                </c:pt>
                <c:pt idx="3">
                  <c:v>137.21255201109571</c:v>
                </c:pt>
                <c:pt idx="4">
                  <c:v>772.09523809523807</c:v>
                </c:pt>
                <c:pt idx="5">
                  <c:v>243.02500000000001</c:v>
                </c:pt>
                <c:pt idx="6">
                  <c:v>407.40909090909093</c:v>
                </c:pt>
                <c:pt idx="7">
                  <c:v>163.80000000000001</c:v>
                </c:pt>
                <c:pt idx="8">
                  <c:v>31.9</c:v>
                </c:pt>
                <c:pt idx="9">
                  <c:v>315.16666666666669</c:v>
                </c:pt>
                <c:pt idx="10">
                  <c:v>146.44999999999999</c:v>
                </c:pt>
                <c:pt idx="11">
                  <c:v>431.47058823529414</c:v>
                </c:pt>
                <c:pt idx="12">
                  <c:v>493.51666666666665</c:v>
                </c:pt>
                <c:pt idx="13">
                  <c:v>205.48750000000001</c:v>
                </c:pt>
                <c:pt idx="14">
                  <c:v>428.22119815668202</c:v>
                </c:pt>
              </c:numCache>
            </c:numRef>
          </c:val>
          <c:extLst>
            <c:ext xmlns:c16="http://schemas.microsoft.com/office/drawing/2014/chart" uri="{C3380CC4-5D6E-409C-BE32-E72D297353CC}">
              <c16:uniqueId val="{00000000-46BB-DE4C-9EAA-8E64844487CC}"/>
            </c:ext>
          </c:extLst>
        </c:ser>
        <c:dLbls>
          <c:dLblPos val="inEnd"/>
          <c:showLegendKey val="0"/>
          <c:showVal val="1"/>
          <c:showCatName val="0"/>
          <c:showSerName val="0"/>
          <c:showPercent val="0"/>
          <c:showBubbleSize val="0"/>
        </c:dLbls>
        <c:gapWidth val="219"/>
        <c:overlap val="-27"/>
        <c:axId val="204137680"/>
        <c:axId val="115063039"/>
      </c:barChart>
      <c:catAx>
        <c:axId val="20413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15063039"/>
        <c:crosses val="autoZero"/>
        <c:auto val="1"/>
        <c:lblAlgn val="ctr"/>
        <c:lblOffset val="100"/>
        <c:noMultiLvlLbl val="0"/>
      </c:catAx>
      <c:valAx>
        <c:axId val="1150630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204137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[Zomato_Data_1.xlsx]Pivot!PivotTable18</c:name>
    <c:fmtId val="21"/>
  </c:pivotSource>
  <c:chart>
    <c:title>
      <c:tx>
        <c:rich>
          <a:bodyPr rot="0" spcFirstLastPara="1" vertOverflow="ellipsis" vert="horz" wrap="square" anchor="ctr" anchorCtr="1"/>
          <a:lstStyle/>
          <a:p>
            <a:pPr>
              <a:defRPr b="0" i="0" u="none" strike="noStrike" kern="1200" baseline="0">
                <a:solidFill>
                  <a:schemeClr val="dk1"/>
                </a:solidFill>
                <a:effectLst/>
                <a:latin typeface="+mn-lt"/>
                <a:ea typeface="+mn-ea"/>
                <a:cs typeface="+mn-cs"/>
              </a:defRPr>
            </a:pPr>
            <a:r>
              <a:rPr lang="en-US"/>
              <a:t>Country</a:t>
            </a:r>
            <a:r>
              <a:rPr lang="en-US" baseline="0"/>
              <a:t> Wise Avg. rating</a:t>
            </a:r>
          </a:p>
        </c:rich>
      </c:tx>
      <c:overlay val="0"/>
      <c:spPr>
        <a:noFill/>
        <a:ln w="12700" cap="flat" cmpd="sng" algn="ctr">
          <a:noFill/>
          <a:prstDash val="solid"/>
          <a:miter lim="800000"/>
        </a:ln>
        <a:effectLst/>
      </c:spPr>
      <c:txPr>
        <a:bodyPr rot="0" spcFirstLastPara="1" vertOverflow="ellipsis" vert="horz" wrap="square" anchor="ctr" anchorCtr="1"/>
        <a:lstStyle/>
        <a:p>
          <a:pPr>
            <a:defRPr b="0" i="0" u="none" strike="noStrike" kern="1200" baseline="0">
              <a:solidFill>
                <a:schemeClr val="dk1"/>
              </a:solidFill>
              <a:effectLst/>
              <a:latin typeface="+mn-lt"/>
              <a:ea typeface="+mn-ea"/>
              <a:cs typeface="+mn-cs"/>
            </a:defRPr>
          </a:pPr>
          <a:endParaRPr lang="en-US"/>
        </a:p>
      </c:txPr>
    </c:title>
    <c:autoTitleDeleted val="0"/>
    <c:pivotFmts>
      <c:pivotFmt>
        <c:idx val="0"/>
        <c:spPr>
          <a:solidFill>
            <a:srgbClr val="FF4040"/>
          </a:solidFill>
          <a:ln>
            <a:noFill/>
          </a:ln>
          <a:effectLst>
            <a:outerShdw blurRad="76200" dir="18900000" sy="23000" kx="-1200000" algn="bl" rotWithShape="0">
              <a:prstClr val="black">
                <a:alpha val="20000"/>
              </a:prstClr>
            </a:outerShdw>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4040"/>
          </a:solidFill>
          <a:ln>
            <a:noFill/>
          </a:ln>
          <a:effectLst>
            <a:outerShdw blurRad="76200" dir="18900000" sy="23000" kx="-1200000" algn="bl" rotWithShape="0">
              <a:prstClr val="black">
                <a:alpha val="20000"/>
              </a:prstClr>
            </a:outerShdw>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4040"/>
          </a:solidFill>
          <a:ln>
            <a:noFill/>
          </a:ln>
          <a:effectLst>
            <a:outerShdw blurRad="76200" dir="18900000" sy="23000" kx="-1200000" algn="bl" rotWithShape="0">
              <a:prstClr val="black">
                <a:alpha val="20000"/>
              </a:prstClr>
            </a:outerShdw>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Pivot!$AY$3</c:f>
              <c:strCache>
                <c:ptCount val="1"/>
                <c:pt idx="0">
                  <c:v>Total</c:v>
                </c:pt>
              </c:strCache>
            </c:strRef>
          </c:tx>
          <c:spPr>
            <a:solidFill>
              <a:srgbClr val="FF4040"/>
            </a:solidFill>
            <a:ln>
              <a:noFill/>
            </a:ln>
            <a:effectLst>
              <a:outerShdw blurRad="76200" dir="18900000" sy="23000" kx="-1200000" algn="bl" rotWithShape="0">
                <a:prstClr val="black">
                  <a:alpha val="20000"/>
                </a:prstClr>
              </a:outerShdw>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Pivot!$AX$4:$AX$19</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Pivot!$AY$4:$AY$19</c:f>
              <c:numCache>
                <c:formatCode>0.00</c:formatCode>
                <c:ptCount val="15"/>
                <c:pt idx="0">
                  <c:v>3.6583333333333337</c:v>
                </c:pt>
                <c:pt idx="1">
                  <c:v>3.8466666666666667</c:v>
                </c:pt>
                <c:pt idx="2">
                  <c:v>3.5750000000000002</c:v>
                </c:pt>
                <c:pt idx="3">
                  <c:v>2.7705501618122987</c:v>
                </c:pt>
                <c:pt idx="4">
                  <c:v>4.295238095238096</c:v>
                </c:pt>
                <c:pt idx="5">
                  <c:v>4.2624999999999993</c:v>
                </c:pt>
                <c:pt idx="6">
                  <c:v>4.4681818181818187</c:v>
                </c:pt>
                <c:pt idx="7">
                  <c:v>4.0599999999999996</c:v>
                </c:pt>
                <c:pt idx="8">
                  <c:v>3.5750000000000002</c:v>
                </c:pt>
                <c:pt idx="9">
                  <c:v>4.2100000000000009</c:v>
                </c:pt>
                <c:pt idx="10">
                  <c:v>3.87</c:v>
                </c:pt>
                <c:pt idx="11">
                  <c:v>4.3</c:v>
                </c:pt>
                <c:pt idx="12">
                  <c:v>4.2333333333333352</c:v>
                </c:pt>
                <c:pt idx="13">
                  <c:v>4.0999999999999996</c:v>
                </c:pt>
                <c:pt idx="14">
                  <c:v>4.011290322580642</c:v>
                </c:pt>
              </c:numCache>
            </c:numRef>
          </c:val>
          <c:extLst>
            <c:ext xmlns:c16="http://schemas.microsoft.com/office/drawing/2014/chart" uri="{C3380CC4-5D6E-409C-BE32-E72D297353CC}">
              <c16:uniqueId val="{00000000-5DCC-454A-A843-D10C840DB80E}"/>
            </c:ext>
          </c:extLst>
        </c:ser>
        <c:dLbls>
          <c:dLblPos val="inEnd"/>
          <c:showLegendKey val="0"/>
          <c:showVal val="1"/>
          <c:showCatName val="0"/>
          <c:showSerName val="0"/>
          <c:showPercent val="0"/>
          <c:showBubbleSize val="0"/>
        </c:dLbls>
        <c:gapWidth val="41"/>
        <c:axId val="1598884031"/>
        <c:axId val="1598885743"/>
      </c:barChart>
      <c:catAx>
        <c:axId val="159888403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effectLst/>
                <a:latin typeface="+mn-lt"/>
                <a:ea typeface="+mn-ea"/>
                <a:cs typeface="+mn-cs"/>
              </a:defRPr>
            </a:pPr>
            <a:endParaRPr lang="en-US"/>
          </a:p>
        </c:txPr>
        <c:crossAx val="1598885743"/>
        <c:crosses val="autoZero"/>
        <c:auto val="1"/>
        <c:lblAlgn val="ctr"/>
        <c:lblOffset val="100"/>
        <c:noMultiLvlLbl val="0"/>
      </c:catAx>
      <c:valAx>
        <c:axId val="1598885743"/>
        <c:scaling>
          <c:orientation val="minMax"/>
          <c:max val="5"/>
          <c:min val="1"/>
        </c:scaling>
        <c:delete val="1"/>
        <c:axPos val="l"/>
        <c:numFmt formatCode="0.00" sourceLinked="1"/>
        <c:majorTickMark val="none"/>
        <c:minorTickMark val="none"/>
        <c:tickLblPos val="nextTo"/>
        <c:crossAx val="1598884031"/>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4"/>
    </mc:Choice>
    <mc:Fallback>
      <c:style val="4"/>
    </mc:Fallback>
  </mc:AlternateContent>
  <c:pivotSource>
    <c:name>[Zomato_Data_1.xlsx]Pivot!PivotTable19</c:name>
    <c:fmtId val="33"/>
  </c:pivotSource>
  <c:chart>
    <c:title>
      <c:tx>
        <c:rich>
          <a:bodyPr rot="0" spcFirstLastPara="1" vertOverflow="ellipsis" vert="horz" wrap="square" anchor="ctr" anchorCtr="1"/>
          <a:lstStyle/>
          <a:p>
            <a:pPr>
              <a:defRPr sz="1400" b="1" i="0" u="none" strike="noStrike" kern="1200" cap="all" spc="50" baseline="0">
                <a:solidFill>
                  <a:schemeClr val="dk1"/>
                </a:solidFill>
                <a:latin typeface="+mn-lt"/>
                <a:ea typeface="+mn-ea"/>
                <a:cs typeface="+mn-cs"/>
              </a:defRPr>
            </a:pPr>
            <a:r>
              <a:rPr lang="en-US"/>
              <a:t>Restaurant vs Price range </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dk1"/>
              </a:solidFill>
              <a:latin typeface="+mn-lt"/>
              <a:ea typeface="+mn-ea"/>
              <a:cs typeface="+mn-cs"/>
            </a:defRPr>
          </a:pPr>
          <a:endParaRPr lang="en-US"/>
        </a:p>
      </c:txPr>
    </c:title>
    <c:autoTitleDeleted val="0"/>
    <c:pivotFmts>
      <c:pivotFmt>
        <c:idx val="0"/>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rgbClr val="F20303"/>
          </a:solidFill>
          <a:ln>
            <a:noFill/>
          </a:ln>
          <a:effectLst/>
          <a:scene3d>
            <a:camera prst="orthographicFront"/>
            <a:lightRig rig="brightRoom" dir="t"/>
          </a:scene3d>
          <a:sp3d prstMaterial="flat">
            <a:bevelT w="50800" h="101600" prst="angle"/>
            <a:contourClr>
              <a:srgbClr val="000000"/>
            </a:contourClr>
          </a:sp3d>
        </c:spPr>
      </c:pivotFmt>
      <c:pivotFmt>
        <c:idx val="2"/>
        <c:spPr>
          <a:solidFill>
            <a:srgbClr val="FF606F"/>
          </a:solidFill>
          <a:ln>
            <a:noFill/>
          </a:ln>
          <a:effectLst/>
          <a:scene3d>
            <a:camera prst="orthographicFront"/>
            <a:lightRig rig="brightRoom" dir="t"/>
          </a:scene3d>
          <a:sp3d prstMaterial="flat">
            <a:bevelT w="50800" h="101600" prst="angle"/>
            <a:contourClr>
              <a:srgbClr val="000000"/>
            </a:contourClr>
          </a:sp3d>
        </c:spPr>
      </c:pivotFmt>
      <c:pivotFmt>
        <c:idx val="3"/>
        <c:spPr>
          <a:solidFill>
            <a:srgbClr val="FF7E79"/>
          </a:solidFill>
          <a:ln>
            <a:noFill/>
          </a:ln>
          <a:effectLst/>
          <a:scene3d>
            <a:camera prst="orthographicFront"/>
            <a:lightRig rig="brightRoom" dir="t"/>
          </a:scene3d>
          <a:sp3d prstMaterial="flat">
            <a:bevelT w="50800" h="101600" prst="angle"/>
            <a:contourClr>
              <a:srgbClr val="000000"/>
            </a:contourClr>
          </a:sp3d>
        </c:spPr>
      </c:pivotFmt>
      <c:pivotFmt>
        <c:idx val="4"/>
        <c:spPr>
          <a:solidFill>
            <a:srgbClr val="D56957"/>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6"/>
        <c:spPr>
          <a:solidFill>
            <a:srgbClr val="F20303"/>
          </a:solidFill>
          <a:ln>
            <a:noFill/>
          </a:ln>
          <a:effectLst/>
          <a:scene3d>
            <a:camera prst="orthographicFront"/>
            <a:lightRig rig="brightRoom" dir="t"/>
          </a:scene3d>
          <a:sp3d prstMaterial="flat">
            <a:bevelT w="50800" h="101600" prst="angle"/>
            <a:contourClr>
              <a:srgbClr val="000000"/>
            </a:contourClr>
          </a:sp3d>
        </c:spPr>
      </c:pivotFmt>
      <c:pivotFmt>
        <c:idx val="7"/>
        <c:spPr>
          <a:solidFill>
            <a:srgbClr val="FF606F"/>
          </a:solidFill>
          <a:ln>
            <a:noFill/>
          </a:ln>
          <a:effectLst/>
          <a:scene3d>
            <a:camera prst="orthographicFront"/>
            <a:lightRig rig="brightRoom" dir="t"/>
          </a:scene3d>
          <a:sp3d prstMaterial="flat">
            <a:bevelT w="50800" h="101600" prst="angle"/>
            <a:contourClr>
              <a:srgbClr val="000000"/>
            </a:contourClr>
          </a:sp3d>
        </c:spPr>
      </c:pivotFmt>
      <c:pivotFmt>
        <c:idx val="8"/>
        <c:spPr>
          <a:solidFill>
            <a:srgbClr val="FF7E79"/>
          </a:solidFill>
          <a:ln>
            <a:noFill/>
          </a:ln>
          <a:effectLst/>
          <a:scene3d>
            <a:camera prst="orthographicFront"/>
            <a:lightRig rig="brightRoom" dir="t"/>
          </a:scene3d>
          <a:sp3d prstMaterial="flat">
            <a:bevelT w="50800" h="101600" prst="angle"/>
            <a:contourClr>
              <a:srgbClr val="000000"/>
            </a:contourClr>
          </a:sp3d>
        </c:spPr>
      </c:pivotFmt>
      <c:pivotFmt>
        <c:idx val="9"/>
        <c:spPr>
          <a:solidFill>
            <a:srgbClr val="D56957"/>
          </a:solidFill>
          <a:ln>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rgbClr val="F20303"/>
          </a:solidFill>
          <a:ln>
            <a:noFill/>
          </a:ln>
          <a:effectLst/>
          <a:scene3d>
            <a:camera prst="orthographicFront"/>
            <a:lightRig rig="brightRoom" dir="t"/>
          </a:scene3d>
          <a:sp3d prstMaterial="flat">
            <a:bevelT w="50800" h="101600" prst="angle"/>
            <a:contourClr>
              <a:srgbClr val="000000"/>
            </a:contourClr>
          </a:sp3d>
        </c:spPr>
      </c:pivotFmt>
      <c:pivotFmt>
        <c:idx val="12"/>
        <c:spPr>
          <a:solidFill>
            <a:srgbClr val="FF606F"/>
          </a:solidFill>
          <a:ln>
            <a:noFill/>
          </a:ln>
          <a:effectLst/>
          <a:scene3d>
            <a:camera prst="orthographicFront"/>
            <a:lightRig rig="brightRoom" dir="t"/>
          </a:scene3d>
          <a:sp3d prstMaterial="flat">
            <a:bevelT w="50800" h="101600" prst="angle"/>
            <a:contourClr>
              <a:srgbClr val="000000"/>
            </a:contourClr>
          </a:sp3d>
        </c:spPr>
      </c:pivotFmt>
      <c:pivotFmt>
        <c:idx val="13"/>
        <c:spPr>
          <a:solidFill>
            <a:srgbClr val="FF7E79"/>
          </a:solidFill>
          <a:ln>
            <a:noFill/>
          </a:ln>
          <a:effectLst/>
          <a:scene3d>
            <a:camera prst="orthographicFront"/>
            <a:lightRig rig="brightRoom" dir="t"/>
          </a:scene3d>
          <a:sp3d prstMaterial="flat">
            <a:bevelT w="50800" h="101600" prst="angle"/>
            <a:contourClr>
              <a:srgbClr val="000000"/>
            </a:contourClr>
          </a:sp3d>
        </c:spPr>
      </c:pivotFmt>
      <c:pivotFmt>
        <c:idx val="14"/>
        <c:spPr>
          <a:solidFill>
            <a:srgbClr val="D56957"/>
          </a:soli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Pivot!$AY$26</c:f>
              <c:strCache>
                <c:ptCount val="1"/>
                <c:pt idx="0">
                  <c:v>Total</c:v>
                </c:pt>
              </c:strCache>
            </c:strRef>
          </c:tx>
          <c:dPt>
            <c:idx val="0"/>
            <c:bubble3D val="0"/>
            <c:spPr>
              <a:solidFill>
                <a:srgbClr val="F2030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A07B-1846-B88D-34A1DDE1C8E7}"/>
              </c:ext>
            </c:extLst>
          </c:dPt>
          <c:dPt>
            <c:idx val="1"/>
            <c:bubble3D val="0"/>
            <c:spPr>
              <a:solidFill>
                <a:srgbClr val="FF606F"/>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A07B-1846-B88D-34A1DDE1C8E7}"/>
              </c:ext>
            </c:extLst>
          </c:dPt>
          <c:dPt>
            <c:idx val="2"/>
            <c:bubble3D val="0"/>
            <c:spPr>
              <a:solidFill>
                <a:srgbClr val="FF7E79"/>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A07B-1846-B88D-34A1DDE1C8E7}"/>
              </c:ext>
            </c:extLst>
          </c:dPt>
          <c:dPt>
            <c:idx val="3"/>
            <c:bubble3D val="0"/>
            <c:spPr>
              <a:solidFill>
                <a:srgbClr val="D56957"/>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A07B-1846-B88D-34A1DDE1C8E7}"/>
              </c:ext>
            </c:extLst>
          </c:dPt>
          <c:dLbls>
            <c:spPr>
              <a:noFill/>
              <a:ln>
                <a:no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Pivot!$AX$27:$AX$31</c:f>
              <c:strCache>
                <c:ptCount val="4"/>
                <c:pt idx="0">
                  <c:v>1</c:v>
                </c:pt>
                <c:pt idx="1">
                  <c:v>2</c:v>
                </c:pt>
                <c:pt idx="2">
                  <c:v>3</c:v>
                </c:pt>
                <c:pt idx="3">
                  <c:v>4</c:v>
                </c:pt>
              </c:strCache>
            </c:strRef>
          </c:cat>
          <c:val>
            <c:numRef>
              <c:f>Pivot!$AY$27:$AY$31</c:f>
              <c:numCache>
                <c:formatCode>General</c:formatCode>
                <c:ptCount val="4"/>
                <c:pt idx="0">
                  <c:v>4444</c:v>
                </c:pt>
                <c:pt idx="1">
                  <c:v>3113</c:v>
                </c:pt>
                <c:pt idx="2">
                  <c:v>1408</c:v>
                </c:pt>
                <c:pt idx="3">
                  <c:v>586</c:v>
                </c:pt>
              </c:numCache>
            </c:numRef>
          </c:val>
          <c:extLst>
            <c:ext xmlns:c16="http://schemas.microsoft.com/office/drawing/2014/chart" uri="{C3380CC4-5D6E-409C-BE32-E72D297353CC}">
              <c16:uniqueId val="{00000008-A07B-1846-B88D-34A1DDE1C8E7}"/>
            </c:ext>
          </c:extLst>
        </c:ser>
        <c:dLbls>
          <c:showLegendKey val="0"/>
          <c:showVal val="0"/>
          <c:showCatName val="1"/>
          <c:showSerName val="0"/>
          <c:showPercent val="1"/>
          <c:showBubbleSize val="0"/>
          <c:showLeaderLines val="0"/>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[Zomato_Data_1.xlsx]Pivot!PivotTable23</c:name>
    <c:fmtId val="36"/>
  </c:pivotSource>
  <c:chart>
    <c:title>
      <c:tx>
        <c:rich>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r>
              <a:rPr lang="en-US"/>
              <a:t>Table Booking</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0" i="0" u="none" strike="noStrike" kern="1200" baseline="0">
                  <a:ln>
                    <a:noFill/>
                  </a:ln>
                  <a:solidFill>
                    <a:schemeClr val="tx1">
                      <a:lumMod val="95000"/>
                      <a:lumOff val="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
        <c:spPr>
          <a:solidFill>
            <a:srgbClr val="F20303"/>
          </a:solidFill>
          <a:ln>
            <a:noFill/>
          </a:ln>
          <a:effectLst>
            <a:outerShdw blurRad="254000" sx="102000" sy="102000" algn="ctr" rotWithShape="0">
              <a:prstClr val="black">
                <a:alpha val="20000"/>
              </a:prstClr>
            </a:outerShdw>
          </a:effectLst>
        </c:spPr>
      </c:pivotFmt>
      <c:pivotFmt>
        <c:idx val="2"/>
        <c:spPr>
          <a:solidFill>
            <a:srgbClr val="FF7E79"/>
          </a:solidFill>
          <a:ln>
            <a:noFill/>
          </a:ln>
          <a:effectLst>
            <a:outerShdw blurRad="254000" sx="102000" sy="102000" algn="ctr" rotWithShape="0">
              <a:prstClr val="black">
                <a:alpha val="20000"/>
              </a:prstClr>
            </a:outerShdw>
          </a:effectLst>
        </c:spPr>
      </c:pivotFmt>
      <c:pivotFmt>
        <c:idx val="3"/>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0" i="0" u="none" strike="noStrike" kern="1200" baseline="0">
                  <a:ln>
                    <a:noFill/>
                  </a:ln>
                  <a:solidFill>
                    <a:schemeClr val="tx1">
                      <a:lumMod val="95000"/>
                      <a:lumOff val="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
        <c:spPr>
          <a:solidFill>
            <a:srgbClr val="F20303"/>
          </a:solidFill>
          <a:ln>
            <a:noFill/>
          </a:ln>
          <a:effectLst>
            <a:outerShdw blurRad="254000" sx="102000" sy="102000" algn="ctr" rotWithShape="0">
              <a:prstClr val="black">
                <a:alpha val="20000"/>
              </a:prstClr>
            </a:outerShdw>
          </a:effectLst>
        </c:spPr>
      </c:pivotFmt>
      <c:pivotFmt>
        <c:idx val="5"/>
        <c:spPr>
          <a:solidFill>
            <a:srgbClr val="FF7E79"/>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0" i="0" u="none" strike="noStrike" kern="1200" baseline="0">
                  <a:ln>
                    <a:noFill/>
                  </a:ln>
                  <a:solidFill>
                    <a:schemeClr val="tx1">
                      <a:lumMod val="95000"/>
                      <a:lumOff val="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7"/>
        <c:spPr>
          <a:solidFill>
            <a:srgbClr val="F20303"/>
          </a:solidFill>
          <a:ln>
            <a:noFill/>
          </a:ln>
          <a:effectLst>
            <a:outerShdw blurRad="254000" sx="102000" sy="102000" algn="ctr" rotWithShape="0">
              <a:prstClr val="black">
                <a:alpha val="20000"/>
              </a:prstClr>
            </a:outerShdw>
          </a:effectLst>
        </c:spPr>
      </c:pivotFmt>
      <c:pivotFmt>
        <c:idx val="8"/>
        <c:spPr>
          <a:solidFill>
            <a:srgbClr val="FF7E79"/>
          </a:solidFill>
          <a:ln>
            <a:noFill/>
          </a:ln>
          <a:effectLst>
            <a:outerShdw blurRad="254000" sx="102000" sy="102000" algn="ctr" rotWithShape="0">
              <a:prstClr val="black">
                <a:alpha val="20000"/>
              </a:prstClr>
            </a:outerShdw>
          </a:effectLst>
        </c:spPr>
      </c:pivotFmt>
    </c:pivotFmts>
    <c:plotArea>
      <c:layout/>
      <c:doughnutChart>
        <c:varyColors val="1"/>
        <c:ser>
          <c:idx val="0"/>
          <c:order val="0"/>
          <c:tx>
            <c:strRef>
              <c:f>Pivot!$BG$18</c:f>
              <c:strCache>
                <c:ptCount val="1"/>
                <c:pt idx="0">
                  <c:v>Total</c:v>
                </c:pt>
              </c:strCache>
            </c:strRef>
          </c:tx>
          <c:explosion val="14"/>
          <c:dPt>
            <c:idx val="0"/>
            <c:bubble3D val="0"/>
            <c:spPr>
              <a:solidFill>
                <a:srgbClr val="F2030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6CEC-704B-9DC8-A25EBBFC1F30}"/>
              </c:ext>
            </c:extLst>
          </c:dPt>
          <c:dPt>
            <c:idx val="1"/>
            <c:bubble3D val="0"/>
            <c:spPr>
              <a:solidFill>
                <a:srgbClr val="FF7E79"/>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6CEC-704B-9DC8-A25EBBFC1F30}"/>
              </c:ext>
            </c:extLst>
          </c:dPt>
          <c:dLbls>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0" i="0" u="none" strike="noStrike" kern="1200" baseline="0">
                    <a:ln>
                      <a:noFill/>
                    </a:ln>
                    <a:solidFill>
                      <a:schemeClr val="tx1">
                        <a:lumMod val="95000"/>
                        <a:lumOff val="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Pivot!$BF$19:$BF$21</c:f>
              <c:strCache>
                <c:ptCount val="2"/>
                <c:pt idx="0">
                  <c:v>No</c:v>
                </c:pt>
                <c:pt idx="1">
                  <c:v>Yes</c:v>
                </c:pt>
              </c:strCache>
            </c:strRef>
          </c:cat>
          <c:val>
            <c:numRef>
              <c:f>Pivot!$BG$19:$BG$21</c:f>
              <c:numCache>
                <c:formatCode>General</c:formatCode>
                <c:ptCount val="2"/>
                <c:pt idx="0">
                  <c:v>8393</c:v>
                </c:pt>
                <c:pt idx="1">
                  <c:v>1158</c:v>
                </c:pt>
              </c:numCache>
            </c:numRef>
          </c:val>
          <c:extLst>
            <c:ext xmlns:c16="http://schemas.microsoft.com/office/drawing/2014/chart" uri="{C3380CC4-5D6E-409C-BE32-E72D297353CC}">
              <c16:uniqueId val="{00000004-6CEC-704B-9DC8-A25EBBFC1F30}"/>
            </c:ext>
          </c:extLst>
        </c:ser>
        <c:dLbls>
          <c:showLegendKey val="0"/>
          <c:showVal val="0"/>
          <c:showCatName val="1"/>
          <c:showSerName val="0"/>
          <c:showPercent val="1"/>
          <c:showBubbleSize val="0"/>
          <c:showLeaderLines val="0"/>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[Zomato_Data_1.xlsx]Pivot!PivotTable22</c:name>
    <c:fmtId val="38"/>
  </c:pivotSource>
  <c:chart>
    <c:title>
      <c:tx>
        <c:rich>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r>
              <a:rPr lang="en-US"/>
              <a:t>Online</a:t>
            </a:r>
            <a:r>
              <a:rPr lang="en-US" baseline="0"/>
              <a:t> Delivery</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endParaRPr lang="en-US"/>
        </a:p>
      </c:txPr>
    </c:title>
    <c:autoTitleDeleted val="0"/>
    <c:pivotFmts>
      <c:pivotFmt>
        <c:idx val="0"/>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
        <c:spPr>
          <a:solidFill>
            <a:srgbClr val="F20303"/>
          </a:solidFill>
          <a:ln>
            <a:noFill/>
          </a:ln>
          <a:effectLst>
            <a:outerShdw blurRad="254000" sx="102000" sy="102000" algn="ctr" rotWithShape="0">
              <a:prstClr val="black">
                <a:alpha val="20000"/>
              </a:prstClr>
            </a:outerShdw>
          </a:effectLst>
        </c:spPr>
      </c:pivotFmt>
      <c:pivotFmt>
        <c:idx val="2"/>
        <c:spPr>
          <a:solidFill>
            <a:schemeClr val="accent1"/>
          </a:solidFill>
          <a:ln>
            <a:noFill/>
          </a:ln>
          <a:effectLst>
            <a:outerShdw blurRad="254000" sx="102000" sy="102000" algn="ctr" rotWithShape="0">
              <a:prstClr val="black">
                <a:alpha val="20000"/>
              </a:prstClr>
            </a:outerShdw>
          </a:effectLst>
        </c:spPr>
      </c:pivotFmt>
      <c:pivotFmt>
        <c:idx val="3"/>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
        <c:spPr>
          <a:solidFill>
            <a:srgbClr val="F20303"/>
          </a:solidFill>
          <a:ln>
            <a:noFill/>
          </a:ln>
          <a:effectLst>
            <a:outerShdw blurRad="254000" sx="102000" sy="102000" algn="ctr" rotWithShape="0">
              <a:prstClr val="black">
                <a:alpha val="20000"/>
              </a:prstClr>
            </a:outerShdw>
          </a:effectLst>
        </c:spPr>
      </c:pivotFmt>
      <c:pivotFmt>
        <c:idx val="5"/>
        <c:spPr>
          <a:solidFill>
            <a:schemeClr val="accent1"/>
          </a:solidFill>
          <a:ln>
            <a:noFill/>
          </a:ln>
          <a:effectLst>
            <a:outerShdw blurRad="254000" sx="102000" sy="102000" algn="ctr" rotWithShape="0">
              <a:prstClr val="black">
                <a:alpha val="20000"/>
              </a:prstClr>
            </a:outerShdw>
          </a:effectLst>
        </c:spPr>
      </c:pivotFmt>
      <c:pivotFmt>
        <c:idx val="6"/>
        <c:spPr>
          <a:solidFill>
            <a:schemeClr val="accent1"/>
          </a:solidFill>
          <a:ln>
            <a:noFill/>
          </a:ln>
          <a:effectLst>
            <a:outerShdw blurRad="254000" sx="102000" sy="102000" algn="ctr" rotWithShape="0">
              <a:prstClr val="black">
                <a:alpha val="20000"/>
              </a:prstClr>
            </a:outerShdw>
          </a:effectLst>
        </c:spPr>
        <c:marker>
          <c:symbol val="none"/>
        </c:marker>
        <c:dLbl>
          <c:idx val="0"/>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7"/>
        <c:spPr>
          <a:solidFill>
            <a:srgbClr val="F20303"/>
          </a:solidFill>
          <a:ln>
            <a:noFill/>
          </a:ln>
          <a:effectLst>
            <a:outerShdw blurRad="254000" sx="102000" sy="102000" algn="ctr" rotWithShape="0">
              <a:prstClr val="black">
                <a:alpha val="20000"/>
              </a:prstClr>
            </a:outerShdw>
          </a:effectLst>
        </c:spPr>
      </c:pivotFmt>
      <c:pivotFmt>
        <c:idx val="8"/>
        <c:spPr>
          <a:solidFill>
            <a:schemeClr val="accent1"/>
          </a:solidFill>
          <a:ln>
            <a:noFill/>
          </a:ln>
          <a:effectLst>
            <a:outerShdw blurRad="254000" sx="102000" sy="102000" algn="ctr" rotWithShape="0">
              <a:prstClr val="black">
                <a:alpha val="20000"/>
              </a:prstClr>
            </a:outerShdw>
          </a:effectLst>
        </c:spPr>
      </c:pivotFmt>
    </c:pivotFmts>
    <c:plotArea>
      <c:layout/>
      <c:doughnutChart>
        <c:varyColors val="1"/>
        <c:ser>
          <c:idx val="0"/>
          <c:order val="0"/>
          <c:tx>
            <c:strRef>
              <c:f>Pivot!$BG$3</c:f>
              <c:strCache>
                <c:ptCount val="1"/>
                <c:pt idx="0">
                  <c:v>Total</c:v>
                </c:pt>
              </c:strCache>
            </c:strRef>
          </c:tx>
          <c:dPt>
            <c:idx val="0"/>
            <c:bubble3D val="0"/>
            <c:spPr>
              <a:solidFill>
                <a:srgbClr val="F2030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19D7-6C48-8018-4037E3CAF179}"/>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19D7-6C48-8018-4037E3CAF179}"/>
              </c:ext>
            </c:extLst>
          </c:dPt>
          <c:dLbls>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dk1"/>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Pivot!$BF$4:$BF$6</c:f>
              <c:strCache>
                <c:ptCount val="2"/>
                <c:pt idx="0">
                  <c:v>No</c:v>
                </c:pt>
                <c:pt idx="1">
                  <c:v>Yes</c:v>
                </c:pt>
              </c:strCache>
            </c:strRef>
          </c:cat>
          <c:val>
            <c:numRef>
              <c:f>Pivot!$BG$4:$BG$6</c:f>
              <c:numCache>
                <c:formatCode>General</c:formatCode>
                <c:ptCount val="2"/>
                <c:pt idx="0">
                  <c:v>7100</c:v>
                </c:pt>
                <c:pt idx="1">
                  <c:v>2451</c:v>
                </c:pt>
              </c:numCache>
            </c:numRef>
          </c:val>
          <c:extLst>
            <c:ext xmlns:c16="http://schemas.microsoft.com/office/drawing/2014/chart" uri="{C3380CC4-5D6E-409C-BE32-E72D297353CC}">
              <c16:uniqueId val="{00000004-19D7-6C48-8018-4037E3CAF179}"/>
            </c:ext>
          </c:extLst>
        </c:ser>
        <c:dLbls>
          <c:showLegendKey val="0"/>
          <c:showVal val="0"/>
          <c:showCatName val="1"/>
          <c:showSerName val="0"/>
          <c:showPercent val="1"/>
          <c:showBubbleSize val="0"/>
          <c:showLeaderLines val="1"/>
        </c:dLbls>
        <c:firstSliceAng val="0"/>
        <c:holeSize val="5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[Zomato_Data_1.xlsx]Pivot!PivotTable20</c:name>
    <c:fmtId val="25"/>
  </c:pivotSource>
  <c:chart>
    <c:title>
      <c:tx>
        <c:rich>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r>
              <a:rPr lang="en-US"/>
              <a:t>Country</a:t>
            </a:r>
            <a:r>
              <a:rPr lang="en-US" baseline="0"/>
              <a:t> wise avg Expense for two In INR</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solidFill>
              <a:latin typeface="+mn-lt"/>
              <a:ea typeface="+mn-ea"/>
              <a:cs typeface="+mn-cs"/>
            </a:defRPr>
          </a:pPr>
          <a:endParaRPr lang="en-US"/>
        </a:p>
      </c:txPr>
    </c:title>
    <c:autoTitleDeleted val="0"/>
    <c:pivotFmts>
      <c:pivotFmt>
        <c:idx val="0"/>
        <c:spPr>
          <a:solidFill>
            <a:srgbClr val="F20303"/>
          </a:solidFill>
          <a:ln w="9525" cap="flat" cmpd="sng" algn="ctr">
            <a:solidFill>
              <a:schemeClr val="lt1">
                <a:alpha val="50000"/>
              </a:schemeClr>
            </a:solidFill>
            <a:round/>
          </a:ln>
          <a:effectLst/>
        </c:spPr>
        <c:marker>
          <c:spPr>
            <a:solidFill>
              <a:schemeClr val="accent1">
                <a:alpha val="85000"/>
              </a:schemeClr>
            </a:solidFill>
            <a:ln>
              <a:noFill/>
            </a:ln>
            <a:effectLst/>
          </c:spPr>
        </c:marker>
        <c:dLbl>
          <c:idx val="0"/>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Pivot!$AY$34</c:f>
              <c:strCache>
                <c:ptCount val="1"/>
                <c:pt idx="0">
                  <c:v>Total</c:v>
                </c:pt>
              </c:strCache>
            </c:strRef>
          </c:tx>
          <c:spPr>
            <a:solidFill>
              <a:srgbClr val="FF0000"/>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Pivot!$AX$35:$AX$50</c:f>
              <c:strCache>
                <c:ptCount val="15"/>
                <c:pt idx="0">
                  <c:v>Australia</c:v>
                </c:pt>
                <c:pt idx="1">
                  <c:v>Brazil</c:v>
                </c:pt>
                <c:pt idx="2">
                  <c:v>Canada</c:v>
                </c:pt>
                <c:pt idx="3">
                  <c:v>India</c:v>
                </c:pt>
                <c:pt idx="4">
                  <c:v>Indonesia</c:v>
                </c:pt>
                <c:pt idx="5">
                  <c:v>New Zealand</c:v>
                </c:pt>
                <c:pt idx="6">
                  <c:v>Philippines</c:v>
                </c:pt>
                <c:pt idx="7">
                  <c:v>Qatar</c:v>
                </c:pt>
                <c:pt idx="8">
                  <c:v>Singapore</c:v>
                </c:pt>
                <c:pt idx="9">
                  <c:v>South Africa</c:v>
                </c:pt>
                <c:pt idx="10">
                  <c:v>Sri Lanka</c:v>
                </c:pt>
                <c:pt idx="11">
                  <c:v>Turkey</c:v>
                </c:pt>
                <c:pt idx="12">
                  <c:v>United Arab Emirates</c:v>
                </c:pt>
                <c:pt idx="13">
                  <c:v>United Kingdom</c:v>
                </c:pt>
                <c:pt idx="14">
                  <c:v>United States of America</c:v>
                </c:pt>
              </c:strCache>
            </c:strRef>
          </c:cat>
          <c:val>
            <c:numRef>
              <c:f>Pivot!$AY$35:$AY$50</c:f>
              <c:numCache>
                <c:formatCode>0.00</c:formatCode>
                <c:ptCount val="15"/>
                <c:pt idx="0">
                  <c:v>1252.3333333333333</c:v>
                </c:pt>
                <c:pt idx="1">
                  <c:v>2020</c:v>
                </c:pt>
                <c:pt idx="2">
                  <c:v>2138.75</c:v>
                </c:pt>
                <c:pt idx="3">
                  <c:v>624.49375866851597</c:v>
                </c:pt>
                <c:pt idx="4">
                  <c:v>1349.7142857142858</c:v>
                </c:pt>
                <c:pt idx="5">
                  <c:v>2580.75</c:v>
                </c:pt>
                <c:pt idx="6">
                  <c:v>2249.5454545454545</c:v>
                </c:pt>
                <c:pt idx="7">
                  <c:v>4475</c:v>
                </c:pt>
                <c:pt idx="8">
                  <c:v>7787.5</c:v>
                </c:pt>
                <c:pt idx="9">
                  <c:v>1678.9333333333334</c:v>
                </c:pt>
                <c:pt idx="10">
                  <c:v>498.75</c:v>
                </c:pt>
                <c:pt idx="11">
                  <c:v>169.70588235294119</c:v>
                </c:pt>
                <c:pt idx="12">
                  <c:v>3328.3333333333335</c:v>
                </c:pt>
                <c:pt idx="13">
                  <c:v>5307.1875</c:v>
                </c:pt>
                <c:pt idx="14">
                  <c:v>2211.1658986175116</c:v>
                </c:pt>
              </c:numCache>
            </c:numRef>
          </c:val>
          <c:extLst>
            <c:ext xmlns:c16="http://schemas.microsoft.com/office/drawing/2014/chart" uri="{C3380CC4-5D6E-409C-BE32-E72D297353CC}">
              <c16:uniqueId val="{00000000-554A-F547-8419-BEBFA112A1CF}"/>
            </c:ext>
          </c:extLst>
        </c:ser>
        <c:dLbls>
          <c:dLblPos val="inEnd"/>
          <c:showLegendKey val="0"/>
          <c:showVal val="1"/>
          <c:showCatName val="0"/>
          <c:showSerName val="0"/>
          <c:showPercent val="0"/>
          <c:showBubbleSize val="0"/>
        </c:dLbls>
        <c:gapWidth val="65"/>
        <c:axId val="1733196735"/>
        <c:axId val="1733095023"/>
      </c:barChart>
      <c:catAx>
        <c:axId val="1733196735"/>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solidFill>
                <a:latin typeface="+mn-lt"/>
                <a:ea typeface="+mn-ea"/>
                <a:cs typeface="+mn-cs"/>
              </a:defRPr>
            </a:pPr>
            <a:endParaRPr lang="en-US"/>
          </a:p>
        </c:txPr>
        <c:crossAx val="1733095023"/>
        <c:crosses val="autoZero"/>
        <c:auto val="1"/>
        <c:lblAlgn val="ctr"/>
        <c:lblOffset val="100"/>
        <c:noMultiLvlLbl val="0"/>
      </c:catAx>
      <c:valAx>
        <c:axId val="1733095023"/>
        <c:scaling>
          <c:orientation val="minMax"/>
        </c:scaling>
        <c:delete val="0"/>
        <c:axPos val="b"/>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7331967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[Zomato_Data_1.xlsx]Cusinies!PivotTable29</c:name>
    <c:fmtId val="34"/>
  </c:pivotSource>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Top</a:t>
            </a:r>
            <a:r>
              <a:rPr lang="en-US" baseline="0"/>
              <a:t> 10 Cusinies</a:t>
            </a:r>
            <a:endParaRPr lang="en-US"/>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rgbClr val="FF0000"/>
          </a:solidFill>
          <a:ln w="9525" cap="flat" cmpd="sng" algn="ctr">
            <a:solidFill>
              <a:schemeClr val="lt1">
                <a:alpha val="50000"/>
              </a:schemeClr>
            </a:solidFill>
            <a:round/>
          </a:ln>
          <a:effectLst/>
        </c:spPr>
        <c:marker>
          <c:symbol val="circle"/>
          <c:size val="6"/>
          <c:spPr>
            <a:solidFill>
              <a:schemeClr val="accent1">
                <a:alpha val="85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F0000"/>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Cusinies!$B$1</c:f>
              <c:strCache>
                <c:ptCount val="1"/>
                <c:pt idx="0">
                  <c:v>Total</c:v>
                </c:pt>
              </c:strCache>
            </c:strRef>
          </c:tx>
          <c:spPr>
            <a:solidFill>
              <a:srgbClr val="FF0000"/>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Cusinies!$A$2:$A$20</c:f>
              <c:strCache>
                <c:ptCount val="18"/>
                <c:pt idx="0">
                  <c:v>Mughlai, Lucknowi</c:v>
                </c:pt>
                <c:pt idx="1">
                  <c:v>Hawaiian, Seafood</c:v>
                </c:pt>
                <c:pt idx="2">
                  <c:v>European, Contemporary</c:v>
                </c:pt>
                <c:pt idx="3">
                  <c:v>American, Burger, Grill</c:v>
                </c:pt>
                <c:pt idx="4">
                  <c:v>Italian, Deli</c:v>
                </c:pt>
                <c:pt idx="5">
                  <c:v>American, Caribbean, Seafood</c:v>
                </c:pt>
                <c:pt idx="6">
                  <c:v>World Cuisine</c:v>
                </c:pt>
                <c:pt idx="7">
                  <c:v>American, Coffee and Tea</c:v>
                </c:pt>
                <c:pt idx="8">
                  <c:v>European, German</c:v>
                </c:pt>
                <c:pt idx="9">
                  <c:v>American, Sandwich, Tea</c:v>
                </c:pt>
                <c:pt idx="10">
                  <c:v>Italian, Bakery, Continental</c:v>
                </c:pt>
                <c:pt idx="11">
                  <c:v>BBQ, Breakfast, Southern</c:v>
                </c:pt>
                <c:pt idx="12">
                  <c:v>Mexican, American, Healthy Food</c:v>
                </c:pt>
                <c:pt idx="13">
                  <c:v>Burger, Bar Food, Steak</c:v>
                </c:pt>
                <c:pt idx="14">
                  <c:v>Sunda, Indonesian</c:v>
                </c:pt>
                <c:pt idx="15">
                  <c:v>Continental, Indian</c:v>
                </c:pt>
                <c:pt idx="16">
                  <c:v>American, BBQ, Sandwich</c:v>
                </c:pt>
                <c:pt idx="17">
                  <c:v>European, Asian, Indian</c:v>
                </c:pt>
              </c:strCache>
            </c:strRef>
          </c:cat>
          <c:val>
            <c:numRef>
              <c:f>Cusinies!$B$2:$B$20</c:f>
              <c:numCache>
                <c:formatCode>General</c:formatCode>
                <c:ptCount val="18"/>
                <c:pt idx="0">
                  <c:v>4.9000000000000004</c:v>
                </c:pt>
                <c:pt idx="1">
                  <c:v>4.9000000000000004</c:v>
                </c:pt>
                <c:pt idx="2">
                  <c:v>4.9000000000000004</c:v>
                </c:pt>
                <c:pt idx="3">
                  <c:v>4.9000000000000004</c:v>
                </c:pt>
                <c:pt idx="4">
                  <c:v>4.9000000000000004</c:v>
                </c:pt>
                <c:pt idx="5">
                  <c:v>4.9000000000000004</c:v>
                </c:pt>
                <c:pt idx="6">
                  <c:v>4.9000000000000004</c:v>
                </c:pt>
                <c:pt idx="7">
                  <c:v>4.9000000000000004</c:v>
                </c:pt>
                <c:pt idx="8">
                  <c:v>4.9000000000000004</c:v>
                </c:pt>
                <c:pt idx="9">
                  <c:v>4.9000000000000004</c:v>
                </c:pt>
                <c:pt idx="10">
                  <c:v>4.9000000000000004</c:v>
                </c:pt>
                <c:pt idx="11">
                  <c:v>4.9000000000000004</c:v>
                </c:pt>
                <c:pt idx="12">
                  <c:v>4.9000000000000004</c:v>
                </c:pt>
                <c:pt idx="13">
                  <c:v>4.9000000000000004</c:v>
                </c:pt>
                <c:pt idx="14">
                  <c:v>4.9000000000000004</c:v>
                </c:pt>
                <c:pt idx="15">
                  <c:v>4.9000000000000004</c:v>
                </c:pt>
                <c:pt idx="16">
                  <c:v>4.9000000000000004</c:v>
                </c:pt>
                <c:pt idx="17">
                  <c:v>4.9000000000000004</c:v>
                </c:pt>
              </c:numCache>
            </c:numRef>
          </c:val>
          <c:extLst>
            <c:ext xmlns:c16="http://schemas.microsoft.com/office/drawing/2014/chart" uri="{C3380CC4-5D6E-409C-BE32-E72D297353CC}">
              <c16:uniqueId val="{00000000-0A36-C94A-A800-424EC0F6B45D}"/>
            </c:ext>
          </c:extLst>
        </c:ser>
        <c:dLbls>
          <c:dLblPos val="inEnd"/>
          <c:showLegendKey val="0"/>
          <c:showVal val="1"/>
          <c:showCatName val="0"/>
          <c:showSerName val="0"/>
          <c:showPercent val="0"/>
          <c:showBubbleSize val="0"/>
        </c:dLbls>
        <c:gapWidth val="65"/>
        <c:axId val="130894303"/>
        <c:axId val="130896015"/>
      </c:barChart>
      <c:catAx>
        <c:axId val="130894303"/>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30896015"/>
        <c:crosses val="autoZero"/>
        <c:auto val="1"/>
        <c:lblAlgn val="ctr"/>
        <c:lblOffset val="100"/>
        <c:noMultiLvlLbl val="0"/>
      </c:catAx>
      <c:valAx>
        <c:axId val="130896015"/>
        <c:scaling>
          <c:orientation val="minMax"/>
          <c:max val="5"/>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crossAx val="1308943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2">
  <a:schemeClr val="accent2"/>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78">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defRPr sz="900" b="0" kern="1200" cap="all" spc="120" normalizeH="0" baseline="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tx1"/>
    </cs:fontRef>
    <cs:spPr>
      <a:pattFill prst="ltUpDiag">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styleClr val="auto"/>
    </cs:effectRef>
    <cs:fontRef idx="minor">
      <a:schemeClr val="tx1"/>
    </cs:fontRef>
    <cs:spPr>
      <a:pattFill prst="ltUpDiag">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tx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solidFill>
        <a:schemeClr val="lt1"/>
      </a:solidFill>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solidFill>
        <a:schemeClr val="lt1"/>
      </a:solidFill>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DECC2-BA66-D649-A756-4C95F5F93825}" type="datetimeFigureOut">
              <a:rPr lang="en-US" smtClean="0"/>
              <a:t>11/13/25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6D1BE-C06B-BC47-976D-B68F72E43075}" type="slidenum">
              <a:rPr lang="en-US" smtClean="0"/>
              <a:t>‹#›</a:t>
            </a:fld>
            <a:endParaRPr lang="en-US"/>
          </a:p>
        </p:txBody>
      </p:sp>
    </p:spTree>
    <p:extLst>
      <p:ext uri="{BB962C8B-B14F-4D97-AF65-F5344CB8AC3E}">
        <p14:creationId xmlns:p14="http://schemas.microsoft.com/office/powerpoint/2010/main" val="2882086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5ad1c6f111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5ad1c6f111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007A-5641-F23A-6D1E-92E47978E1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CD6A5A0-5F51-91C9-1C05-24B193623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B9991E2-5E4E-F98C-5FBB-8FE1D2357812}"/>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B6D8610F-0E12-E842-5D19-21CD39ECF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D03113-B063-6EF7-CB3A-C361B2527032}"/>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362985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AE40-A2C6-EEDE-B828-E2F5F6DF850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92F97E9-89B7-E837-13EC-3BB41F3981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CB111B-9D78-EB13-FA30-9087483025F4}"/>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05F765BC-B5B0-C314-8F52-8C072DCCB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FD3C79-1D95-D6ED-ACDB-9B5134A78FB3}"/>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2694237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2EEF9-D868-8273-A900-F6320EE75C5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52D2A88-F5CF-7F32-DFF3-37EBC9B90E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8CE701-FE48-C81E-CA5C-D78445772F36}"/>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DD08E010-9990-D7A6-CF30-4312B9221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BC94B-1E56-6F30-D193-72C9B3E69887}"/>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886792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6F171-31F2-5945-2962-A438A8DEC48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6C5B1C2-F48B-9772-2D37-27AEBB461EF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72A5B20-247A-D333-0835-78AE43A6EE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6CF0296-F96F-EAEB-24E4-8E53AC8D5546}"/>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6" name="Footer Placeholder 5">
            <a:extLst>
              <a:ext uri="{FF2B5EF4-FFF2-40B4-BE49-F238E27FC236}">
                <a16:creationId xmlns:a16="http://schemas.microsoft.com/office/drawing/2014/main" id="{61816877-2E43-389A-33E5-41C22FF20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ED1A00-4C73-45D9-275F-820B55371BF5}"/>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1858647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510A-CB86-A89D-8E34-14393E23304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F3EDA0-3B95-65B5-37DE-7760E82E03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31640C-0B3E-89A2-AEBE-CC99FEEDC0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9EEA366-2262-037F-10C4-0E731E27CD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31BE583-EE91-3057-0A68-087EE982D0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51F22C5-0A6F-B09E-DCAC-21EDC17BB1DF}"/>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8" name="Footer Placeholder 7">
            <a:extLst>
              <a:ext uri="{FF2B5EF4-FFF2-40B4-BE49-F238E27FC236}">
                <a16:creationId xmlns:a16="http://schemas.microsoft.com/office/drawing/2014/main" id="{00A713C4-1179-330E-0E02-897E1E576E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FE6F4B-6F41-19AD-E310-183BA1A6DBD7}"/>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55392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1DD63-4593-09B5-6039-307E8120177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DAF2839-E6E0-4B32-5688-1BCC5B6ABEC2}"/>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4" name="Footer Placeholder 3">
            <a:extLst>
              <a:ext uri="{FF2B5EF4-FFF2-40B4-BE49-F238E27FC236}">
                <a16:creationId xmlns:a16="http://schemas.microsoft.com/office/drawing/2014/main" id="{F2B575AE-1FF9-53E1-9E11-CA992F0AB8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135959-CBB6-1FA0-C335-7B034081257C}"/>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1067690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1B19E2-4C28-BF53-AD56-EA90915263C4}"/>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3" name="Footer Placeholder 2">
            <a:extLst>
              <a:ext uri="{FF2B5EF4-FFF2-40B4-BE49-F238E27FC236}">
                <a16:creationId xmlns:a16="http://schemas.microsoft.com/office/drawing/2014/main" id="{9060A7F0-8B1B-4FE5-8A16-1EFFF485F2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D2EF88-EE12-662B-A308-DCC0A6C71168}"/>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1302175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0A0AE-CF6D-F4F5-A438-0694E193A66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208C6CC-AE60-735E-E403-6D4D6C38C4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CDEF40C-8FC1-A287-730A-1BB4BDF78D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3EE4EA-F1E5-362F-E470-27F87148F3A0}"/>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6" name="Footer Placeholder 5">
            <a:extLst>
              <a:ext uri="{FF2B5EF4-FFF2-40B4-BE49-F238E27FC236}">
                <a16:creationId xmlns:a16="http://schemas.microsoft.com/office/drawing/2014/main" id="{C79B58B5-6A1F-5500-4339-DA37E1DF81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9D72F4-D51F-D11B-B274-C0FE011434FA}"/>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645454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6474A-D7D6-2666-E50D-84225DDDA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2C6DA33-1EAA-73EC-E8CC-23351695B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7A946A-6338-16CB-DA6C-441F816D9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441F75-AE21-6280-66CC-20E884374475}"/>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6" name="Footer Placeholder 5">
            <a:extLst>
              <a:ext uri="{FF2B5EF4-FFF2-40B4-BE49-F238E27FC236}">
                <a16:creationId xmlns:a16="http://schemas.microsoft.com/office/drawing/2014/main" id="{A29C0487-DFC7-34C0-5E9F-4FE2D50912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50BC0-A76F-75E6-043C-2DC98B5B22FE}"/>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287388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48A1-194A-469C-1616-0F579F5E761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126995-6094-A3C7-F3D4-062DB9201C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90B824-9DA3-147F-F4A6-2D567510CB5B}"/>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57AFA89B-A45B-D2E3-6C55-4CCF22C12D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A07CB-6A04-DEEC-A5BA-FBC08AF5C93A}"/>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3554821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46EA10-6A03-0F60-AF46-FF7B36361A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5E03FC4-9FD6-4BA0-604B-118C6441E7F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49D98D8-2A51-2DA9-E8F0-0B727742A8E9}"/>
              </a:ext>
            </a:extLst>
          </p:cNvPr>
          <p:cNvSpPr>
            <a:spLocks noGrp="1"/>
          </p:cNvSpPr>
          <p:nvPr>
            <p:ph type="dt" sz="half" idx="10"/>
          </p:nvPr>
        </p:nvSpPr>
        <p:spPr/>
        <p:txBody>
          <a:body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6EAA20BD-1D3B-1221-7F08-A3CE9CF569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0C344E-0F1D-4510-A941-8AC5B4441A4E}"/>
              </a:ext>
            </a:extLst>
          </p:cNvPr>
          <p:cNvSpPr>
            <a:spLocks noGrp="1"/>
          </p:cNvSpPr>
          <p:nvPr>
            <p:ph type="sldNum" sz="quarter" idx="12"/>
          </p:nvPr>
        </p:nvSpPr>
        <p:spPr/>
        <p:txBody>
          <a:bodyPr/>
          <a:lstStyle/>
          <a:p>
            <a:fld id="{9B9289C3-AD30-7A42-8B99-0497EF6885C8}" type="slidenum">
              <a:rPr lang="en-US" smtClean="0"/>
              <a:t>‹#›</a:t>
            </a:fld>
            <a:endParaRPr lang="en-US"/>
          </a:p>
        </p:txBody>
      </p:sp>
    </p:spTree>
    <p:extLst>
      <p:ext uri="{BB962C8B-B14F-4D97-AF65-F5344CB8AC3E}">
        <p14:creationId xmlns:p14="http://schemas.microsoft.com/office/powerpoint/2010/main" val="1828084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0C3E09-7D35-00B1-61D8-6F671AEA4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86EC83-8D44-DB89-2AA4-5419EBE440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C8D768-C90D-9A8F-3AD1-1C763FA80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42AED2-5166-B84C-A5E2-A649322A8AFF}" type="datetimeFigureOut">
              <a:rPr lang="en-US" smtClean="0"/>
              <a:t>11/13/25</a:t>
            </a:fld>
            <a:endParaRPr lang="en-US"/>
          </a:p>
        </p:txBody>
      </p:sp>
      <p:sp>
        <p:nvSpPr>
          <p:cNvPr id="5" name="Footer Placeholder 4">
            <a:extLst>
              <a:ext uri="{FF2B5EF4-FFF2-40B4-BE49-F238E27FC236}">
                <a16:creationId xmlns:a16="http://schemas.microsoft.com/office/drawing/2014/main" id="{09BA4BDE-5AD2-14BF-144F-F215E6D22F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727242-4616-2F90-AE8E-59A40C7CB8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9289C3-AD30-7A42-8B99-0497EF6885C8}" type="slidenum">
              <a:rPr lang="en-US" smtClean="0"/>
              <a:t>‹#›</a:t>
            </a:fld>
            <a:endParaRPr lang="en-US"/>
          </a:p>
        </p:txBody>
      </p:sp>
    </p:spTree>
    <p:extLst>
      <p:ext uri="{BB962C8B-B14F-4D97-AF65-F5344CB8AC3E}">
        <p14:creationId xmlns:p14="http://schemas.microsoft.com/office/powerpoint/2010/main" val="2697333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chart" Target="../charts/chart7.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59DC47-E10D-9FFE-0652-F5185DEB949D}"/>
              </a:ext>
            </a:extLst>
          </p:cNvPr>
          <p:cNvSpPr/>
          <p:nvPr/>
        </p:nvSpPr>
        <p:spPr>
          <a:xfrm>
            <a:off x="5826369" y="0"/>
            <a:ext cx="6365631" cy="6858000"/>
          </a:xfrm>
          <a:prstGeom prst="rect">
            <a:avLst/>
          </a:prstGeom>
          <a:solidFill>
            <a:srgbClr val="8B0E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ed square with white text&#10;&#10;AI-generated content may be incorrect.">
            <a:extLst>
              <a:ext uri="{FF2B5EF4-FFF2-40B4-BE49-F238E27FC236}">
                <a16:creationId xmlns:a16="http://schemas.microsoft.com/office/drawing/2014/main" id="{8982BC50-7327-5358-A808-F7F55F9C9F25}"/>
              </a:ext>
            </a:extLst>
          </p:cNvPr>
          <p:cNvPicPr>
            <a:picLocks noChangeAspect="1"/>
          </p:cNvPicPr>
          <p:nvPr/>
        </p:nvPicPr>
        <p:blipFill>
          <a:blip r:embed="rId2"/>
          <a:stretch>
            <a:fillRect/>
          </a:stretch>
        </p:blipFill>
        <p:spPr>
          <a:xfrm>
            <a:off x="6863862" y="1055077"/>
            <a:ext cx="4513385" cy="4513385"/>
          </a:xfrm>
          <a:prstGeom prst="rect">
            <a:avLst/>
          </a:prstGeom>
        </p:spPr>
      </p:pic>
      <p:sp>
        <p:nvSpPr>
          <p:cNvPr id="5" name="Rectangle 4">
            <a:extLst>
              <a:ext uri="{FF2B5EF4-FFF2-40B4-BE49-F238E27FC236}">
                <a16:creationId xmlns:a16="http://schemas.microsoft.com/office/drawing/2014/main" id="{1D30F5F4-1DE5-FA76-E811-F9F7835827C5}"/>
              </a:ext>
            </a:extLst>
          </p:cNvPr>
          <p:cNvSpPr/>
          <p:nvPr/>
        </p:nvSpPr>
        <p:spPr>
          <a:xfrm>
            <a:off x="211016" y="2041212"/>
            <a:ext cx="5146429" cy="1200329"/>
          </a:xfrm>
          <a:prstGeom prst="rect">
            <a:avLst/>
          </a:prstGeom>
          <a:noFill/>
        </p:spPr>
        <p:txBody>
          <a:bodyPr wrap="square" lIns="91440" tIns="45720" rIns="91440" bIns="45720">
            <a:spAutoFit/>
          </a:bodyPr>
          <a:lstStyle/>
          <a:p>
            <a:pPr algn="ctr"/>
            <a:r>
              <a:rPr lang="en-GB" sz="3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rial" panose="020B0604020202020204" pitchFamily="34" charset="0"/>
                <a:cs typeface="Arial" panose="020B0604020202020204" pitchFamily="34" charset="0"/>
              </a:rPr>
              <a:t>Zomato </a:t>
            </a:r>
            <a:r>
              <a:rPr lang="en-GB" sz="32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rial" panose="020B0604020202020204" pitchFamily="34" charset="0"/>
                <a:cs typeface="Arial" panose="020B0604020202020204" pitchFamily="34" charset="0"/>
              </a:rPr>
              <a:t>Market</a:t>
            </a:r>
            <a:r>
              <a:rPr lang="en-GB" sz="3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rial" panose="020B0604020202020204" pitchFamily="34" charset="0"/>
                <a:cs typeface="Arial" panose="020B0604020202020204" pitchFamily="34" charset="0"/>
              </a:rPr>
              <a:t> Analysis data</a:t>
            </a:r>
            <a:endParaRPr lang="en-GB" sz="3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63AB76B-8252-7029-BA95-207C1D8A5703}"/>
              </a:ext>
            </a:extLst>
          </p:cNvPr>
          <p:cNvSpPr/>
          <p:nvPr/>
        </p:nvSpPr>
        <p:spPr>
          <a:xfrm>
            <a:off x="11726" y="3616460"/>
            <a:ext cx="5709135" cy="830997"/>
          </a:xfrm>
          <a:prstGeom prst="rect">
            <a:avLst/>
          </a:prstGeom>
          <a:noFill/>
        </p:spPr>
        <p:txBody>
          <a:bodyPr wrap="square" lIns="91440" tIns="45720" rIns="91440" bIns="45720">
            <a:spAutoFit/>
          </a:bodyPr>
          <a:lstStyle/>
          <a:p>
            <a:pPr algn="ctr"/>
            <a:r>
              <a:rPr lang="en-GB" sz="2400" dirty="0">
                <a:ln w="0"/>
                <a:solidFill>
                  <a:srgbClr val="002060"/>
                </a:solidFill>
              </a:rPr>
              <a:t>Darshan Patni</a:t>
            </a:r>
            <a:br>
              <a:rPr lang="en-GB" sz="2400" dirty="0">
                <a:ln w="0"/>
                <a:solidFill>
                  <a:srgbClr val="002060"/>
                </a:solidFill>
              </a:rPr>
            </a:br>
            <a:r>
              <a:rPr lang="en-GB" sz="2400" dirty="0">
                <a:ln w="0"/>
                <a:solidFill>
                  <a:srgbClr val="002060"/>
                </a:solidFill>
              </a:rPr>
              <a:t>19-09-2025</a:t>
            </a:r>
            <a:endParaRPr lang="en-GB" sz="2400" b="0" cap="none" spc="0" dirty="0">
              <a:ln w="0"/>
              <a:solidFill>
                <a:srgbClr val="002060"/>
              </a:solidFill>
              <a:effectLst/>
            </a:endParaRPr>
          </a:p>
        </p:txBody>
      </p:sp>
    </p:spTree>
    <p:extLst>
      <p:ext uri="{BB962C8B-B14F-4D97-AF65-F5344CB8AC3E}">
        <p14:creationId xmlns:p14="http://schemas.microsoft.com/office/powerpoint/2010/main" val="174295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384094" y="4038600"/>
            <a:ext cx="9423811" cy="2167901"/>
          </a:xfrm>
          <a:prstGeom prst="rect">
            <a:avLst/>
          </a:prstGeom>
        </p:spPr>
        <p:txBody>
          <a:bodyPr vert="horz" wrap="square" lIns="0" tIns="13335" rIns="0" bIns="0" rtlCol="0">
            <a:spAutoFit/>
          </a:bodyPr>
          <a:lstStyle/>
          <a:p>
            <a:pPr marL="299085" marR="69850" indent="-287020">
              <a:lnSpc>
                <a:spcPct val="100000"/>
              </a:lnSpc>
              <a:spcBef>
                <a:spcPts val="105"/>
              </a:spcBef>
              <a:buFont typeface="Arial"/>
              <a:buChar char="•"/>
              <a:tabLst>
                <a:tab pos="299085" algn="l"/>
              </a:tabLst>
            </a:pPr>
            <a:r>
              <a:rPr sz="2000" dirty="0">
                <a:latin typeface="Calibri"/>
                <a:cs typeface="Calibri"/>
              </a:rPr>
              <a:t>Identifying</a:t>
            </a:r>
            <a:r>
              <a:rPr sz="2000" spc="-110"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new</a:t>
            </a:r>
            <a:r>
              <a:rPr sz="2000" spc="-65" dirty="0">
                <a:latin typeface="Calibri"/>
                <a:cs typeface="Calibri"/>
              </a:rPr>
              <a:t> </a:t>
            </a:r>
            <a:r>
              <a:rPr lang="en-US" sz="2000" dirty="0">
                <a:latin typeface="Calibri"/>
                <a:cs typeface="Calibri"/>
              </a:rPr>
              <a:t>countries</a:t>
            </a:r>
            <a:r>
              <a:rPr sz="2000" spc="-75" dirty="0">
                <a:latin typeface="Calibri"/>
                <a:cs typeface="Calibri"/>
              </a:rPr>
              <a:t> </a:t>
            </a:r>
            <a:r>
              <a:rPr sz="2000" dirty="0">
                <a:latin typeface="Calibri"/>
                <a:cs typeface="Calibri"/>
              </a:rPr>
              <a:t>where</a:t>
            </a:r>
            <a:r>
              <a:rPr sz="2000" spc="-65" dirty="0">
                <a:latin typeface="Calibri"/>
                <a:cs typeface="Calibri"/>
              </a:rPr>
              <a:t> </a:t>
            </a:r>
            <a:r>
              <a:rPr sz="2000" spc="-10" dirty="0">
                <a:latin typeface="Calibri"/>
                <a:cs typeface="Calibri"/>
              </a:rPr>
              <a:t>Zomato </a:t>
            </a:r>
            <a:r>
              <a:rPr sz="2000" dirty="0">
                <a:latin typeface="Calibri"/>
                <a:cs typeface="Calibri"/>
              </a:rPr>
              <a:t>can</a:t>
            </a:r>
            <a:r>
              <a:rPr sz="2000" spc="-90" dirty="0">
                <a:latin typeface="Calibri"/>
                <a:cs typeface="Calibri"/>
              </a:rPr>
              <a:t> </a:t>
            </a:r>
            <a:r>
              <a:rPr sz="2000" dirty="0">
                <a:latin typeface="Calibri"/>
                <a:cs typeface="Calibri"/>
              </a:rPr>
              <a:t>open</a:t>
            </a:r>
            <a:r>
              <a:rPr sz="2000" spc="-90" dirty="0">
                <a:latin typeface="Calibri"/>
                <a:cs typeface="Calibri"/>
              </a:rPr>
              <a:t> </a:t>
            </a:r>
            <a:r>
              <a:rPr sz="2000" dirty="0">
                <a:latin typeface="Calibri"/>
                <a:cs typeface="Calibri"/>
              </a:rPr>
              <a:t>new</a:t>
            </a:r>
            <a:r>
              <a:rPr sz="2000" spc="-100" dirty="0">
                <a:latin typeface="Calibri"/>
                <a:cs typeface="Calibri"/>
              </a:rPr>
              <a:t> </a:t>
            </a:r>
            <a:r>
              <a:rPr sz="2000" spc="-10" dirty="0">
                <a:latin typeface="Calibri"/>
                <a:cs typeface="Calibri"/>
              </a:rPr>
              <a:t>restaurants</a:t>
            </a:r>
            <a:r>
              <a:rPr sz="2000" spc="-45" dirty="0">
                <a:latin typeface="Calibri"/>
                <a:cs typeface="Calibri"/>
              </a:rPr>
              <a:t> </a:t>
            </a:r>
            <a:r>
              <a:rPr sz="2000" dirty="0">
                <a:latin typeface="Calibri"/>
                <a:cs typeface="Calibri"/>
              </a:rPr>
              <a:t>and</a:t>
            </a:r>
            <a:r>
              <a:rPr sz="2000" spc="-80" dirty="0">
                <a:latin typeface="Calibri"/>
                <a:cs typeface="Calibri"/>
              </a:rPr>
              <a:t> </a:t>
            </a:r>
            <a:r>
              <a:rPr sz="2000" dirty="0">
                <a:latin typeface="Calibri"/>
                <a:cs typeface="Calibri"/>
              </a:rPr>
              <a:t>expand</a:t>
            </a:r>
            <a:r>
              <a:rPr sz="2000" spc="-85" dirty="0">
                <a:latin typeface="Calibri"/>
                <a:cs typeface="Calibri"/>
              </a:rPr>
              <a:t> </a:t>
            </a:r>
            <a:r>
              <a:rPr sz="2000" spc="-25" dirty="0">
                <a:latin typeface="Calibri"/>
                <a:cs typeface="Calibri"/>
              </a:rPr>
              <a:t>its </a:t>
            </a:r>
            <a:r>
              <a:rPr sz="2000" spc="-10" dirty="0">
                <a:latin typeface="Calibri"/>
                <a:cs typeface="Calibri"/>
              </a:rPr>
              <a:t>business.</a:t>
            </a:r>
            <a:endParaRPr sz="2000" dirty="0">
              <a:latin typeface="Calibri"/>
              <a:cs typeface="Calibri"/>
            </a:endParaRPr>
          </a:p>
          <a:p>
            <a:pPr marL="299085" marR="5080" indent="-287020">
              <a:lnSpc>
                <a:spcPct val="100000"/>
              </a:lnSpc>
              <a:buFont typeface="Arial"/>
              <a:buChar char="•"/>
              <a:tabLst>
                <a:tab pos="299085" algn="l"/>
              </a:tabLst>
            </a:pPr>
            <a:r>
              <a:rPr sz="2000" dirty="0">
                <a:latin typeface="Calibri"/>
                <a:cs typeface="Calibri"/>
              </a:rPr>
              <a:t>Analyze</a:t>
            </a:r>
            <a:r>
              <a:rPr lang="en-US" sz="2000" dirty="0">
                <a:latin typeface="Calibri"/>
                <a:cs typeface="Calibri"/>
              </a:rPr>
              <a:t>d</a:t>
            </a:r>
            <a:r>
              <a:rPr sz="2000" spc="-114" dirty="0">
                <a:latin typeface="Calibri"/>
                <a:cs typeface="Calibri"/>
              </a:rPr>
              <a:t> </a:t>
            </a:r>
            <a:r>
              <a:rPr sz="2000" spc="-25" dirty="0">
                <a:latin typeface="Calibri"/>
                <a:cs typeface="Calibri"/>
              </a:rPr>
              <a:t>restaurants</a:t>
            </a:r>
            <a:r>
              <a:rPr sz="2000" spc="-15" dirty="0">
                <a:latin typeface="Calibri"/>
                <a:cs typeface="Calibri"/>
              </a:rPr>
              <a:t> </a:t>
            </a:r>
            <a:r>
              <a:rPr sz="2000" spc="-10" dirty="0">
                <a:latin typeface="Calibri"/>
                <a:cs typeface="Calibri"/>
              </a:rPr>
              <a:t>ratings</a:t>
            </a:r>
            <a:r>
              <a:rPr sz="2000" spc="-70" dirty="0">
                <a:latin typeface="Calibri"/>
                <a:cs typeface="Calibri"/>
              </a:rPr>
              <a:t> </a:t>
            </a:r>
            <a:r>
              <a:rPr sz="2000" dirty="0">
                <a:latin typeface="Calibri"/>
                <a:cs typeface="Calibri"/>
              </a:rPr>
              <a:t>and</a:t>
            </a:r>
            <a:r>
              <a:rPr sz="2000" spc="-80" dirty="0">
                <a:latin typeface="Calibri"/>
                <a:cs typeface="Calibri"/>
              </a:rPr>
              <a:t> </a:t>
            </a:r>
            <a:r>
              <a:rPr sz="2000" dirty="0">
                <a:latin typeface="Calibri"/>
                <a:cs typeface="Calibri"/>
              </a:rPr>
              <a:t>the</a:t>
            </a:r>
            <a:r>
              <a:rPr sz="2000" spc="-90" dirty="0">
                <a:latin typeface="Calibri"/>
                <a:cs typeface="Calibri"/>
              </a:rPr>
              <a:t> </a:t>
            </a:r>
            <a:r>
              <a:rPr sz="2000" spc="-10" dirty="0">
                <a:latin typeface="Calibri"/>
                <a:cs typeface="Calibri"/>
              </a:rPr>
              <a:t>price </a:t>
            </a:r>
            <a:r>
              <a:rPr sz="2000" dirty="0">
                <a:latin typeface="Calibri"/>
                <a:cs typeface="Calibri"/>
              </a:rPr>
              <a:t>range</a:t>
            </a:r>
            <a:r>
              <a:rPr sz="2000" spc="-110" dirty="0">
                <a:latin typeface="Calibri"/>
                <a:cs typeface="Calibri"/>
              </a:rPr>
              <a:t> </a:t>
            </a:r>
            <a:r>
              <a:rPr sz="2000" dirty="0">
                <a:latin typeface="Calibri"/>
                <a:cs typeface="Calibri"/>
              </a:rPr>
              <a:t>for</a:t>
            </a:r>
            <a:r>
              <a:rPr sz="2000" spc="-85" dirty="0">
                <a:latin typeface="Calibri"/>
                <a:cs typeface="Calibri"/>
              </a:rPr>
              <a:t> </a:t>
            </a:r>
            <a:r>
              <a:rPr sz="2000" dirty="0">
                <a:latin typeface="Calibri"/>
                <a:cs typeface="Calibri"/>
              </a:rPr>
              <a:t>deeper</a:t>
            </a:r>
            <a:r>
              <a:rPr sz="2000" spc="-60" dirty="0">
                <a:latin typeface="Calibri"/>
                <a:cs typeface="Calibri"/>
              </a:rPr>
              <a:t> </a:t>
            </a:r>
            <a:r>
              <a:rPr sz="2000" spc="-10" dirty="0">
                <a:latin typeface="Calibri"/>
                <a:cs typeface="Calibri"/>
              </a:rPr>
              <a:t>insights</a:t>
            </a:r>
            <a:r>
              <a:rPr sz="2000" spc="-55" dirty="0">
                <a:latin typeface="Calibri"/>
                <a:cs typeface="Calibri"/>
              </a:rPr>
              <a:t> </a:t>
            </a:r>
            <a:r>
              <a:rPr sz="2000" dirty="0">
                <a:latin typeface="Calibri"/>
                <a:cs typeface="Calibri"/>
              </a:rPr>
              <a:t>for</a:t>
            </a:r>
            <a:r>
              <a:rPr sz="2000" spc="-85" dirty="0">
                <a:latin typeface="Calibri"/>
                <a:cs typeface="Calibri"/>
              </a:rPr>
              <a:t> </a:t>
            </a:r>
            <a:r>
              <a:rPr sz="2000" spc="-10" dirty="0">
                <a:latin typeface="Calibri"/>
                <a:cs typeface="Calibri"/>
              </a:rPr>
              <a:t>better</a:t>
            </a:r>
            <a:r>
              <a:rPr sz="2000" spc="-65" dirty="0">
                <a:latin typeface="Calibri"/>
                <a:cs typeface="Calibri"/>
              </a:rPr>
              <a:t> </a:t>
            </a:r>
            <a:r>
              <a:rPr sz="2000" spc="-10" dirty="0">
                <a:latin typeface="Calibri"/>
                <a:cs typeface="Calibri"/>
              </a:rPr>
              <a:t>decision </a:t>
            </a:r>
            <a:r>
              <a:rPr sz="2000" dirty="0">
                <a:latin typeface="Calibri"/>
                <a:cs typeface="Calibri"/>
              </a:rPr>
              <a:t>making</a:t>
            </a:r>
            <a:r>
              <a:rPr sz="2000" spc="-105" dirty="0">
                <a:latin typeface="Calibri"/>
                <a:cs typeface="Calibri"/>
              </a:rPr>
              <a:t> </a:t>
            </a:r>
            <a:r>
              <a:rPr sz="2000" spc="-50" dirty="0">
                <a:latin typeface="Calibri"/>
                <a:cs typeface="Calibri"/>
              </a:rPr>
              <a:t>.</a:t>
            </a:r>
            <a:endParaRPr sz="2000" dirty="0">
              <a:latin typeface="Calibri"/>
              <a:cs typeface="Calibri"/>
            </a:endParaRPr>
          </a:p>
          <a:p>
            <a:pPr marL="299085" marR="43180" indent="-287020">
              <a:lnSpc>
                <a:spcPct val="100000"/>
              </a:lnSpc>
              <a:buFont typeface="Arial"/>
              <a:buChar char="•"/>
              <a:tabLst>
                <a:tab pos="299085" algn="l"/>
              </a:tabLst>
            </a:pPr>
            <a:r>
              <a:rPr lang="en-US" sz="2000" spc="-60" dirty="0">
                <a:latin typeface="Calibri"/>
                <a:cs typeface="Calibri"/>
              </a:rPr>
              <a:t>Analyzed</a:t>
            </a:r>
            <a:r>
              <a:rPr sz="2000" spc="-114" dirty="0">
                <a:latin typeface="Calibri"/>
                <a:cs typeface="Calibri"/>
              </a:rPr>
              <a:t> </a:t>
            </a:r>
            <a:r>
              <a:rPr sz="2000" dirty="0">
                <a:latin typeface="Calibri"/>
                <a:cs typeface="Calibri"/>
              </a:rPr>
              <a:t>and</a:t>
            </a:r>
            <a:r>
              <a:rPr sz="2000" spc="-80" dirty="0">
                <a:latin typeface="Calibri"/>
                <a:cs typeface="Calibri"/>
              </a:rPr>
              <a:t> </a:t>
            </a:r>
            <a:r>
              <a:rPr sz="2000" spc="-10" dirty="0">
                <a:latin typeface="Calibri"/>
                <a:cs typeface="Calibri"/>
              </a:rPr>
              <a:t>calculate</a:t>
            </a:r>
            <a:r>
              <a:rPr lang="en-US" sz="2000" spc="-10" dirty="0">
                <a:latin typeface="Calibri"/>
                <a:cs typeface="Calibri"/>
              </a:rPr>
              <a:t>d</a:t>
            </a:r>
            <a:r>
              <a:rPr sz="2000" spc="-4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expenditure</a:t>
            </a:r>
            <a:r>
              <a:rPr sz="2000" spc="-80" dirty="0">
                <a:latin typeface="Calibri"/>
                <a:cs typeface="Calibri"/>
              </a:rPr>
              <a:t> </a:t>
            </a:r>
            <a:r>
              <a:rPr sz="2000" spc="-25" dirty="0">
                <a:latin typeface="Calibri"/>
                <a:cs typeface="Calibri"/>
              </a:rPr>
              <a:t>so </a:t>
            </a:r>
            <a:r>
              <a:rPr sz="2000" dirty="0">
                <a:latin typeface="Calibri"/>
                <a:cs typeface="Calibri"/>
              </a:rPr>
              <a:t>that</a:t>
            </a:r>
            <a:r>
              <a:rPr sz="2000" spc="-50" dirty="0">
                <a:latin typeface="Calibri"/>
                <a:cs typeface="Calibri"/>
              </a:rPr>
              <a:t> </a:t>
            </a:r>
            <a:r>
              <a:rPr sz="2000" dirty="0">
                <a:latin typeface="Calibri"/>
                <a:cs typeface="Calibri"/>
              </a:rPr>
              <a:t>we</a:t>
            </a:r>
            <a:r>
              <a:rPr sz="2000" spc="-70" dirty="0">
                <a:latin typeface="Calibri"/>
                <a:cs typeface="Calibri"/>
              </a:rPr>
              <a:t> </a:t>
            </a:r>
            <a:r>
              <a:rPr sz="2000" dirty="0">
                <a:latin typeface="Calibri"/>
                <a:cs typeface="Calibri"/>
              </a:rPr>
              <a:t>can</a:t>
            </a:r>
            <a:r>
              <a:rPr sz="2000" spc="-55" dirty="0">
                <a:latin typeface="Calibri"/>
                <a:cs typeface="Calibri"/>
              </a:rPr>
              <a:t> </a:t>
            </a:r>
            <a:r>
              <a:rPr sz="2000" spc="-10" dirty="0">
                <a:latin typeface="Calibri"/>
                <a:cs typeface="Calibri"/>
              </a:rPr>
              <a:t>control</a:t>
            </a:r>
            <a:r>
              <a:rPr sz="2000" spc="-75" dirty="0">
                <a:latin typeface="Calibri"/>
                <a:cs typeface="Calibri"/>
              </a:rPr>
              <a:t> </a:t>
            </a:r>
            <a:r>
              <a:rPr sz="2000" dirty="0">
                <a:latin typeface="Calibri"/>
                <a:cs typeface="Calibri"/>
              </a:rPr>
              <a:t>our</a:t>
            </a:r>
            <a:r>
              <a:rPr sz="2000" spc="-70" dirty="0">
                <a:latin typeface="Calibri"/>
                <a:cs typeface="Calibri"/>
              </a:rPr>
              <a:t> </a:t>
            </a:r>
            <a:r>
              <a:rPr sz="2000" dirty="0">
                <a:latin typeface="Calibri"/>
                <a:cs typeface="Calibri"/>
              </a:rPr>
              <a:t>expenditure</a:t>
            </a:r>
            <a:r>
              <a:rPr sz="2000" spc="-75" dirty="0">
                <a:latin typeface="Calibri"/>
                <a:cs typeface="Calibri"/>
              </a:rPr>
              <a:t> </a:t>
            </a:r>
            <a:r>
              <a:rPr sz="2000" dirty="0">
                <a:latin typeface="Calibri"/>
                <a:cs typeface="Calibri"/>
              </a:rPr>
              <a:t>in</a:t>
            </a:r>
            <a:r>
              <a:rPr sz="2000" spc="-55" dirty="0">
                <a:latin typeface="Calibri"/>
                <a:cs typeface="Calibri"/>
              </a:rPr>
              <a:t> </a:t>
            </a:r>
            <a:r>
              <a:rPr sz="2000" spc="-25" dirty="0">
                <a:latin typeface="Calibri"/>
                <a:cs typeface="Calibri"/>
              </a:rPr>
              <a:t>the </a:t>
            </a:r>
            <a:r>
              <a:rPr sz="2000" spc="-10" dirty="0">
                <a:latin typeface="Calibri"/>
                <a:cs typeface="Calibri"/>
              </a:rPr>
              <a:t>newer</a:t>
            </a:r>
            <a:r>
              <a:rPr lang="en-US" sz="2000" dirty="0">
                <a:latin typeface="Calibri"/>
                <a:cs typeface="Calibri"/>
              </a:rPr>
              <a:t> </a:t>
            </a:r>
            <a:r>
              <a:rPr sz="2000" spc="-10" dirty="0">
                <a:latin typeface="Calibri"/>
                <a:cs typeface="Calibri"/>
              </a:rPr>
              <a:t>restaurants.</a:t>
            </a:r>
            <a:endParaRPr sz="2000" dirty="0">
              <a:latin typeface="Calibri"/>
              <a:cs typeface="Calibri"/>
            </a:endParaRPr>
          </a:p>
          <a:p>
            <a:pPr marL="299085" marR="34290" indent="-287020">
              <a:lnSpc>
                <a:spcPct val="100000"/>
              </a:lnSpc>
              <a:buFont typeface="Arial"/>
              <a:buChar char="•"/>
              <a:tabLst>
                <a:tab pos="299085" algn="l"/>
              </a:tabLst>
            </a:pPr>
            <a:r>
              <a:rPr sz="2000" dirty="0">
                <a:latin typeface="Calibri"/>
                <a:cs typeface="Calibri"/>
              </a:rPr>
              <a:t>Analyze</a:t>
            </a:r>
            <a:r>
              <a:rPr lang="en-US" sz="2000" dirty="0">
                <a:latin typeface="Calibri"/>
                <a:cs typeface="Calibri"/>
              </a:rPr>
              <a:t>d</a:t>
            </a:r>
            <a:r>
              <a:rPr sz="2000" spc="-10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cuisines</a:t>
            </a:r>
            <a:r>
              <a:rPr sz="2000" spc="-30" dirty="0">
                <a:latin typeface="Calibri"/>
                <a:cs typeface="Calibri"/>
              </a:rPr>
              <a:t> </a:t>
            </a:r>
            <a:r>
              <a:rPr sz="2000" dirty="0">
                <a:latin typeface="Calibri"/>
                <a:cs typeface="Calibri"/>
              </a:rPr>
              <a:t>we</a:t>
            </a:r>
            <a:r>
              <a:rPr sz="2000" spc="-70" dirty="0">
                <a:latin typeface="Calibri"/>
                <a:cs typeface="Calibri"/>
              </a:rPr>
              <a:t> </a:t>
            </a:r>
            <a:r>
              <a:rPr sz="2000" dirty="0">
                <a:latin typeface="Calibri"/>
                <a:cs typeface="Calibri"/>
              </a:rPr>
              <a:t>should</a:t>
            </a:r>
            <a:r>
              <a:rPr sz="2000" spc="-75" dirty="0">
                <a:latin typeface="Calibri"/>
                <a:cs typeface="Calibri"/>
              </a:rPr>
              <a:t> </a:t>
            </a:r>
            <a:r>
              <a:rPr sz="2000" dirty="0">
                <a:latin typeface="Calibri"/>
                <a:cs typeface="Calibri"/>
              </a:rPr>
              <a:t>go</a:t>
            </a:r>
            <a:r>
              <a:rPr sz="2000" spc="-85" dirty="0">
                <a:latin typeface="Calibri"/>
                <a:cs typeface="Calibri"/>
              </a:rPr>
              <a:t> </a:t>
            </a:r>
            <a:r>
              <a:rPr sz="2000" dirty="0">
                <a:latin typeface="Calibri"/>
                <a:cs typeface="Calibri"/>
              </a:rPr>
              <a:t>for</a:t>
            </a:r>
            <a:r>
              <a:rPr sz="2000" spc="-90" dirty="0">
                <a:latin typeface="Calibri"/>
                <a:cs typeface="Calibri"/>
              </a:rPr>
              <a:t> </a:t>
            </a:r>
            <a:r>
              <a:rPr sz="2000" dirty="0">
                <a:latin typeface="Calibri"/>
                <a:cs typeface="Calibri"/>
              </a:rPr>
              <a:t>in</a:t>
            </a:r>
            <a:r>
              <a:rPr sz="2000" spc="-60" dirty="0">
                <a:latin typeface="Calibri"/>
                <a:cs typeface="Calibri"/>
              </a:rPr>
              <a:t> </a:t>
            </a:r>
            <a:r>
              <a:rPr sz="2000" spc="-25" dirty="0">
                <a:latin typeface="Calibri"/>
                <a:cs typeface="Calibri"/>
              </a:rPr>
              <a:t>the </a:t>
            </a:r>
            <a:r>
              <a:rPr sz="2000" spc="-10" dirty="0">
                <a:latin typeface="Calibri"/>
                <a:cs typeface="Calibri"/>
              </a:rPr>
              <a:t>restaurants.</a:t>
            </a:r>
            <a:endParaRPr sz="2000" dirty="0">
              <a:latin typeface="Calibri"/>
              <a:cs typeface="Calibri"/>
            </a:endParaRPr>
          </a:p>
        </p:txBody>
      </p:sp>
      <p:pic>
        <p:nvPicPr>
          <p:cNvPr id="6" name="object 6"/>
          <p:cNvPicPr/>
          <p:nvPr/>
        </p:nvPicPr>
        <p:blipFill>
          <a:blip r:embed="rId2" cstate="print"/>
          <a:stretch>
            <a:fillRect/>
          </a:stretch>
        </p:blipFill>
        <p:spPr>
          <a:xfrm>
            <a:off x="3200400" y="1143000"/>
            <a:ext cx="5867400" cy="2667000"/>
          </a:xfrm>
          <a:prstGeom prst="rect">
            <a:avLst/>
          </a:prstGeom>
        </p:spPr>
      </p:pic>
      <p:sp>
        <p:nvSpPr>
          <p:cNvPr id="8" name="Rectangle 7">
            <a:extLst>
              <a:ext uri="{FF2B5EF4-FFF2-40B4-BE49-F238E27FC236}">
                <a16:creationId xmlns:a16="http://schemas.microsoft.com/office/drawing/2014/main" id="{1B016495-9813-393C-2F99-ECBCBBF69304}"/>
              </a:ext>
            </a:extLst>
          </p:cNvPr>
          <p:cNvSpPr/>
          <p:nvPr/>
        </p:nvSpPr>
        <p:spPr>
          <a:xfrm>
            <a:off x="3722594" y="304800"/>
            <a:ext cx="4746812" cy="707886"/>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Analysis Objective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361821" y="4124342"/>
            <a:ext cx="9491980" cy="1859483"/>
          </a:xfrm>
          <a:prstGeom prst="rect">
            <a:avLst/>
          </a:prstGeom>
        </p:spPr>
        <p:txBody>
          <a:bodyPr vert="horz" wrap="square" lIns="0" tIns="12700" rIns="0" bIns="0" rtlCol="0">
            <a:spAutoFit/>
          </a:bodyPr>
          <a:lstStyle/>
          <a:p>
            <a:pPr marL="299085" marR="29209" indent="-287020">
              <a:lnSpc>
                <a:spcPct val="100000"/>
              </a:lnSpc>
              <a:spcBef>
                <a:spcPts val="100"/>
              </a:spcBef>
              <a:buFont typeface="Arial"/>
              <a:buChar char="•"/>
              <a:tabLst>
                <a:tab pos="299085" algn="l"/>
              </a:tabLst>
            </a:pPr>
            <a:r>
              <a:rPr sz="2000" spc="-10" dirty="0">
                <a:latin typeface="Calibri"/>
                <a:cs typeface="Calibri"/>
              </a:rPr>
              <a:t>Zomato</a:t>
            </a:r>
            <a:r>
              <a:rPr sz="2000" spc="-100" dirty="0">
                <a:latin typeface="Calibri"/>
                <a:cs typeface="Calibri"/>
              </a:rPr>
              <a:t> </a:t>
            </a:r>
            <a:r>
              <a:rPr sz="2000" dirty="0">
                <a:latin typeface="Calibri"/>
                <a:cs typeface="Calibri"/>
              </a:rPr>
              <a:t>is</a:t>
            </a:r>
            <a:r>
              <a:rPr sz="2000" spc="-70" dirty="0">
                <a:latin typeface="Calibri"/>
                <a:cs typeface="Calibri"/>
              </a:rPr>
              <a:t> </a:t>
            </a:r>
            <a:r>
              <a:rPr sz="2000" dirty="0">
                <a:latin typeface="Calibri"/>
                <a:cs typeface="Calibri"/>
              </a:rPr>
              <a:t>an</a:t>
            </a:r>
            <a:r>
              <a:rPr sz="2000" spc="-35" dirty="0">
                <a:latin typeface="Calibri"/>
                <a:cs typeface="Calibri"/>
              </a:rPr>
              <a:t> </a:t>
            </a:r>
            <a:r>
              <a:rPr sz="2000" dirty="0">
                <a:latin typeface="Calibri"/>
                <a:cs typeface="Calibri"/>
              </a:rPr>
              <a:t>Indian</a:t>
            </a:r>
            <a:r>
              <a:rPr sz="2000" spc="-60" dirty="0">
                <a:latin typeface="Calibri"/>
                <a:cs typeface="Calibri"/>
              </a:rPr>
              <a:t> </a:t>
            </a:r>
            <a:r>
              <a:rPr sz="2000" dirty="0">
                <a:latin typeface="Calibri"/>
                <a:cs typeface="Calibri"/>
              </a:rPr>
              <a:t>multinational</a:t>
            </a:r>
            <a:r>
              <a:rPr sz="2000" spc="-40" dirty="0">
                <a:latin typeface="Calibri"/>
                <a:cs typeface="Calibri"/>
              </a:rPr>
              <a:t> </a:t>
            </a:r>
            <a:r>
              <a:rPr sz="2000" spc="-25" dirty="0">
                <a:latin typeface="Calibri"/>
                <a:cs typeface="Calibri"/>
              </a:rPr>
              <a:t>restaurant</a:t>
            </a:r>
            <a:r>
              <a:rPr sz="2000" spc="-55" dirty="0">
                <a:latin typeface="Calibri"/>
                <a:cs typeface="Calibri"/>
              </a:rPr>
              <a:t> </a:t>
            </a:r>
            <a:r>
              <a:rPr sz="2000" spc="-20" dirty="0">
                <a:latin typeface="Calibri"/>
                <a:cs typeface="Calibri"/>
              </a:rPr>
              <a:t>aggregator</a:t>
            </a:r>
            <a:r>
              <a:rPr sz="2000" spc="-6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food</a:t>
            </a:r>
            <a:r>
              <a:rPr sz="2000" spc="-45" dirty="0">
                <a:latin typeface="Calibri"/>
                <a:cs typeface="Calibri"/>
              </a:rPr>
              <a:t> </a:t>
            </a:r>
            <a:r>
              <a:rPr sz="2000" dirty="0">
                <a:latin typeface="Calibri"/>
                <a:cs typeface="Calibri"/>
              </a:rPr>
              <a:t>delivery</a:t>
            </a:r>
            <a:r>
              <a:rPr sz="2000" spc="-70" dirty="0">
                <a:latin typeface="Calibri"/>
                <a:cs typeface="Calibri"/>
              </a:rPr>
              <a:t> </a:t>
            </a:r>
            <a:r>
              <a:rPr sz="2000" spc="-30" dirty="0">
                <a:latin typeface="Calibri"/>
                <a:cs typeface="Calibri"/>
              </a:rPr>
              <a:t>company.</a:t>
            </a:r>
            <a:r>
              <a:rPr sz="2000" spc="-70" dirty="0">
                <a:latin typeface="Calibri"/>
                <a:cs typeface="Calibri"/>
              </a:rPr>
              <a:t> </a:t>
            </a:r>
            <a:r>
              <a:rPr sz="2000" dirty="0">
                <a:latin typeface="Calibri"/>
                <a:cs typeface="Calibri"/>
              </a:rPr>
              <a:t>It</a:t>
            </a:r>
            <a:r>
              <a:rPr sz="2000" spc="-75" dirty="0">
                <a:latin typeface="Calibri"/>
                <a:cs typeface="Calibri"/>
              </a:rPr>
              <a:t> </a:t>
            </a:r>
            <a:r>
              <a:rPr sz="2000" dirty="0">
                <a:latin typeface="Calibri"/>
                <a:cs typeface="Calibri"/>
              </a:rPr>
              <a:t>was</a:t>
            </a:r>
            <a:r>
              <a:rPr sz="2000" spc="-55" dirty="0">
                <a:latin typeface="Calibri"/>
                <a:cs typeface="Calibri"/>
              </a:rPr>
              <a:t> </a:t>
            </a:r>
            <a:r>
              <a:rPr sz="2000" spc="-10" dirty="0">
                <a:latin typeface="Calibri"/>
                <a:cs typeface="Calibri"/>
              </a:rPr>
              <a:t>founded </a:t>
            </a:r>
            <a:r>
              <a:rPr sz="2000" dirty="0">
                <a:latin typeface="Calibri"/>
                <a:cs typeface="Calibri"/>
              </a:rPr>
              <a:t>by</a:t>
            </a:r>
            <a:r>
              <a:rPr sz="2000" spc="-100" dirty="0">
                <a:latin typeface="Calibri"/>
                <a:cs typeface="Calibri"/>
              </a:rPr>
              <a:t> </a:t>
            </a:r>
            <a:r>
              <a:rPr sz="2000" dirty="0">
                <a:latin typeface="Calibri"/>
                <a:cs typeface="Calibri"/>
              </a:rPr>
              <a:t>Deepinder</a:t>
            </a:r>
            <a:r>
              <a:rPr sz="2000" spc="-25" dirty="0">
                <a:latin typeface="Calibri"/>
                <a:cs typeface="Calibri"/>
              </a:rPr>
              <a:t> </a:t>
            </a:r>
            <a:r>
              <a:rPr sz="2000" dirty="0">
                <a:latin typeface="Calibri"/>
                <a:cs typeface="Calibri"/>
              </a:rPr>
              <a:t>Goyal</a:t>
            </a:r>
            <a:r>
              <a:rPr sz="2000" spc="-75" dirty="0">
                <a:latin typeface="Calibri"/>
                <a:cs typeface="Calibri"/>
              </a:rPr>
              <a:t> </a:t>
            </a:r>
            <a:r>
              <a:rPr sz="2000" dirty="0">
                <a:latin typeface="Calibri"/>
                <a:cs typeface="Calibri"/>
              </a:rPr>
              <a:t>and</a:t>
            </a:r>
            <a:r>
              <a:rPr sz="2000" spc="-75" dirty="0">
                <a:latin typeface="Calibri"/>
                <a:cs typeface="Calibri"/>
              </a:rPr>
              <a:t> </a:t>
            </a:r>
            <a:r>
              <a:rPr sz="2000" spc="-20" dirty="0">
                <a:latin typeface="Calibri"/>
                <a:cs typeface="Calibri"/>
              </a:rPr>
              <a:t>Pankaj</a:t>
            </a:r>
            <a:r>
              <a:rPr sz="2000" spc="-85" dirty="0">
                <a:latin typeface="Calibri"/>
                <a:cs typeface="Calibri"/>
              </a:rPr>
              <a:t> </a:t>
            </a:r>
            <a:r>
              <a:rPr sz="2000" dirty="0">
                <a:latin typeface="Calibri"/>
                <a:cs typeface="Calibri"/>
              </a:rPr>
              <a:t>Chaddah</a:t>
            </a:r>
            <a:r>
              <a:rPr sz="2000" spc="-40" dirty="0">
                <a:latin typeface="Calibri"/>
                <a:cs typeface="Calibri"/>
              </a:rPr>
              <a:t> </a:t>
            </a:r>
            <a:r>
              <a:rPr sz="2000" dirty="0">
                <a:latin typeface="Calibri"/>
                <a:cs typeface="Calibri"/>
              </a:rPr>
              <a:t>in</a:t>
            </a:r>
            <a:r>
              <a:rPr sz="2000" spc="-60" dirty="0">
                <a:latin typeface="Calibri"/>
                <a:cs typeface="Calibri"/>
              </a:rPr>
              <a:t> </a:t>
            </a:r>
            <a:r>
              <a:rPr sz="2000" spc="-10" dirty="0">
                <a:latin typeface="Calibri"/>
                <a:cs typeface="Calibri"/>
              </a:rPr>
              <a:t>2008.</a:t>
            </a:r>
            <a:endParaRPr sz="2000" dirty="0">
              <a:latin typeface="Calibri"/>
              <a:cs typeface="Calibri"/>
            </a:endParaRPr>
          </a:p>
          <a:p>
            <a:pPr>
              <a:lnSpc>
                <a:spcPct val="100000"/>
              </a:lnSpc>
              <a:spcBef>
                <a:spcPts val="10"/>
              </a:spcBef>
              <a:buFont typeface="Arial"/>
              <a:buChar char="•"/>
            </a:pPr>
            <a:endParaRPr sz="2000" dirty="0">
              <a:latin typeface="Calibri"/>
              <a:cs typeface="Calibri"/>
            </a:endParaRPr>
          </a:p>
          <a:p>
            <a:pPr marL="299085" indent="-286385">
              <a:lnSpc>
                <a:spcPct val="100000"/>
              </a:lnSpc>
              <a:buFont typeface="Arial"/>
              <a:buChar char="•"/>
              <a:tabLst>
                <a:tab pos="299085" algn="l"/>
              </a:tabLst>
            </a:pPr>
            <a:r>
              <a:rPr sz="2000" spc="-10" dirty="0">
                <a:latin typeface="Calibri"/>
                <a:cs typeface="Calibri"/>
              </a:rPr>
              <a:t>Zomato</a:t>
            </a:r>
            <a:r>
              <a:rPr sz="2000" spc="-80" dirty="0">
                <a:latin typeface="Calibri"/>
                <a:cs typeface="Calibri"/>
              </a:rPr>
              <a:t> </a:t>
            </a:r>
            <a:r>
              <a:rPr sz="2000" dirty="0">
                <a:latin typeface="Calibri"/>
                <a:cs typeface="Calibri"/>
              </a:rPr>
              <a:t>charges</a:t>
            </a:r>
            <a:r>
              <a:rPr sz="2000" spc="-45" dirty="0">
                <a:latin typeface="Calibri"/>
                <a:cs typeface="Calibri"/>
              </a:rPr>
              <a:t> </a:t>
            </a:r>
            <a:r>
              <a:rPr sz="2000" dirty="0">
                <a:latin typeface="Calibri"/>
                <a:cs typeface="Calibri"/>
              </a:rPr>
              <a:t>a</a:t>
            </a:r>
            <a:r>
              <a:rPr sz="2000" spc="-55" dirty="0">
                <a:latin typeface="Calibri"/>
                <a:cs typeface="Calibri"/>
              </a:rPr>
              <a:t> </a:t>
            </a:r>
            <a:r>
              <a:rPr sz="2000" spc="-15" dirty="0">
                <a:latin typeface="Calibri"/>
                <a:cs typeface="Calibri"/>
              </a:rPr>
              <a:t>20-</a:t>
            </a:r>
            <a:r>
              <a:rPr sz="2000" dirty="0">
                <a:latin typeface="Calibri"/>
                <a:cs typeface="Calibri"/>
              </a:rPr>
              <a:t>25%</a:t>
            </a:r>
            <a:r>
              <a:rPr sz="2000" spc="-50" dirty="0">
                <a:latin typeface="Calibri"/>
                <a:cs typeface="Calibri"/>
              </a:rPr>
              <a:t> </a:t>
            </a:r>
            <a:r>
              <a:rPr sz="2000" spc="-10" dirty="0">
                <a:latin typeface="Calibri"/>
                <a:cs typeface="Calibri"/>
              </a:rPr>
              <a:t>commission</a:t>
            </a:r>
            <a:r>
              <a:rPr sz="2000" spc="-65" dirty="0">
                <a:latin typeface="Calibri"/>
                <a:cs typeface="Calibri"/>
              </a:rPr>
              <a:t> </a:t>
            </a:r>
            <a:r>
              <a:rPr sz="2000" dirty="0">
                <a:latin typeface="Calibri"/>
                <a:cs typeface="Calibri"/>
              </a:rPr>
              <a:t>from</a:t>
            </a:r>
            <a:r>
              <a:rPr sz="2000" spc="-6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particular</a:t>
            </a:r>
            <a:r>
              <a:rPr sz="2000" spc="-45" dirty="0">
                <a:latin typeface="Calibri"/>
                <a:cs typeface="Calibri"/>
              </a:rPr>
              <a:t> </a:t>
            </a:r>
            <a:r>
              <a:rPr sz="2000" spc="-25" dirty="0">
                <a:latin typeface="Calibri"/>
                <a:cs typeface="Calibri"/>
              </a:rPr>
              <a:t>restaurant</a:t>
            </a:r>
            <a:r>
              <a:rPr sz="2000" spc="-50" dirty="0">
                <a:latin typeface="Calibri"/>
                <a:cs typeface="Calibri"/>
              </a:rPr>
              <a:t> </a:t>
            </a:r>
            <a:r>
              <a:rPr sz="2000" dirty="0">
                <a:latin typeface="Calibri"/>
                <a:cs typeface="Calibri"/>
              </a:rPr>
              <a:t>for</a:t>
            </a:r>
            <a:r>
              <a:rPr sz="2000" spc="-65" dirty="0">
                <a:latin typeface="Calibri"/>
                <a:cs typeface="Calibri"/>
              </a:rPr>
              <a:t> </a:t>
            </a:r>
            <a:r>
              <a:rPr sz="2000" dirty="0">
                <a:latin typeface="Calibri"/>
                <a:cs typeface="Calibri"/>
              </a:rPr>
              <a:t>each</a:t>
            </a:r>
            <a:r>
              <a:rPr sz="2000" spc="-45" dirty="0">
                <a:latin typeface="Calibri"/>
                <a:cs typeface="Calibri"/>
              </a:rPr>
              <a:t> </a:t>
            </a:r>
            <a:r>
              <a:rPr sz="2000" dirty="0">
                <a:latin typeface="Calibri"/>
                <a:cs typeface="Calibri"/>
              </a:rPr>
              <a:t>order</a:t>
            </a:r>
            <a:r>
              <a:rPr sz="2000" spc="-50" dirty="0">
                <a:latin typeface="Calibri"/>
                <a:cs typeface="Calibri"/>
              </a:rPr>
              <a:t> </a:t>
            </a:r>
            <a:r>
              <a:rPr sz="2000" dirty="0">
                <a:latin typeface="Calibri"/>
                <a:cs typeface="Calibri"/>
              </a:rPr>
              <a:t>placed.</a:t>
            </a:r>
            <a:r>
              <a:rPr sz="2000" spc="-35" dirty="0">
                <a:latin typeface="Calibri"/>
                <a:cs typeface="Calibri"/>
              </a:rPr>
              <a:t> </a:t>
            </a:r>
            <a:r>
              <a:rPr sz="2000" dirty="0">
                <a:latin typeface="Calibri"/>
                <a:cs typeface="Calibri"/>
              </a:rPr>
              <a:t>In</a:t>
            </a:r>
            <a:r>
              <a:rPr sz="2000" spc="-70" dirty="0">
                <a:latin typeface="Calibri"/>
                <a:cs typeface="Calibri"/>
              </a:rPr>
              <a:t> </a:t>
            </a:r>
            <a:r>
              <a:rPr sz="2000" spc="-20" dirty="0">
                <a:latin typeface="Calibri"/>
                <a:cs typeface="Calibri"/>
              </a:rPr>
              <a:t>some</a:t>
            </a:r>
            <a:endParaRPr sz="2000" dirty="0">
              <a:latin typeface="Calibri"/>
              <a:cs typeface="Calibri"/>
            </a:endParaRPr>
          </a:p>
          <a:p>
            <a:pPr marL="299085">
              <a:lnSpc>
                <a:spcPct val="100000"/>
              </a:lnSpc>
            </a:pPr>
            <a:r>
              <a:rPr sz="2000" spc="-10" dirty="0">
                <a:latin typeface="Calibri"/>
                <a:cs typeface="Calibri"/>
              </a:rPr>
              <a:t>regions,</a:t>
            </a:r>
            <a:r>
              <a:rPr sz="2000" spc="-55"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commission</a:t>
            </a:r>
            <a:r>
              <a:rPr sz="2000" spc="-45" dirty="0">
                <a:latin typeface="Calibri"/>
                <a:cs typeface="Calibri"/>
              </a:rPr>
              <a:t> </a:t>
            </a:r>
            <a:r>
              <a:rPr sz="2000" dirty="0">
                <a:latin typeface="Calibri"/>
                <a:cs typeface="Calibri"/>
              </a:rPr>
              <a:t>rate</a:t>
            </a:r>
            <a:r>
              <a:rPr sz="2000" spc="-40" dirty="0">
                <a:latin typeface="Calibri"/>
                <a:cs typeface="Calibri"/>
              </a:rPr>
              <a:t> </a:t>
            </a:r>
            <a:r>
              <a:rPr sz="2000" dirty="0">
                <a:latin typeface="Calibri"/>
                <a:cs typeface="Calibri"/>
              </a:rPr>
              <a:t>may</a:t>
            </a:r>
            <a:r>
              <a:rPr sz="2000" spc="-60" dirty="0">
                <a:latin typeface="Calibri"/>
                <a:cs typeface="Calibri"/>
              </a:rPr>
              <a:t> </a:t>
            </a:r>
            <a:r>
              <a:rPr sz="2000" dirty="0">
                <a:latin typeface="Calibri"/>
                <a:cs typeface="Calibri"/>
              </a:rPr>
              <a:t>vary</a:t>
            </a:r>
            <a:r>
              <a:rPr sz="2000" spc="-65" dirty="0">
                <a:latin typeface="Calibri"/>
                <a:cs typeface="Calibri"/>
              </a:rPr>
              <a:t> </a:t>
            </a:r>
            <a:r>
              <a:rPr sz="2000" dirty="0">
                <a:latin typeface="Calibri"/>
                <a:cs typeface="Calibri"/>
              </a:rPr>
              <a:t>from</a:t>
            </a:r>
            <a:r>
              <a:rPr sz="2000" spc="-50" dirty="0">
                <a:latin typeface="Calibri"/>
                <a:cs typeface="Calibri"/>
              </a:rPr>
              <a:t> </a:t>
            </a:r>
            <a:r>
              <a:rPr sz="2000" spc="-10" dirty="0">
                <a:latin typeface="Calibri"/>
                <a:cs typeface="Calibri"/>
              </a:rPr>
              <a:t>5-</a:t>
            </a:r>
            <a:r>
              <a:rPr sz="2000" spc="-25" dirty="0">
                <a:latin typeface="Calibri"/>
                <a:cs typeface="Calibri"/>
              </a:rPr>
              <a:t>7%.</a:t>
            </a:r>
            <a:endParaRPr sz="2000" dirty="0">
              <a:latin typeface="Calibri"/>
              <a:cs typeface="Calibri"/>
            </a:endParaRPr>
          </a:p>
        </p:txBody>
      </p:sp>
      <p:pic>
        <p:nvPicPr>
          <p:cNvPr id="6" name="object 6"/>
          <p:cNvPicPr/>
          <p:nvPr/>
        </p:nvPicPr>
        <p:blipFill>
          <a:blip r:embed="rId2" cstate="print"/>
          <a:stretch>
            <a:fillRect/>
          </a:stretch>
        </p:blipFill>
        <p:spPr>
          <a:xfrm>
            <a:off x="3438777" y="1532663"/>
            <a:ext cx="5054600" cy="2123567"/>
          </a:xfrm>
          <a:prstGeom prst="rect">
            <a:avLst/>
          </a:prstGeom>
        </p:spPr>
      </p:pic>
      <p:sp>
        <p:nvSpPr>
          <p:cNvPr id="7" name="Rectangle 6">
            <a:extLst>
              <a:ext uri="{FF2B5EF4-FFF2-40B4-BE49-F238E27FC236}">
                <a16:creationId xmlns:a16="http://schemas.microsoft.com/office/drawing/2014/main" id="{F2308C6D-09F8-982A-4E53-8B97C8D0271B}"/>
              </a:ext>
            </a:extLst>
          </p:cNvPr>
          <p:cNvSpPr/>
          <p:nvPr/>
        </p:nvSpPr>
        <p:spPr>
          <a:xfrm>
            <a:off x="4136891" y="366659"/>
            <a:ext cx="3658373" cy="707886"/>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About Zomato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73497A-87C0-7B99-02E7-37517D44627D}"/>
              </a:ext>
            </a:extLst>
          </p:cNvPr>
          <p:cNvSpPr>
            <a:spLocks noGrp="1"/>
          </p:cNvSpPr>
          <p:nvPr>
            <p:ph idx="1"/>
          </p:nvPr>
        </p:nvSpPr>
        <p:spPr>
          <a:xfrm>
            <a:off x="1137035" y="2147358"/>
            <a:ext cx="10397468" cy="4371008"/>
          </a:xfrm>
        </p:spPr>
        <p:txBody>
          <a:bodyPr>
            <a:normAutofit/>
          </a:bodyPr>
          <a:lstStyle/>
          <a:p>
            <a:pPr marL="0" indent="0">
              <a:buNone/>
            </a:pPr>
            <a:r>
              <a:rPr lang="en-US" sz="1700" b="1" dirty="0"/>
              <a:t>Project Introduction </a:t>
            </a:r>
          </a:p>
          <a:p>
            <a:pPr marL="0" indent="0">
              <a:buNone/>
            </a:pPr>
            <a:r>
              <a:rPr lang="en-US" sz="1700" dirty="0"/>
              <a:t>	</a:t>
            </a:r>
            <a:r>
              <a:rPr lang="en-IN" sz="1700" dirty="0"/>
              <a:t>This project focuses on analysing restaurant data across multiple countries to identify market opportunities for opening new restaurants. The dataset contains detailed information on restaurant locations, cuisines, costs, ratings, delivery options, and customer engagement.</a:t>
            </a:r>
          </a:p>
          <a:p>
            <a:pPr marL="0" indent="0">
              <a:buNone/>
            </a:pPr>
            <a:endParaRPr lang="en-IN" sz="1700" dirty="0"/>
          </a:p>
          <a:p>
            <a:pPr marL="0" indent="0">
              <a:buNone/>
            </a:pPr>
            <a:r>
              <a:rPr lang="en-IN" sz="1700" b="1" dirty="0"/>
              <a:t>the global restaurant industry is valued at over $4 trillion, yet many cities remain underserved despite high customer demand?</a:t>
            </a:r>
            <a:br>
              <a:rPr lang="en-IN" sz="1700" dirty="0"/>
            </a:br>
            <a:r>
              <a:rPr lang="en-IN" sz="1700" dirty="0"/>
              <a:t>This project leverages real restaurant data to uncover untapped opportunities by </a:t>
            </a:r>
            <a:r>
              <a:rPr lang="en-IN" sz="1700" dirty="0" err="1"/>
              <a:t>analyzing</a:t>
            </a:r>
            <a:r>
              <a:rPr lang="en-IN" sz="1700" dirty="0"/>
              <a:t> market trends, customer ratings, pricing, and service preferences. The primary goal is to identify potential areas for expansion, understand how services like online delivery and table booking impact feedback, and highlight cuisines that drive customer satisfaction. In doing so, the project provides actionable insights for strategic restaurant growth across diverse markets.</a:t>
            </a:r>
            <a:endParaRPr lang="en-US" sz="1700" dirty="0"/>
          </a:p>
        </p:txBody>
      </p:sp>
    </p:spTree>
    <p:extLst>
      <p:ext uri="{BB962C8B-B14F-4D97-AF65-F5344CB8AC3E}">
        <p14:creationId xmlns:p14="http://schemas.microsoft.com/office/powerpoint/2010/main" val="203817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76514" y="757667"/>
            <a:ext cx="5309492" cy="5860579"/>
          </a:xfrm>
          <a:prstGeom prst="rect">
            <a:avLst/>
          </a:prstGeom>
        </p:spPr>
        <p:txBody>
          <a:bodyPr vert="horz" wrap="square" lIns="0" tIns="12700" rIns="0" bIns="0" rtlCol="0">
            <a:spAutoFit/>
          </a:bodyPr>
          <a:lstStyle/>
          <a:p>
            <a:pPr marL="299085" marR="758825" indent="-287020">
              <a:lnSpc>
                <a:spcPct val="100000"/>
              </a:lnSpc>
              <a:spcBef>
                <a:spcPts val="100"/>
              </a:spcBef>
              <a:buFont typeface="Arial"/>
              <a:buChar char="•"/>
              <a:tabLst>
                <a:tab pos="299085" algn="l"/>
              </a:tabLst>
            </a:pPr>
            <a:r>
              <a:rPr sz="2000" b="1" spc="-20" dirty="0">
                <a:latin typeface="Calibri"/>
                <a:cs typeface="Calibri"/>
              </a:rPr>
              <a:t>Restaurant</a:t>
            </a:r>
            <a:r>
              <a:rPr sz="2000" b="1" spc="-85" dirty="0">
                <a:latin typeface="Calibri"/>
                <a:cs typeface="Calibri"/>
              </a:rPr>
              <a:t> </a:t>
            </a:r>
            <a:r>
              <a:rPr sz="2000" b="1" dirty="0">
                <a:latin typeface="Calibri"/>
                <a:cs typeface="Calibri"/>
              </a:rPr>
              <a:t>ID:</a:t>
            </a:r>
            <a:r>
              <a:rPr sz="2000" b="1" spc="-75" dirty="0">
                <a:latin typeface="Calibri"/>
                <a:cs typeface="Calibri"/>
              </a:rPr>
              <a:t> </a:t>
            </a:r>
            <a:r>
              <a:rPr sz="2000" dirty="0">
                <a:latin typeface="Calibri"/>
                <a:cs typeface="Calibri"/>
              </a:rPr>
              <a:t>Unique</a:t>
            </a:r>
            <a:r>
              <a:rPr sz="2000" spc="-30" dirty="0">
                <a:latin typeface="Calibri"/>
                <a:cs typeface="Calibri"/>
              </a:rPr>
              <a:t> </a:t>
            </a:r>
            <a:r>
              <a:rPr sz="2000" dirty="0">
                <a:latin typeface="Calibri"/>
                <a:cs typeface="Calibri"/>
              </a:rPr>
              <a:t>identifier</a:t>
            </a:r>
            <a:r>
              <a:rPr sz="2000" spc="-40" dirty="0">
                <a:latin typeface="Calibri"/>
                <a:cs typeface="Calibri"/>
              </a:rPr>
              <a:t> </a:t>
            </a:r>
            <a:r>
              <a:rPr sz="2000" dirty="0">
                <a:latin typeface="Calibri"/>
                <a:cs typeface="Calibri"/>
              </a:rPr>
              <a:t>for</a:t>
            </a:r>
            <a:r>
              <a:rPr lang="en-US" sz="2000" spc="-55" dirty="0">
                <a:latin typeface="Calibri"/>
                <a:cs typeface="Calibri"/>
              </a:rPr>
              <a:t> </a:t>
            </a:r>
            <a:r>
              <a:rPr sz="2000" spc="-20" dirty="0">
                <a:latin typeface="Calibri"/>
                <a:cs typeface="Calibri"/>
              </a:rPr>
              <a:t>each </a:t>
            </a:r>
            <a:r>
              <a:rPr sz="2000" spc="-10" dirty="0">
                <a:latin typeface="Calibri"/>
                <a:cs typeface="Calibri"/>
              </a:rPr>
              <a:t>restaurant.</a:t>
            </a:r>
            <a:endParaRPr sz="2000" dirty="0">
              <a:latin typeface="Calibri"/>
              <a:cs typeface="Calibri"/>
            </a:endParaRPr>
          </a:p>
          <a:p>
            <a:pPr marL="299085" indent="-286385">
              <a:lnSpc>
                <a:spcPct val="100000"/>
              </a:lnSpc>
              <a:buFont typeface="Arial"/>
              <a:buChar char="•"/>
              <a:tabLst>
                <a:tab pos="299085" algn="l"/>
              </a:tabLst>
            </a:pPr>
            <a:r>
              <a:rPr sz="2000" b="1" spc="-20" dirty="0">
                <a:latin typeface="Calibri"/>
                <a:cs typeface="Calibri"/>
              </a:rPr>
              <a:t>Restaurant</a:t>
            </a:r>
            <a:r>
              <a:rPr sz="2000" b="1" spc="-85" dirty="0">
                <a:latin typeface="Calibri"/>
                <a:cs typeface="Calibri"/>
              </a:rPr>
              <a:t> </a:t>
            </a:r>
            <a:r>
              <a:rPr sz="2000" b="1" dirty="0">
                <a:latin typeface="Calibri"/>
                <a:cs typeface="Calibri"/>
              </a:rPr>
              <a:t>Name:</a:t>
            </a:r>
            <a:r>
              <a:rPr sz="2000" b="1" spc="-40"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name</a:t>
            </a:r>
            <a:r>
              <a:rPr sz="2000" spc="-35"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the</a:t>
            </a:r>
            <a:r>
              <a:rPr sz="2000" spc="-40" dirty="0">
                <a:latin typeface="Calibri"/>
                <a:cs typeface="Calibri"/>
              </a:rPr>
              <a:t> </a:t>
            </a:r>
            <a:r>
              <a:rPr sz="2000" spc="-10" dirty="0">
                <a:latin typeface="Calibri"/>
                <a:cs typeface="Calibri"/>
              </a:rPr>
              <a:t>restaurant.</a:t>
            </a:r>
            <a:endParaRPr sz="2000" dirty="0">
              <a:latin typeface="Calibri"/>
              <a:cs typeface="Calibri"/>
            </a:endParaRPr>
          </a:p>
          <a:p>
            <a:pPr marL="299085" indent="-286385">
              <a:lnSpc>
                <a:spcPct val="100000"/>
              </a:lnSpc>
              <a:buFont typeface="Arial"/>
              <a:buChar char="•"/>
              <a:tabLst>
                <a:tab pos="299085" algn="l"/>
              </a:tabLst>
            </a:pPr>
            <a:r>
              <a:rPr sz="2000" b="1" dirty="0">
                <a:latin typeface="Calibri"/>
                <a:cs typeface="Calibri"/>
              </a:rPr>
              <a:t>Country</a:t>
            </a:r>
            <a:r>
              <a:rPr sz="2000" b="1" spc="-105" dirty="0">
                <a:latin typeface="Calibri"/>
                <a:cs typeface="Calibri"/>
              </a:rPr>
              <a:t> </a:t>
            </a:r>
            <a:r>
              <a:rPr sz="2000" b="1" dirty="0">
                <a:latin typeface="Calibri"/>
                <a:cs typeface="Calibri"/>
              </a:rPr>
              <a:t>Code:</a:t>
            </a:r>
            <a:r>
              <a:rPr sz="2000" b="1" spc="-95" dirty="0">
                <a:latin typeface="Calibri"/>
                <a:cs typeface="Calibri"/>
              </a:rPr>
              <a:t> </a:t>
            </a:r>
            <a:r>
              <a:rPr sz="2000" dirty="0">
                <a:latin typeface="Calibri"/>
                <a:cs typeface="Calibri"/>
              </a:rPr>
              <a:t>Country</a:t>
            </a:r>
            <a:r>
              <a:rPr sz="2000" spc="-60" dirty="0">
                <a:latin typeface="Calibri"/>
                <a:cs typeface="Calibri"/>
              </a:rPr>
              <a:t> </a:t>
            </a:r>
            <a:r>
              <a:rPr sz="2000" dirty="0">
                <a:latin typeface="Calibri"/>
                <a:cs typeface="Calibri"/>
              </a:rPr>
              <a:t>code</a:t>
            </a:r>
            <a:r>
              <a:rPr sz="2000" spc="-2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location</a:t>
            </a:r>
            <a:endParaRPr sz="2000" dirty="0">
              <a:latin typeface="Calibri"/>
              <a:cs typeface="Calibri"/>
            </a:endParaRPr>
          </a:p>
          <a:p>
            <a:pPr marL="299085">
              <a:lnSpc>
                <a:spcPct val="100000"/>
              </a:lnSpc>
            </a:pPr>
            <a:r>
              <a:rPr sz="2000" dirty="0">
                <a:latin typeface="Calibri"/>
                <a:cs typeface="Calibri"/>
              </a:rPr>
              <a:t>where</a:t>
            </a:r>
            <a:r>
              <a:rPr sz="2000" spc="-40" dirty="0">
                <a:latin typeface="Calibri"/>
                <a:cs typeface="Calibri"/>
              </a:rPr>
              <a:t> </a:t>
            </a:r>
            <a:r>
              <a:rPr sz="2000" dirty="0">
                <a:latin typeface="Calibri"/>
                <a:cs typeface="Calibri"/>
              </a:rPr>
              <a:t>the</a:t>
            </a:r>
            <a:r>
              <a:rPr sz="2000" spc="-65" dirty="0">
                <a:latin typeface="Calibri"/>
                <a:cs typeface="Calibri"/>
              </a:rPr>
              <a:t> </a:t>
            </a:r>
            <a:r>
              <a:rPr sz="2000" spc="-20" dirty="0">
                <a:latin typeface="Calibri"/>
                <a:cs typeface="Calibri"/>
              </a:rPr>
              <a:t>restaurant</a:t>
            </a:r>
            <a:r>
              <a:rPr sz="2000" spc="-55" dirty="0">
                <a:latin typeface="Calibri"/>
                <a:cs typeface="Calibri"/>
              </a:rPr>
              <a:t> </a:t>
            </a:r>
            <a:r>
              <a:rPr sz="2000" dirty="0">
                <a:latin typeface="Calibri"/>
                <a:cs typeface="Calibri"/>
              </a:rPr>
              <a:t>is</a:t>
            </a:r>
            <a:r>
              <a:rPr sz="2000" spc="-45" dirty="0">
                <a:latin typeface="Calibri"/>
                <a:cs typeface="Calibri"/>
              </a:rPr>
              <a:t> </a:t>
            </a:r>
            <a:r>
              <a:rPr sz="2000" spc="-10" dirty="0">
                <a:latin typeface="Calibri"/>
                <a:cs typeface="Calibri"/>
              </a:rPr>
              <a:t>situated.</a:t>
            </a:r>
            <a:endParaRPr sz="2000" dirty="0">
              <a:latin typeface="Calibri"/>
              <a:cs typeface="Calibri"/>
            </a:endParaRPr>
          </a:p>
          <a:p>
            <a:pPr marL="299085" indent="-286385">
              <a:lnSpc>
                <a:spcPct val="100000"/>
              </a:lnSpc>
              <a:buFont typeface="Arial"/>
              <a:buChar char="•"/>
              <a:tabLst>
                <a:tab pos="299085" algn="l"/>
              </a:tabLst>
            </a:pPr>
            <a:r>
              <a:rPr sz="2000" b="1" dirty="0">
                <a:latin typeface="Calibri"/>
                <a:cs typeface="Calibri"/>
              </a:rPr>
              <a:t>City:</a:t>
            </a:r>
            <a:r>
              <a:rPr sz="2000" b="1" spc="-60"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city</a:t>
            </a:r>
            <a:r>
              <a:rPr sz="2000" spc="-25" dirty="0">
                <a:latin typeface="Calibri"/>
                <a:cs typeface="Calibri"/>
              </a:rPr>
              <a:t> </a:t>
            </a:r>
            <a:r>
              <a:rPr sz="2000" dirty="0">
                <a:latin typeface="Calibri"/>
                <a:cs typeface="Calibri"/>
              </a:rPr>
              <a:t>where</a:t>
            </a:r>
            <a:r>
              <a:rPr sz="2000" spc="-30" dirty="0">
                <a:latin typeface="Calibri"/>
                <a:cs typeface="Calibri"/>
              </a:rPr>
              <a:t> </a:t>
            </a:r>
            <a:r>
              <a:rPr sz="2000" dirty="0">
                <a:latin typeface="Calibri"/>
                <a:cs typeface="Calibri"/>
              </a:rPr>
              <a:t>the</a:t>
            </a:r>
            <a:r>
              <a:rPr sz="2000" spc="-20" dirty="0">
                <a:latin typeface="Calibri"/>
                <a:cs typeface="Calibri"/>
              </a:rPr>
              <a:t> </a:t>
            </a:r>
            <a:r>
              <a:rPr sz="2000" spc="-25" dirty="0">
                <a:latin typeface="Calibri"/>
                <a:cs typeface="Calibri"/>
              </a:rPr>
              <a:t>restaurant</a:t>
            </a:r>
            <a:r>
              <a:rPr sz="2000" spc="-35" dirty="0">
                <a:latin typeface="Calibri"/>
                <a:cs typeface="Calibri"/>
              </a:rPr>
              <a:t> </a:t>
            </a:r>
            <a:r>
              <a:rPr sz="2000" dirty="0">
                <a:latin typeface="Calibri"/>
                <a:cs typeface="Calibri"/>
              </a:rPr>
              <a:t>is</a:t>
            </a:r>
            <a:r>
              <a:rPr sz="2000" spc="-45" dirty="0">
                <a:latin typeface="Calibri"/>
                <a:cs typeface="Calibri"/>
              </a:rPr>
              <a:t> </a:t>
            </a:r>
            <a:r>
              <a:rPr sz="2000" spc="-10" dirty="0">
                <a:latin typeface="Calibri"/>
                <a:cs typeface="Calibri"/>
              </a:rPr>
              <a:t>located.</a:t>
            </a:r>
            <a:endParaRPr sz="2000" dirty="0">
              <a:latin typeface="Calibri"/>
              <a:cs typeface="Calibri"/>
            </a:endParaRPr>
          </a:p>
          <a:p>
            <a:pPr marL="299085" indent="-286385">
              <a:lnSpc>
                <a:spcPct val="100000"/>
              </a:lnSpc>
              <a:buFont typeface="Arial"/>
              <a:buChar char="•"/>
              <a:tabLst>
                <a:tab pos="299085" algn="l"/>
              </a:tabLst>
            </a:pPr>
            <a:r>
              <a:rPr sz="2000" b="1" spc="-10" dirty="0">
                <a:latin typeface="Calibri"/>
                <a:cs typeface="Calibri"/>
              </a:rPr>
              <a:t>Address:</a:t>
            </a:r>
            <a:r>
              <a:rPr sz="2000" b="1" spc="-100"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specific</a:t>
            </a:r>
            <a:r>
              <a:rPr sz="2000" spc="-50" dirty="0">
                <a:latin typeface="Calibri"/>
                <a:cs typeface="Calibri"/>
              </a:rPr>
              <a:t> </a:t>
            </a:r>
            <a:r>
              <a:rPr sz="2000" dirty="0">
                <a:latin typeface="Calibri"/>
                <a:cs typeface="Calibri"/>
              </a:rPr>
              <a:t>address</a:t>
            </a:r>
            <a:r>
              <a:rPr sz="2000" spc="-70"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restaurant.</a:t>
            </a:r>
            <a:endParaRPr sz="2000" dirty="0">
              <a:latin typeface="Calibri"/>
              <a:cs typeface="Calibri"/>
            </a:endParaRPr>
          </a:p>
          <a:p>
            <a:pPr marL="299085" marR="26034" indent="-287020">
              <a:lnSpc>
                <a:spcPct val="100000"/>
              </a:lnSpc>
              <a:buFont typeface="Arial"/>
              <a:buChar char="•"/>
              <a:tabLst>
                <a:tab pos="299085" algn="l"/>
              </a:tabLst>
            </a:pPr>
            <a:r>
              <a:rPr sz="2000" b="1" dirty="0">
                <a:latin typeface="Calibri"/>
                <a:cs typeface="Calibri"/>
              </a:rPr>
              <a:t>Locality:</a:t>
            </a:r>
            <a:r>
              <a:rPr sz="2000" b="1" spc="-8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locality</a:t>
            </a:r>
            <a:r>
              <a:rPr sz="2000" spc="-40" dirty="0">
                <a:latin typeface="Calibri"/>
                <a:cs typeface="Calibri"/>
              </a:rPr>
              <a:t> </a:t>
            </a:r>
            <a:r>
              <a:rPr sz="2000" dirty="0">
                <a:latin typeface="Calibri"/>
                <a:cs typeface="Calibri"/>
              </a:rPr>
              <a:t>or</a:t>
            </a:r>
            <a:r>
              <a:rPr sz="2000" spc="-40" dirty="0">
                <a:latin typeface="Calibri"/>
                <a:cs typeface="Calibri"/>
              </a:rPr>
              <a:t> </a:t>
            </a:r>
            <a:r>
              <a:rPr sz="2000" spc="-20" dirty="0">
                <a:latin typeface="Calibri"/>
                <a:cs typeface="Calibri"/>
              </a:rPr>
              <a:t>neighborhood</a:t>
            </a:r>
            <a:r>
              <a:rPr sz="2000" dirty="0">
                <a:latin typeface="Calibri"/>
                <a:cs typeface="Calibri"/>
              </a:rPr>
              <a:t> where</a:t>
            </a:r>
            <a:r>
              <a:rPr sz="2000" spc="-20" dirty="0">
                <a:latin typeface="Calibri"/>
                <a:cs typeface="Calibri"/>
              </a:rPr>
              <a:t> </a:t>
            </a:r>
            <a:r>
              <a:rPr sz="2000" spc="-25" dirty="0">
                <a:latin typeface="Calibri"/>
                <a:cs typeface="Calibri"/>
              </a:rPr>
              <a:t>the restaurant </a:t>
            </a:r>
            <a:r>
              <a:rPr sz="2000" dirty="0">
                <a:latin typeface="Calibri"/>
                <a:cs typeface="Calibri"/>
              </a:rPr>
              <a:t>is</a:t>
            </a:r>
            <a:r>
              <a:rPr sz="2000" spc="-15" dirty="0">
                <a:latin typeface="Calibri"/>
                <a:cs typeface="Calibri"/>
              </a:rPr>
              <a:t> </a:t>
            </a:r>
            <a:r>
              <a:rPr sz="2000" spc="-10" dirty="0">
                <a:latin typeface="Calibri"/>
                <a:cs typeface="Calibri"/>
              </a:rPr>
              <a:t>situated.</a:t>
            </a:r>
            <a:endParaRPr sz="2000" dirty="0">
              <a:latin typeface="Calibri"/>
              <a:cs typeface="Calibri"/>
            </a:endParaRPr>
          </a:p>
          <a:p>
            <a:pPr marL="299085" indent="-286385">
              <a:lnSpc>
                <a:spcPct val="100000"/>
              </a:lnSpc>
              <a:buFont typeface="Arial"/>
              <a:buChar char="•"/>
              <a:tabLst>
                <a:tab pos="299085" algn="l"/>
              </a:tabLst>
            </a:pPr>
            <a:r>
              <a:rPr sz="2000" b="1" dirty="0">
                <a:latin typeface="Calibri"/>
                <a:cs typeface="Calibri"/>
              </a:rPr>
              <a:t>Locality</a:t>
            </a:r>
            <a:r>
              <a:rPr sz="2000" b="1" spc="-105" dirty="0">
                <a:latin typeface="Calibri"/>
                <a:cs typeface="Calibri"/>
              </a:rPr>
              <a:t> </a:t>
            </a:r>
            <a:r>
              <a:rPr sz="2000" b="1" spc="-20" dirty="0">
                <a:latin typeface="Calibri"/>
                <a:cs typeface="Calibri"/>
              </a:rPr>
              <a:t>Verbose:</a:t>
            </a:r>
            <a:r>
              <a:rPr sz="2000" b="1" spc="-100" dirty="0">
                <a:latin typeface="Calibri"/>
                <a:cs typeface="Calibri"/>
              </a:rPr>
              <a:t> </a:t>
            </a:r>
            <a:r>
              <a:rPr sz="2000" dirty="0">
                <a:latin typeface="Calibri"/>
                <a:cs typeface="Calibri"/>
              </a:rPr>
              <a:t>Detailed</a:t>
            </a:r>
            <a:r>
              <a:rPr sz="2000" spc="5" dirty="0">
                <a:latin typeface="Calibri"/>
                <a:cs typeface="Calibri"/>
              </a:rPr>
              <a:t> </a:t>
            </a:r>
            <a:r>
              <a:rPr sz="2000" spc="-20" dirty="0">
                <a:latin typeface="Calibri"/>
                <a:cs typeface="Calibri"/>
              </a:rPr>
              <a:t>information</a:t>
            </a:r>
            <a:r>
              <a:rPr sz="2000" spc="-15" dirty="0">
                <a:latin typeface="Calibri"/>
                <a:cs typeface="Calibri"/>
              </a:rPr>
              <a:t> </a:t>
            </a:r>
            <a:r>
              <a:rPr sz="2000" dirty="0">
                <a:latin typeface="Calibri"/>
                <a:cs typeface="Calibri"/>
              </a:rPr>
              <a:t>about</a:t>
            </a:r>
            <a:r>
              <a:rPr sz="2000" spc="-65" dirty="0">
                <a:latin typeface="Calibri"/>
                <a:cs typeface="Calibri"/>
              </a:rPr>
              <a:t> </a:t>
            </a:r>
            <a:r>
              <a:rPr sz="2000" spc="-25" dirty="0">
                <a:latin typeface="Calibri"/>
                <a:cs typeface="Calibri"/>
              </a:rPr>
              <a:t>the</a:t>
            </a:r>
            <a:r>
              <a:rPr lang="en-US" sz="2000" dirty="0">
                <a:latin typeface="Calibri"/>
                <a:cs typeface="Calibri"/>
              </a:rPr>
              <a:t> </a:t>
            </a:r>
            <a:r>
              <a:rPr lang="en-US" sz="2000" spc="-10" dirty="0">
                <a:latin typeface="Calibri"/>
                <a:cs typeface="Calibri"/>
              </a:rPr>
              <a:t>locality.</a:t>
            </a:r>
            <a:endParaRPr lang="en-US" sz="2000" dirty="0">
              <a:latin typeface="Calibri"/>
              <a:cs typeface="Calibri"/>
            </a:endParaRPr>
          </a:p>
          <a:p>
            <a:pPr marL="299085" marR="975994" indent="-287020">
              <a:lnSpc>
                <a:spcPct val="100000"/>
              </a:lnSpc>
              <a:spcBef>
                <a:spcPts val="5"/>
              </a:spcBef>
              <a:buFont typeface="Arial"/>
              <a:buChar char="•"/>
              <a:tabLst>
                <a:tab pos="299085" algn="l"/>
              </a:tabLst>
            </a:pPr>
            <a:r>
              <a:rPr sz="2000" b="1" dirty="0">
                <a:latin typeface="Calibri"/>
                <a:cs typeface="Calibri"/>
              </a:rPr>
              <a:t>Longitude:</a:t>
            </a:r>
            <a:r>
              <a:rPr sz="2000" b="1" spc="-90" dirty="0">
                <a:latin typeface="Calibri"/>
                <a:cs typeface="Calibri"/>
              </a:rPr>
              <a:t> </a:t>
            </a:r>
            <a:r>
              <a:rPr sz="2000" dirty="0">
                <a:latin typeface="Calibri"/>
                <a:cs typeface="Calibri"/>
              </a:rPr>
              <a:t>The</a:t>
            </a:r>
            <a:r>
              <a:rPr sz="2000" spc="-35" dirty="0">
                <a:latin typeface="Calibri"/>
                <a:cs typeface="Calibri"/>
              </a:rPr>
              <a:t> </a:t>
            </a:r>
            <a:r>
              <a:rPr sz="2000" spc="-20" dirty="0">
                <a:latin typeface="Calibri"/>
                <a:cs typeface="Calibri"/>
              </a:rPr>
              <a:t>geographical</a:t>
            </a:r>
            <a:r>
              <a:rPr lang="en-US" sz="2000" spc="-20" dirty="0">
                <a:latin typeface="Calibri"/>
                <a:cs typeface="Calibri"/>
              </a:rPr>
              <a:t> </a:t>
            </a:r>
            <a:r>
              <a:rPr sz="2000" spc="-10" dirty="0">
                <a:latin typeface="Calibri"/>
                <a:cs typeface="Calibri"/>
              </a:rPr>
              <a:t>longitude coordinate</a:t>
            </a:r>
            <a:r>
              <a:rPr sz="2000" spc="-25" dirty="0">
                <a:latin typeface="Calibri"/>
                <a:cs typeface="Calibri"/>
              </a:rPr>
              <a:t> </a:t>
            </a:r>
            <a:r>
              <a:rPr sz="2000" dirty="0">
                <a:latin typeface="Calibri"/>
                <a:cs typeface="Calibri"/>
              </a:rPr>
              <a:t>of</a:t>
            </a:r>
            <a:r>
              <a:rPr sz="2000" spc="-70" dirty="0">
                <a:latin typeface="Calibri"/>
                <a:cs typeface="Calibri"/>
              </a:rPr>
              <a:t> </a:t>
            </a:r>
            <a:r>
              <a:rPr sz="2000" dirty="0">
                <a:latin typeface="Calibri"/>
                <a:cs typeface="Calibri"/>
              </a:rPr>
              <a:t>the</a:t>
            </a:r>
            <a:r>
              <a:rPr lang="en-US" sz="2000" dirty="0">
                <a:latin typeface="Calibri"/>
                <a:cs typeface="Calibri"/>
              </a:rPr>
              <a:t> restaurant.</a:t>
            </a:r>
            <a:endParaRPr sz="2000" dirty="0">
              <a:latin typeface="Calibri"/>
              <a:cs typeface="Calibri"/>
            </a:endParaRPr>
          </a:p>
          <a:p>
            <a:pPr marL="299085" marR="6350" indent="-287020">
              <a:lnSpc>
                <a:spcPct val="100000"/>
              </a:lnSpc>
              <a:buFont typeface="Arial"/>
              <a:buChar char="•"/>
              <a:tabLst>
                <a:tab pos="299085" algn="l"/>
              </a:tabLst>
            </a:pPr>
            <a:r>
              <a:rPr sz="2000" b="1" dirty="0">
                <a:latin typeface="Calibri"/>
                <a:cs typeface="Calibri"/>
              </a:rPr>
              <a:t>Latitude:</a:t>
            </a:r>
            <a:r>
              <a:rPr sz="2000" b="1" spc="-100" dirty="0">
                <a:latin typeface="Calibri"/>
                <a:cs typeface="Calibri"/>
              </a:rPr>
              <a:t> </a:t>
            </a:r>
            <a:r>
              <a:rPr sz="2000" dirty="0">
                <a:latin typeface="Calibri"/>
                <a:cs typeface="Calibri"/>
              </a:rPr>
              <a:t>The</a:t>
            </a:r>
            <a:r>
              <a:rPr sz="2000" spc="-30" dirty="0">
                <a:latin typeface="Calibri"/>
                <a:cs typeface="Calibri"/>
              </a:rPr>
              <a:t> </a:t>
            </a:r>
            <a:r>
              <a:rPr sz="2000" spc="-20" dirty="0">
                <a:latin typeface="Calibri"/>
                <a:cs typeface="Calibri"/>
              </a:rPr>
              <a:t>geographical</a:t>
            </a:r>
            <a:r>
              <a:rPr sz="2000" spc="-45" dirty="0">
                <a:latin typeface="Calibri"/>
                <a:cs typeface="Calibri"/>
              </a:rPr>
              <a:t> </a:t>
            </a:r>
            <a:r>
              <a:rPr sz="2000" dirty="0">
                <a:latin typeface="Calibri"/>
                <a:cs typeface="Calibri"/>
              </a:rPr>
              <a:t>latitude</a:t>
            </a:r>
            <a:r>
              <a:rPr sz="2000" spc="-20" dirty="0">
                <a:latin typeface="Calibri"/>
                <a:cs typeface="Calibri"/>
              </a:rPr>
              <a:t> coordinate</a:t>
            </a:r>
            <a:r>
              <a:rPr sz="2000" spc="-10" dirty="0">
                <a:latin typeface="Calibri"/>
                <a:cs typeface="Calibri"/>
              </a:rPr>
              <a:t> </a:t>
            </a:r>
            <a:r>
              <a:rPr sz="2000" spc="-25" dirty="0">
                <a:latin typeface="Calibri"/>
                <a:cs typeface="Calibri"/>
              </a:rPr>
              <a:t>of </a:t>
            </a:r>
            <a:r>
              <a:rPr sz="2000" dirty="0">
                <a:latin typeface="Calibri"/>
                <a:cs typeface="Calibri"/>
              </a:rPr>
              <a:t>the</a:t>
            </a:r>
            <a:r>
              <a:rPr sz="2000" spc="-25" dirty="0">
                <a:latin typeface="Calibri"/>
                <a:cs typeface="Calibri"/>
              </a:rPr>
              <a:t> </a:t>
            </a:r>
            <a:r>
              <a:rPr sz="2000" spc="-10" dirty="0">
                <a:latin typeface="Calibri"/>
                <a:cs typeface="Calibri"/>
              </a:rPr>
              <a:t>restaurant.</a:t>
            </a:r>
            <a:endParaRPr sz="2000" dirty="0">
              <a:latin typeface="Calibri"/>
              <a:cs typeface="Calibri"/>
            </a:endParaRPr>
          </a:p>
          <a:p>
            <a:pPr marL="299085" marR="545465" indent="-287020">
              <a:lnSpc>
                <a:spcPct val="100000"/>
              </a:lnSpc>
              <a:buFont typeface="Arial"/>
              <a:buChar char="•"/>
              <a:tabLst>
                <a:tab pos="299085" algn="l"/>
              </a:tabLst>
            </a:pPr>
            <a:r>
              <a:rPr sz="2000" b="1" spc="-10" dirty="0">
                <a:latin typeface="Calibri"/>
                <a:cs typeface="Calibri"/>
              </a:rPr>
              <a:t>Cuisines:</a:t>
            </a:r>
            <a:r>
              <a:rPr sz="2000" b="1" spc="-95"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type</a:t>
            </a:r>
            <a:r>
              <a:rPr sz="2000" spc="-50"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cuisine</a:t>
            </a:r>
            <a:r>
              <a:rPr sz="2000" spc="-25" dirty="0">
                <a:latin typeface="Calibri"/>
                <a:cs typeface="Calibri"/>
              </a:rPr>
              <a:t> </a:t>
            </a:r>
            <a:r>
              <a:rPr sz="2000" spc="-10" dirty="0">
                <a:latin typeface="Calibri"/>
                <a:cs typeface="Calibri"/>
              </a:rPr>
              <a:t>offered</a:t>
            </a:r>
            <a:r>
              <a:rPr sz="2000" spc="-40" dirty="0">
                <a:latin typeface="Calibri"/>
                <a:cs typeface="Calibri"/>
              </a:rPr>
              <a:t> </a:t>
            </a:r>
            <a:r>
              <a:rPr sz="2000" dirty="0">
                <a:latin typeface="Calibri"/>
                <a:cs typeface="Calibri"/>
              </a:rPr>
              <a:t>by</a:t>
            </a:r>
            <a:r>
              <a:rPr sz="2000" spc="-45" dirty="0">
                <a:latin typeface="Calibri"/>
                <a:cs typeface="Calibri"/>
              </a:rPr>
              <a:t> </a:t>
            </a:r>
            <a:r>
              <a:rPr sz="2000" spc="-25" dirty="0">
                <a:latin typeface="Calibri"/>
                <a:cs typeface="Calibri"/>
              </a:rPr>
              <a:t>the </a:t>
            </a:r>
            <a:r>
              <a:rPr sz="2000" spc="-10" dirty="0">
                <a:latin typeface="Calibri"/>
                <a:cs typeface="Calibri"/>
              </a:rPr>
              <a:t>restaurant.</a:t>
            </a:r>
            <a:endParaRPr lang="en-US" sz="2000" spc="-10" dirty="0">
              <a:latin typeface="Calibri"/>
              <a:cs typeface="Calibri"/>
            </a:endParaRPr>
          </a:p>
          <a:p>
            <a:pPr marL="299085" marR="545465" indent="-287020">
              <a:buFont typeface="Arial"/>
              <a:buChar char="•"/>
              <a:tabLst>
                <a:tab pos="299085" algn="l"/>
              </a:tabLst>
            </a:pPr>
            <a:r>
              <a:rPr lang="en-US" sz="2000" b="1" dirty="0">
                <a:latin typeface="Calibri"/>
                <a:cs typeface="Calibri"/>
              </a:rPr>
              <a:t>Currency:</a:t>
            </a:r>
            <a:r>
              <a:rPr lang="en-US" sz="2000" b="1" spc="-95" dirty="0">
                <a:latin typeface="Calibri"/>
                <a:cs typeface="Calibri"/>
              </a:rPr>
              <a:t> </a:t>
            </a:r>
            <a:r>
              <a:rPr lang="en-US" sz="2000" dirty="0">
                <a:latin typeface="Calibri"/>
                <a:cs typeface="Calibri"/>
              </a:rPr>
              <a:t>The</a:t>
            </a:r>
            <a:r>
              <a:rPr lang="en-US" sz="2000" spc="-55" dirty="0">
                <a:latin typeface="Calibri"/>
                <a:cs typeface="Calibri"/>
              </a:rPr>
              <a:t> </a:t>
            </a:r>
            <a:r>
              <a:rPr lang="en-US" sz="2000" dirty="0">
                <a:latin typeface="Calibri"/>
                <a:cs typeface="Calibri"/>
              </a:rPr>
              <a:t>currency</a:t>
            </a:r>
            <a:r>
              <a:rPr lang="en-US" sz="2000" spc="-25" dirty="0">
                <a:latin typeface="Calibri"/>
                <a:cs typeface="Calibri"/>
              </a:rPr>
              <a:t> </a:t>
            </a:r>
            <a:r>
              <a:rPr lang="en-US" sz="2000" dirty="0">
                <a:latin typeface="Calibri"/>
                <a:cs typeface="Calibri"/>
              </a:rPr>
              <a:t>used</a:t>
            </a:r>
            <a:r>
              <a:rPr lang="en-US" sz="2000" spc="-60" dirty="0">
                <a:latin typeface="Calibri"/>
                <a:cs typeface="Calibri"/>
              </a:rPr>
              <a:t> </a:t>
            </a:r>
            <a:r>
              <a:rPr lang="en-US" sz="2000" dirty="0">
                <a:latin typeface="Calibri"/>
                <a:cs typeface="Calibri"/>
              </a:rPr>
              <a:t>for</a:t>
            </a:r>
            <a:r>
              <a:rPr lang="en-US" sz="2000" spc="-45" dirty="0">
                <a:latin typeface="Calibri"/>
                <a:cs typeface="Calibri"/>
              </a:rPr>
              <a:t> </a:t>
            </a:r>
            <a:r>
              <a:rPr lang="en-US" sz="2000" spc="-20" dirty="0">
                <a:latin typeface="Calibri"/>
                <a:cs typeface="Calibri"/>
              </a:rPr>
              <a:t>transactions</a:t>
            </a:r>
            <a:r>
              <a:rPr lang="en-US" sz="2000" spc="-40" dirty="0">
                <a:latin typeface="Calibri"/>
                <a:cs typeface="Calibri"/>
              </a:rPr>
              <a:t> </a:t>
            </a:r>
            <a:r>
              <a:rPr lang="en-US" sz="2000" dirty="0">
                <a:latin typeface="Calibri"/>
                <a:cs typeface="Calibri"/>
              </a:rPr>
              <a:t>in</a:t>
            </a:r>
            <a:r>
              <a:rPr lang="en-US" sz="2000" spc="-40" dirty="0">
                <a:latin typeface="Calibri"/>
                <a:cs typeface="Calibri"/>
              </a:rPr>
              <a:t> </a:t>
            </a:r>
            <a:r>
              <a:rPr lang="en-US" sz="2000" spc="-25" dirty="0">
                <a:latin typeface="Calibri"/>
                <a:cs typeface="Calibri"/>
              </a:rPr>
              <a:t>the </a:t>
            </a:r>
            <a:r>
              <a:rPr lang="en-US" sz="2000" spc="-10" dirty="0">
                <a:latin typeface="Calibri"/>
                <a:cs typeface="Calibri"/>
              </a:rPr>
              <a:t>restaurant.</a:t>
            </a:r>
            <a:endParaRPr lang="en-US" sz="2000" dirty="0">
              <a:latin typeface="Calibri"/>
              <a:cs typeface="Calibri"/>
            </a:endParaRPr>
          </a:p>
        </p:txBody>
      </p:sp>
      <p:sp>
        <p:nvSpPr>
          <p:cNvPr id="6" name="object 6"/>
          <p:cNvSpPr txBox="1"/>
          <p:nvPr/>
        </p:nvSpPr>
        <p:spPr>
          <a:xfrm>
            <a:off x="6324600" y="757667"/>
            <a:ext cx="5309493" cy="5860579"/>
          </a:xfrm>
          <a:prstGeom prst="rect">
            <a:avLst/>
          </a:prstGeom>
        </p:spPr>
        <p:txBody>
          <a:bodyPr vert="horz" wrap="square" lIns="0" tIns="12700" rIns="0" bIns="0" rtlCol="0">
            <a:spAutoFit/>
          </a:bodyPr>
          <a:lstStyle/>
          <a:p>
            <a:pPr marL="299085" marR="383540" indent="-287020">
              <a:lnSpc>
                <a:spcPct val="100000"/>
              </a:lnSpc>
              <a:buFont typeface="Arial"/>
              <a:buChar char="•"/>
              <a:tabLst>
                <a:tab pos="299085" algn="l"/>
              </a:tabLst>
            </a:pPr>
            <a:r>
              <a:rPr sz="2000" b="1" dirty="0">
                <a:latin typeface="Calibri"/>
                <a:cs typeface="Calibri"/>
              </a:rPr>
              <a:t>Has</a:t>
            </a:r>
            <a:r>
              <a:rPr sz="2000" b="1" spc="-80" dirty="0">
                <a:latin typeface="Calibri"/>
                <a:cs typeface="Calibri"/>
              </a:rPr>
              <a:t> </a:t>
            </a:r>
            <a:r>
              <a:rPr sz="2000" b="1" spc="-20" dirty="0">
                <a:latin typeface="Calibri"/>
                <a:cs typeface="Calibri"/>
              </a:rPr>
              <a:t>Table</a:t>
            </a:r>
            <a:r>
              <a:rPr sz="2000" b="1" spc="-85" dirty="0">
                <a:latin typeface="Calibri"/>
                <a:cs typeface="Calibri"/>
              </a:rPr>
              <a:t> </a:t>
            </a:r>
            <a:r>
              <a:rPr sz="2000" b="1" dirty="0">
                <a:latin typeface="Calibri"/>
                <a:cs typeface="Calibri"/>
              </a:rPr>
              <a:t>booking:</a:t>
            </a:r>
            <a:r>
              <a:rPr sz="2000" b="1" spc="-95" dirty="0">
                <a:latin typeface="Calibri"/>
                <a:cs typeface="Calibri"/>
              </a:rPr>
              <a:t> </a:t>
            </a:r>
            <a:r>
              <a:rPr sz="2000" spc="-10" dirty="0">
                <a:latin typeface="Calibri"/>
                <a:cs typeface="Calibri"/>
              </a:rPr>
              <a:t>Indicates</a:t>
            </a:r>
            <a:r>
              <a:rPr sz="2000" spc="-45" dirty="0">
                <a:latin typeface="Calibri"/>
                <a:cs typeface="Calibri"/>
              </a:rPr>
              <a:t> </a:t>
            </a:r>
            <a:r>
              <a:rPr sz="2000" dirty="0">
                <a:latin typeface="Calibri"/>
                <a:cs typeface="Calibri"/>
              </a:rPr>
              <a:t>whether</a:t>
            </a:r>
            <a:r>
              <a:rPr sz="2000" spc="-30" dirty="0">
                <a:latin typeface="Calibri"/>
                <a:cs typeface="Calibri"/>
              </a:rPr>
              <a:t> </a:t>
            </a:r>
            <a:r>
              <a:rPr sz="2000" spc="-25" dirty="0">
                <a:latin typeface="Calibri"/>
                <a:cs typeface="Calibri"/>
              </a:rPr>
              <a:t>the restaurant</a:t>
            </a:r>
            <a:r>
              <a:rPr sz="2000" spc="-60" dirty="0">
                <a:latin typeface="Calibri"/>
                <a:cs typeface="Calibri"/>
              </a:rPr>
              <a:t> </a:t>
            </a:r>
            <a:r>
              <a:rPr sz="2000" dirty="0">
                <a:latin typeface="Calibri"/>
                <a:cs typeface="Calibri"/>
              </a:rPr>
              <a:t>has</a:t>
            </a:r>
            <a:r>
              <a:rPr sz="2000" spc="-45" dirty="0">
                <a:latin typeface="Calibri"/>
                <a:cs typeface="Calibri"/>
              </a:rPr>
              <a:t> </a:t>
            </a:r>
            <a:r>
              <a:rPr sz="2000" dirty="0">
                <a:latin typeface="Calibri"/>
                <a:cs typeface="Calibri"/>
              </a:rPr>
              <a:t>a</a:t>
            </a:r>
            <a:r>
              <a:rPr sz="2000" spc="-70" dirty="0">
                <a:latin typeface="Calibri"/>
                <a:cs typeface="Calibri"/>
              </a:rPr>
              <a:t> </a:t>
            </a:r>
            <a:r>
              <a:rPr sz="2000" dirty="0">
                <a:latin typeface="Calibri"/>
                <a:cs typeface="Calibri"/>
              </a:rPr>
              <a:t>table</a:t>
            </a:r>
            <a:r>
              <a:rPr sz="2000" spc="-45" dirty="0">
                <a:latin typeface="Calibri"/>
                <a:cs typeface="Calibri"/>
              </a:rPr>
              <a:t> </a:t>
            </a:r>
            <a:r>
              <a:rPr sz="2000" dirty="0">
                <a:latin typeface="Calibri"/>
                <a:cs typeface="Calibri"/>
              </a:rPr>
              <a:t>booking</a:t>
            </a:r>
            <a:r>
              <a:rPr sz="2000" spc="-45" dirty="0">
                <a:latin typeface="Calibri"/>
                <a:cs typeface="Calibri"/>
              </a:rPr>
              <a:t> </a:t>
            </a:r>
            <a:r>
              <a:rPr sz="2000" dirty="0">
                <a:latin typeface="Calibri"/>
                <a:cs typeface="Calibri"/>
              </a:rPr>
              <a:t>option</a:t>
            </a:r>
            <a:r>
              <a:rPr sz="2000" spc="-25" dirty="0">
                <a:latin typeface="Calibri"/>
                <a:cs typeface="Calibri"/>
              </a:rPr>
              <a:t> </a:t>
            </a:r>
            <a:r>
              <a:rPr sz="2000" spc="-10" dirty="0">
                <a:latin typeface="Calibri"/>
                <a:cs typeface="Calibri"/>
              </a:rPr>
              <a:t>(Yes/No).</a:t>
            </a:r>
            <a:endParaRPr sz="2000" dirty="0">
              <a:latin typeface="Calibri"/>
              <a:cs typeface="Calibri"/>
            </a:endParaRPr>
          </a:p>
          <a:p>
            <a:pPr marL="299085" indent="-286385">
              <a:lnSpc>
                <a:spcPct val="100000"/>
              </a:lnSpc>
              <a:buFont typeface="Arial"/>
              <a:buChar char="•"/>
              <a:tabLst>
                <a:tab pos="299085" algn="l"/>
              </a:tabLst>
            </a:pPr>
            <a:r>
              <a:rPr sz="2000" b="1" dirty="0">
                <a:latin typeface="Calibri"/>
                <a:cs typeface="Calibri"/>
              </a:rPr>
              <a:t>Has</a:t>
            </a:r>
            <a:r>
              <a:rPr sz="2000" b="1" spc="-90" dirty="0">
                <a:latin typeface="Calibri"/>
                <a:cs typeface="Calibri"/>
              </a:rPr>
              <a:t> </a:t>
            </a:r>
            <a:r>
              <a:rPr sz="2000" b="1" spc="-10" dirty="0">
                <a:latin typeface="Calibri"/>
                <a:cs typeface="Calibri"/>
              </a:rPr>
              <a:t>Online</a:t>
            </a:r>
            <a:r>
              <a:rPr sz="2000" b="1" spc="-100" dirty="0">
                <a:latin typeface="Calibri"/>
                <a:cs typeface="Calibri"/>
              </a:rPr>
              <a:t> </a:t>
            </a:r>
            <a:r>
              <a:rPr sz="2000" b="1" dirty="0">
                <a:latin typeface="Calibri"/>
                <a:cs typeface="Calibri"/>
              </a:rPr>
              <a:t>delivery:</a:t>
            </a:r>
            <a:r>
              <a:rPr sz="2000" b="1" spc="-85" dirty="0">
                <a:latin typeface="Calibri"/>
                <a:cs typeface="Calibri"/>
              </a:rPr>
              <a:t> </a:t>
            </a:r>
            <a:r>
              <a:rPr sz="2000" spc="-10" dirty="0">
                <a:latin typeface="Calibri"/>
                <a:cs typeface="Calibri"/>
              </a:rPr>
              <a:t>Indicates</a:t>
            </a:r>
            <a:r>
              <a:rPr sz="2000" spc="-35" dirty="0">
                <a:latin typeface="Calibri"/>
                <a:cs typeface="Calibri"/>
              </a:rPr>
              <a:t> </a:t>
            </a:r>
            <a:r>
              <a:rPr sz="2000" dirty="0">
                <a:latin typeface="Calibri"/>
                <a:cs typeface="Calibri"/>
              </a:rPr>
              <a:t>whether</a:t>
            </a:r>
            <a:r>
              <a:rPr sz="2000" spc="-45" dirty="0">
                <a:latin typeface="Calibri"/>
                <a:cs typeface="Calibri"/>
              </a:rPr>
              <a:t> </a:t>
            </a:r>
            <a:r>
              <a:rPr sz="2000" spc="-25" dirty="0">
                <a:latin typeface="Calibri"/>
                <a:cs typeface="Calibri"/>
              </a:rPr>
              <a:t>the</a:t>
            </a:r>
            <a:endParaRPr sz="2000" dirty="0">
              <a:latin typeface="Calibri"/>
              <a:cs typeface="Calibri"/>
            </a:endParaRPr>
          </a:p>
          <a:p>
            <a:pPr marL="299085">
              <a:lnSpc>
                <a:spcPct val="100000"/>
              </a:lnSpc>
            </a:pPr>
            <a:r>
              <a:rPr sz="2000" spc="-30" dirty="0">
                <a:latin typeface="Calibri"/>
                <a:cs typeface="Calibri"/>
              </a:rPr>
              <a:t>restaurant</a:t>
            </a:r>
            <a:r>
              <a:rPr sz="2000" spc="-65" dirty="0">
                <a:latin typeface="Calibri"/>
                <a:cs typeface="Calibri"/>
              </a:rPr>
              <a:t> </a:t>
            </a:r>
            <a:r>
              <a:rPr sz="2000" spc="-10" dirty="0">
                <a:latin typeface="Calibri"/>
                <a:cs typeface="Calibri"/>
              </a:rPr>
              <a:t>offers</a:t>
            </a:r>
            <a:r>
              <a:rPr sz="2000" spc="-70" dirty="0">
                <a:latin typeface="Calibri"/>
                <a:cs typeface="Calibri"/>
              </a:rPr>
              <a:t> </a:t>
            </a:r>
            <a:r>
              <a:rPr sz="2000" dirty="0">
                <a:latin typeface="Calibri"/>
                <a:cs typeface="Calibri"/>
              </a:rPr>
              <a:t>online</a:t>
            </a:r>
            <a:r>
              <a:rPr sz="2000" spc="-30" dirty="0">
                <a:latin typeface="Calibri"/>
                <a:cs typeface="Calibri"/>
              </a:rPr>
              <a:t> </a:t>
            </a:r>
            <a:r>
              <a:rPr sz="2000" dirty="0">
                <a:latin typeface="Calibri"/>
                <a:cs typeface="Calibri"/>
              </a:rPr>
              <a:t>delivery</a:t>
            </a:r>
            <a:r>
              <a:rPr sz="2000" spc="-65" dirty="0">
                <a:latin typeface="Calibri"/>
                <a:cs typeface="Calibri"/>
              </a:rPr>
              <a:t> </a:t>
            </a:r>
            <a:r>
              <a:rPr sz="2000" spc="-10" dirty="0">
                <a:latin typeface="Calibri"/>
                <a:cs typeface="Calibri"/>
              </a:rPr>
              <a:t>(Yes/No).</a:t>
            </a:r>
            <a:endParaRPr sz="2000" dirty="0">
              <a:latin typeface="Calibri"/>
              <a:cs typeface="Calibri"/>
            </a:endParaRPr>
          </a:p>
          <a:p>
            <a:pPr marL="299085" marR="5080" indent="-287020">
              <a:lnSpc>
                <a:spcPct val="100000"/>
              </a:lnSpc>
              <a:buFont typeface="Arial"/>
              <a:buChar char="•"/>
              <a:tabLst>
                <a:tab pos="299085" algn="l"/>
              </a:tabLst>
            </a:pPr>
            <a:r>
              <a:rPr sz="2000" b="1" dirty="0">
                <a:latin typeface="Calibri"/>
                <a:cs typeface="Calibri"/>
              </a:rPr>
              <a:t>Is</a:t>
            </a:r>
            <a:r>
              <a:rPr sz="2000" b="1" spc="-75" dirty="0">
                <a:latin typeface="Calibri"/>
                <a:cs typeface="Calibri"/>
              </a:rPr>
              <a:t> </a:t>
            </a:r>
            <a:r>
              <a:rPr sz="2000" b="1" spc="-10" dirty="0">
                <a:latin typeface="Calibri"/>
                <a:cs typeface="Calibri"/>
              </a:rPr>
              <a:t>delivering</a:t>
            </a:r>
            <a:r>
              <a:rPr sz="2000" b="1" spc="-95" dirty="0">
                <a:latin typeface="Calibri"/>
                <a:cs typeface="Calibri"/>
              </a:rPr>
              <a:t> </a:t>
            </a:r>
            <a:r>
              <a:rPr sz="2000" b="1" dirty="0">
                <a:latin typeface="Calibri"/>
                <a:cs typeface="Calibri"/>
              </a:rPr>
              <a:t>now:</a:t>
            </a:r>
            <a:r>
              <a:rPr sz="2000" b="1" spc="-65" dirty="0">
                <a:latin typeface="Calibri"/>
                <a:cs typeface="Calibri"/>
              </a:rPr>
              <a:t> </a:t>
            </a:r>
            <a:r>
              <a:rPr sz="2000" spc="-10" dirty="0">
                <a:latin typeface="Calibri"/>
                <a:cs typeface="Calibri"/>
              </a:rPr>
              <a:t>Indicates</a:t>
            </a:r>
            <a:r>
              <a:rPr sz="2000" spc="-35" dirty="0">
                <a:latin typeface="Calibri"/>
                <a:cs typeface="Calibri"/>
              </a:rPr>
              <a:t> </a:t>
            </a:r>
            <a:r>
              <a:rPr sz="2000" dirty="0">
                <a:latin typeface="Calibri"/>
                <a:cs typeface="Calibri"/>
              </a:rPr>
              <a:t>whether</a:t>
            </a:r>
            <a:r>
              <a:rPr sz="2000" spc="-3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restaurant </a:t>
            </a:r>
            <a:r>
              <a:rPr sz="2000" dirty="0">
                <a:latin typeface="Calibri"/>
                <a:cs typeface="Calibri"/>
              </a:rPr>
              <a:t>is</a:t>
            </a:r>
            <a:r>
              <a:rPr sz="2000" spc="-80" dirty="0">
                <a:latin typeface="Calibri"/>
                <a:cs typeface="Calibri"/>
              </a:rPr>
              <a:t> </a:t>
            </a:r>
            <a:r>
              <a:rPr sz="2000" spc="-10" dirty="0">
                <a:latin typeface="Calibri"/>
                <a:cs typeface="Calibri"/>
              </a:rPr>
              <a:t>currently</a:t>
            </a:r>
            <a:r>
              <a:rPr sz="2000" spc="-60" dirty="0">
                <a:latin typeface="Calibri"/>
                <a:cs typeface="Calibri"/>
              </a:rPr>
              <a:t> </a:t>
            </a:r>
            <a:r>
              <a:rPr sz="2000" dirty="0">
                <a:latin typeface="Calibri"/>
                <a:cs typeface="Calibri"/>
              </a:rPr>
              <a:t>delivering</a:t>
            </a:r>
            <a:r>
              <a:rPr sz="2000" spc="-45" dirty="0">
                <a:latin typeface="Calibri"/>
                <a:cs typeface="Calibri"/>
              </a:rPr>
              <a:t> </a:t>
            </a:r>
            <a:r>
              <a:rPr sz="2000" spc="-10" dirty="0">
                <a:latin typeface="Calibri"/>
                <a:cs typeface="Calibri"/>
              </a:rPr>
              <a:t>(Yes/No).</a:t>
            </a:r>
            <a:endParaRPr sz="2000" dirty="0">
              <a:latin typeface="Calibri"/>
              <a:cs typeface="Calibri"/>
            </a:endParaRPr>
          </a:p>
          <a:p>
            <a:pPr marL="299085" marR="32384" indent="-287020">
              <a:lnSpc>
                <a:spcPct val="100000"/>
              </a:lnSpc>
              <a:buFont typeface="Arial"/>
              <a:buChar char="•"/>
              <a:tabLst>
                <a:tab pos="299085" algn="l"/>
              </a:tabLst>
            </a:pPr>
            <a:r>
              <a:rPr sz="2000" b="1" dirty="0">
                <a:latin typeface="Calibri"/>
                <a:cs typeface="Calibri"/>
              </a:rPr>
              <a:t>Switch</a:t>
            </a:r>
            <a:r>
              <a:rPr sz="2000" b="1" spc="-85" dirty="0">
                <a:latin typeface="Calibri"/>
                <a:cs typeface="Calibri"/>
              </a:rPr>
              <a:t> </a:t>
            </a:r>
            <a:r>
              <a:rPr sz="2000" b="1" dirty="0">
                <a:latin typeface="Calibri"/>
                <a:cs typeface="Calibri"/>
              </a:rPr>
              <a:t>to</a:t>
            </a:r>
            <a:r>
              <a:rPr sz="2000" b="1" spc="-65" dirty="0">
                <a:latin typeface="Calibri"/>
                <a:cs typeface="Calibri"/>
              </a:rPr>
              <a:t> </a:t>
            </a:r>
            <a:r>
              <a:rPr sz="2000" b="1" dirty="0">
                <a:latin typeface="Calibri"/>
                <a:cs typeface="Calibri"/>
              </a:rPr>
              <a:t>order</a:t>
            </a:r>
            <a:r>
              <a:rPr sz="2000" b="1" spc="-95" dirty="0">
                <a:latin typeface="Calibri"/>
                <a:cs typeface="Calibri"/>
              </a:rPr>
              <a:t> </a:t>
            </a:r>
            <a:r>
              <a:rPr sz="2000" b="1" dirty="0">
                <a:latin typeface="Calibri"/>
                <a:cs typeface="Calibri"/>
              </a:rPr>
              <a:t>menu:</a:t>
            </a:r>
            <a:r>
              <a:rPr sz="2000" b="1" spc="-95" dirty="0">
                <a:latin typeface="Calibri"/>
                <a:cs typeface="Calibri"/>
              </a:rPr>
              <a:t> </a:t>
            </a:r>
            <a:r>
              <a:rPr sz="2000" spc="-20" dirty="0">
                <a:latin typeface="Calibri"/>
                <a:cs typeface="Calibri"/>
              </a:rPr>
              <a:t>Indicates</a:t>
            </a:r>
            <a:r>
              <a:rPr sz="2000" spc="-45" dirty="0">
                <a:latin typeface="Calibri"/>
                <a:cs typeface="Calibri"/>
              </a:rPr>
              <a:t> </a:t>
            </a:r>
            <a:r>
              <a:rPr sz="2000" dirty="0">
                <a:latin typeface="Calibri"/>
                <a:cs typeface="Calibri"/>
              </a:rPr>
              <a:t>whether</a:t>
            </a:r>
            <a:r>
              <a:rPr sz="2000" spc="-15" dirty="0">
                <a:latin typeface="Calibri"/>
                <a:cs typeface="Calibri"/>
              </a:rPr>
              <a:t> </a:t>
            </a:r>
            <a:r>
              <a:rPr sz="2000" dirty="0">
                <a:latin typeface="Calibri"/>
                <a:cs typeface="Calibri"/>
              </a:rPr>
              <a:t>users</a:t>
            </a:r>
            <a:r>
              <a:rPr sz="2000" spc="-70" dirty="0">
                <a:latin typeface="Calibri"/>
                <a:cs typeface="Calibri"/>
              </a:rPr>
              <a:t> </a:t>
            </a:r>
            <a:r>
              <a:rPr sz="2000" spc="-25" dirty="0">
                <a:latin typeface="Calibri"/>
                <a:cs typeface="Calibri"/>
              </a:rPr>
              <a:t>can </a:t>
            </a:r>
            <a:r>
              <a:rPr sz="2000" dirty="0">
                <a:latin typeface="Calibri"/>
                <a:cs typeface="Calibri"/>
              </a:rPr>
              <a:t>switch</a:t>
            </a:r>
            <a:r>
              <a:rPr sz="2000" spc="-55" dirty="0">
                <a:latin typeface="Calibri"/>
                <a:cs typeface="Calibri"/>
              </a:rPr>
              <a:t> </a:t>
            </a:r>
            <a:r>
              <a:rPr sz="2000" dirty="0">
                <a:latin typeface="Calibri"/>
                <a:cs typeface="Calibri"/>
              </a:rPr>
              <a:t>to</a:t>
            </a:r>
            <a:r>
              <a:rPr sz="2000" spc="-70"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order</a:t>
            </a:r>
            <a:r>
              <a:rPr sz="2000" spc="-60" dirty="0">
                <a:latin typeface="Calibri"/>
                <a:cs typeface="Calibri"/>
              </a:rPr>
              <a:t> </a:t>
            </a:r>
            <a:r>
              <a:rPr sz="2000" dirty="0">
                <a:latin typeface="Calibri"/>
                <a:cs typeface="Calibri"/>
              </a:rPr>
              <a:t>menu</a:t>
            </a:r>
            <a:r>
              <a:rPr sz="2000" spc="-75" dirty="0">
                <a:latin typeface="Calibri"/>
                <a:cs typeface="Calibri"/>
              </a:rPr>
              <a:t> </a:t>
            </a:r>
            <a:r>
              <a:rPr sz="2000" spc="-10" dirty="0">
                <a:latin typeface="Calibri"/>
                <a:cs typeface="Calibri"/>
              </a:rPr>
              <a:t>(Yes/No).</a:t>
            </a:r>
            <a:endParaRPr sz="2000" dirty="0">
              <a:latin typeface="Calibri"/>
              <a:cs typeface="Calibri"/>
            </a:endParaRPr>
          </a:p>
          <a:p>
            <a:pPr marL="299085" indent="-286385">
              <a:lnSpc>
                <a:spcPct val="100000"/>
              </a:lnSpc>
              <a:buFont typeface="Arial"/>
              <a:buChar char="•"/>
              <a:tabLst>
                <a:tab pos="299085" algn="l"/>
              </a:tabLst>
            </a:pPr>
            <a:r>
              <a:rPr sz="2000" b="1" dirty="0">
                <a:latin typeface="Calibri"/>
                <a:cs typeface="Calibri"/>
              </a:rPr>
              <a:t>Price</a:t>
            </a:r>
            <a:r>
              <a:rPr sz="2000" b="1" spc="-100" dirty="0">
                <a:latin typeface="Calibri"/>
                <a:cs typeface="Calibri"/>
              </a:rPr>
              <a:t> </a:t>
            </a:r>
            <a:r>
              <a:rPr sz="2000" b="1" dirty="0">
                <a:latin typeface="Calibri"/>
                <a:cs typeface="Calibri"/>
              </a:rPr>
              <a:t>range:</a:t>
            </a:r>
            <a:r>
              <a:rPr sz="2000" b="1" spc="-100" dirty="0">
                <a:latin typeface="Calibri"/>
                <a:cs typeface="Calibri"/>
              </a:rPr>
              <a:t> </a:t>
            </a:r>
            <a:r>
              <a:rPr sz="2000" dirty="0">
                <a:latin typeface="Calibri"/>
                <a:cs typeface="Calibri"/>
              </a:rPr>
              <a:t>A</a:t>
            </a:r>
            <a:r>
              <a:rPr sz="2000" spc="-95" dirty="0">
                <a:latin typeface="Calibri"/>
                <a:cs typeface="Calibri"/>
              </a:rPr>
              <a:t> </a:t>
            </a:r>
            <a:r>
              <a:rPr sz="2000" dirty="0">
                <a:latin typeface="Calibri"/>
                <a:cs typeface="Calibri"/>
              </a:rPr>
              <a:t>numeric</a:t>
            </a:r>
            <a:r>
              <a:rPr sz="2000" spc="-70" dirty="0">
                <a:latin typeface="Calibri"/>
                <a:cs typeface="Calibri"/>
              </a:rPr>
              <a:t> </a:t>
            </a:r>
            <a:r>
              <a:rPr sz="2000" dirty="0">
                <a:latin typeface="Calibri"/>
                <a:cs typeface="Calibri"/>
              </a:rPr>
              <a:t>value</a:t>
            </a:r>
            <a:r>
              <a:rPr sz="2000" spc="-75" dirty="0">
                <a:latin typeface="Calibri"/>
                <a:cs typeface="Calibri"/>
              </a:rPr>
              <a:t> </a:t>
            </a:r>
            <a:r>
              <a:rPr sz="2000" dirty="0">
                <a:latin typeface="Calibri"/>
                <a:cs typeface="Calibri"/>
              </a:rPr>
              <a:t>indicating</a:t>
            </a:r>
            <a:r>
              <a:rPr sz="2000" spc="-35" dirty="0">
                <a:latin typeface="Calibri"/>
                <a:cs typeface="Calibri"/>
              </a:rPr>
              <a:t> </a:t>
            </a:r>
            <a:r>
              <a:rPr sz="2000" dirty="0">
                <a:latin typeface="Calibri"/>
                <a:cs typeface="Calibri"/>
              </a:rPr>
              <a:t>the</a:t>
            </a:r>
            <a:r>
              <a:rPr sz="2000" spc="-75" dirty="0">
                <a:latin typeface="Calibri"/>
                <a:cs typeface="Calibri"/>
              </a:rPr>
              <a:t> </a:t>
            </a:r>
            <a:r>
              <a:rPr sz="2000" spc="-10" dirty="0">
                <a:latin typeface="Calibri"/>
                <a:cs typeface="Calibri"/>
              </a:rPr>
              <a:t>price</a:t>
            </a:r>
            <a:endParaRPr sz="2000" dirty="0">
              <a:latin typeface="Calibri"/>
              <a:cs typeface="Calibri"/>
            </a:endParaRPr>
          </a:p>
          <a:p>
            <a:pPr marL="299085">
              <a:lnSpc>
                <a:spcPct val="100000"/>
              </a:lnSpc>
              <a:spcBef>
                <a:spcPts val="5"/>
              </a:spcBef>
            </a:pPr>
            <a:r>
              <a:rPr sz="2000" dirty="0">
                <a:latin typeface="Calibri"/>
                <a:cs typeface="Calibri"/>
              </a:rPr>
              <a:t>range</a:t>
            </a:r>
            <a:r>
              <a:rPr sz="2000" spc="-45" dirty="0">
                <a:latin typeface="Calibri"/>
                <a:cs typeface="Calibri"/>
              </a:rPr>
              <a:t> </a:t>
            </a:r>
            <a:r>
              <a:rPr sz="2000" spc="-20" dirty="0">
                <a:latin typeface="Calibri"/>
                <a:cs typeface="Calibri"/>
              </a:rPr>
              <a:t>category</a:t>
            </a:r>
            <a:r>
              <a:rPr sz="2000" spc="-6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20" dirty="0">
                <a:latin typeface="Calibri"/>
                <a:cs typeface="Calibri"/>
              </a:rPr>
              <a:t> </a:t>
            </a:r>
            <a:r>
              <a:rPr sz="2000" spc="-10" dirty="0">
                <a:latin typeface="Calibri"/>
                <a:cs typeface="Calibri"/>
              </a:rPr>
              <a:t>restaurant.</a:t>
            </a:r>
            <a:endParaRPr sz="2000" dirty="0">
              <a:latin typeface="Calibri"/>
              <a:cs typeface="Calibri"/>
            </a:endParaRPr>
          </a:p>
          <a:p>
            <a:pPr marL="299085" marR="189230" indent="-287020">
              <a:lnSpc>
                <a:spcPct val="100000"/>
              </a:lnSpc>
              <a:buFont typeface="Arial"/>
              <a:buChar char="•"/>
              <a:tabLst>
                <a:tab pos="299085" algn="l"/>
              </a:tabLst>
            </a:pPr>
            <a:r>
              <a:rPr sz="2000" b="1" spc="-20" dirty="0">
                <a:latin typeface="Calibri"/>
                <a:cs typeface="Calibri"/>
              </a:rPr>
              <a:t>Votes:</a:t>
            </a:r>
            <a:r>
              <a:rPr sz="2000" b="1" spc="-8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number</a:t>
            </a:r>
            <a:r>
              <a:rPr sz="2000" spc="-2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votes</a:t>
            </a:r>
            <a:r>
              <a:rPr sz="2000" spc="-40" dirty="0">
                <a:latin typeface="Calibri"/>
                <a:cs typeface="Calibri"/>
              </a:rPr>
              <a:t> </a:t>
            </a:r>
            <a:r>
              <a:rPr sz="2000" dirty="0">
                <a:latin typeface="Calibri"/>
                <a:cs typeface="Calibri"/>
              </a:rPr>
              <a:t>or</a:t>
            </a:r>
            <a:r>
              <a:rPr sz="2000" spc="-45" dirty="0">
                <a:latin typeface="Calibri"/>
                <a:cs typeface="Calibri"/>
              </a:rPr>
              <a:t> </a:t>
            </a:r>
            <a:r>
              <a:rPr sz="2000" spc="-10" dirty="0">
                <a:latin typeface="Calibri"/>
                <a:cs typeface="Calibri"/>
              </a:rPr>
              <a:t>ratings/(feedback) </a:t>
            </a:r>
            <a:r>
              <a:rPr sz="2000" dirty="0">
                <a:latin typeface="Calibri"/>
                <a:cs typeface="Calibri"/>
              </a:rPr>
              <a:t>received</a:t>
            </a:r>
            <a:r>
              <a:rPr sz="2000" spc="-60" dirty="0">
                <a:latin typeface="Calibri"/>
                <a:cs typeface="Calibri"/>
              </a:rPr>
              <a:t> </a:t>
            </a:r>
            <a:r>
              <a:rPr sz="2000" dirty="0">
                <a:latin typeface="Calibri"/>
                <a:cs typeface="Calibri"/>
              </a:rPr>
              <a:t>by</a:t>
            </a:r>
            <a:r>
              <a:rPr sz="2000" spc="-90" dirty="0">
                <a:latin typeface="Calibri"/>
                <a:cs typeface="Calibri"/>
              </a:rPr>
              <a:t> </a:t>
            </a:r>
            <a:r>
              <a:rPr sz="2000" dirty="0">
                <a:latin typeface="Calibri"/>
                <a:cs typeface="Calibri"/>
              </a:rPr>
              <a:t>the</a:t>
            </a:r>
            <a:r>
              <a:rPr sz="2000" spc="-70" dirty="0">
                <a:latin typeface="Calibri"/>
                <a:cs typeface="Calibri"/>
              </a:rPr>
              <a:t> </a:t>
            </a:r>
            <a:r>
              <a:rPr sz="2000" spc="-10" dirty="0">
                <a:latin typeface="Calibri"/>
                <a:cs typeface="Calibri"/>
              </a:rPr>
              <a:t>restaurant.</a:t>
            </a:r>
            <a:endParaRPr sz="2000" dirty="0">
              <a:latin typeface="Calibri"/>
              <a:cs typeface="Calibri"/>
            </a:endParaRPr>
          </a:p>
          <a:p>
            <a:pPr marL="299085" marR="396875" indent="-287020">
              <a:lnSpc>
                <a:spcPct val="100000"/>
              </a:lnSpc>
              <a:buFont typeface="Arial"/>
              <a:buChar char="•"/>
              <a:tabLst>
                <a:tab pos="299085" algn="l"/>
              </a:tabLst>
            </a:pPr>
            <a:r>
              <a:rPr sz="2000" b="1" spc="-25" dirty="0">
                <a:latin typeface="Calibri"/>
                <a:cs typeface="Calibri"/>
              </a:rPr>
              <a:t>Average</a:t>
            </a:r>
            <a:r>
              <a:rPr sz="2000" b="1" spc="-80" dirty="0">
                <a:latin typeface="Calibri"/>
                <a:cs typeface="Calibri"/>
              </a:rPr>
              <a:t> </a:t>
            </a:r>
            <a:r>
              <a:rPr sz="2000" b="1" dirty="0">
                <a:latin typeface="Calibri"/>
                <a:cs typeface="Calibri"/>
              </a:rPr>
              <a:t>Cost</a:t>
            </a:r>
            <a:r>
              <a:rPr sz="2000" b="1" spc="-55" dirty="0">
                <a:latin typeface="Calibri"/>
                <a:cs typeface="Calibri"/>
              </a:rPr>
              <a:t> </a:t>
            </a:r>
            <a:r>
              <a:rPr sz="2000" b="1" dirty="0">
                <a:latin typeface="Calibri"/>
                <a:cs typeface="Calibri"/>
              </a:rPr>
              <a:t>for</a:t>
            </a:r>
            <a:r>
              <a:rPr sz="2000" b="1" spc="-30" dirty="0">
                <a:latin typeface="Calibri"/>
                <a:cs typeface="Calibri"/>
              </a:rPr>
              <a:t> </a:t>
            </a:r>
            <a:r>
              <a:rPr sz="2000" b="1" dirty="0">
                <a:latin typeface="Calibri"/>
                <a:cs typeface="Calibri"/>
              </a:rPr>
              <a:t>two:</a:t>
            </a:r>
            <a:r>
              <a:rPr sz="2000" b="1" spc="-45" dirty="0">
                <a:latin typeface="Calibri"/>
                <a:cs typeface="Calibri"/>
              </a:rPr>
              <a:t> </a:t>
            </a:r>
            <a:r>
              <a:rPr sz="2000" dirty="0">
                <a:latin typeface="Calibri"/>
                <a:cs typeface="Calibri"/>
              </a:rPr>
              <a:t>The</a:t>
            </a:r>
            <a:r>
              <a:rPr sz="2000" spc="-20" dirty="0">
                <a:latin typeface="Calibri"/>
                <a:cs typeface="Calibri"/>
              </a:rPr>
              <a:t> average</a:t>
            </a:r>
            <a:r>
              <a:rPr sz="2000" spc="-45" dirty="0">
                <a:latin typeface="Calibri"/>
                <a:cs typeface="Calibri"/>
              </a:rPr>
              <a:t> </a:t>
            </a:r>
            <a:r>
              <a:rPr sz="2000" dirty="0">
                <a:latin typeface="Calibri"/>
                <a:cs typeface="Calibri"/>
              </a:rPr>
              <a:t>cost</a:t>
            </a:r>
            <a:r>
              <a:rPr sz="2000" spc="-30" dirty="0">
                <a:latin typeface="Calibri"/>
                <a:cs typeface="Calibri"/>
              </a:rPr>
              <a:t> </a:t>
            </a:r>
            <a:r>
              <a:rPr sz="2000" dirty="0">
                <a:latin typeface="Calibri"/>
                <a:cs typeface="Calibri"/>
              </a:rPr>
              <a:t>for</a:t>
            </a:r>
            <a:r>
              <a:rPr sz="2000" spc="-30" dirty="0">
                <a:latin typeface="Calibri"/>
                <a:cs typeface="Calibri"/>
              </a:rPr>
              <a:t> </a:t>
            </a:r>
            <a:r>
              <a:rPr sz="2000" spc="-25" dirty="0">
                <a:latin typeface="Calibri"/>
                <a:cs typeface="Calibri"/>
              </a:rPr>
              <a:t>two </a:t>
            </a:r>
            <a:r>
              <a:rPr sz="2000" dirty="0">
                <a:latin typeface="Calibri"/>
                <a:cs typeface="Calibri"/>
              </a:rPr>
              <a:t>people</a:t>
            </a:r>
            <a:r>
              <a:rPr sz="2000" spc="-50" dirty="0">
                <a:latin typeface="Calibri"/>
                <a:cs typeface="Calibri"/>
              </a:rPr>
              <a:t> </a:t>
            </a:r>
            <a:r>
              <a:rPr sz="2000" dirty="0">
                <a:latin typeface="Calibri"/>
                <a:cs typeface="Calibri"/>
              </a:rPr>
              <a:t>dining</a:t>
            </a:r>
            <a:r>
              <a:rPr sz="2000" spc="-30" dirty="0">
                <a:latin typeface="Calibri"/>
                <a:cs typeface="Calibri"/>
              </a:rPr>
              <a:t> </a:t>
            </a:r>
            <a:r>
              <a:rPr sz="2000" dirty="0">
                <a:latin typeface="Calibri"/>
                <a:cs typeface="Calibri"/>
              </a:rPr>
              <a:t>at</a:t>
            </a:r>
            <a:r>
              <a:rPr sz="2000" spc="-70" dirty="0">
                <a:latin typeface="Calibri"/>
                <a:cs typeface="Calibri"/>
              </a:rPr>
              <a:t> </a:t>
            </a:r>
            <a:r>
              <a:rPr sz="2000" dirty="0">
                <a:latin typeface="Calibri"/>
                <a:cs typeface="Calibri"/>
              </a:rPr>
              <a:t>the</a:t>
            </a:r>
            <a:r>
              <a:rPr sz="2000" spc="-55" dirty="0">
                <a:latin typeface="Calibri"/>
                <a:cs typeface="Calibri"/>
              </a:rPr>
              <a:t> </a:t>
            </a:r>
            <a:r>
              <a:rPr sz="2000" spc="-10" dirty="0">
                <a:latin typeface="Calibri"/>
                <a:cs typeface="Calibri"/>
              </a:rPr>
              <a:t>restaurant.</a:t>
            </a:r>
            <a:endParaRPr sz="2000" dirty="0">
              <a:latin typeface="Calibri"/>
              <a:cs typeface="Calibri"/>
            </a:endParaRPr>
          </a:p>
          <a:p>
            <a:pPr marL="299085" marR="14604" indent="-287020">
              <a:lnSpc>
                <a:spcPct val="100000"/>
              </a:lnSpc>
              <a:buFont typeface="Arial"/>
              <a:buChar char="•"/>
              <a:tabLst>
                <a:tab pos="299085" algn="l"/>
              </a:tabLst>
            </a:pPr>
            <a:r>
              <a:rPr sz="2000" b="1" dirty="0">
                <a:latin typeface="Calibri"/>
                <a:cs typeface="Calibri"/>
              </a:rPr>
              <a:t>Rating:</a:t>
            </a:r>
            <a:r>
              <a:rPr sz="2000" b="1" spc="-6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overall</a:t>
            </a:r>
            <a:r>
              <a:rPr sz="2000" spc="-70" dirty="0">
                <a:latin typeface="Calibri"/>
                <a:cs typeface="Calibri"/>
              </a:rPr>
              <a:t> </a:t>
            </a:r>
            <a:r>
              <a:rPr sz="2000" dirty="0">
                <a:latin typeface="Calibri"/>
                <a:cs typeface="Calibri"/>
              </a:rPr>
              <a:t>rating</a:t>
            </a:r>
            <a:r>
              <a:rPr sz="2000" spc="-45" dirty="0">
                <a:latin typeface="Calibri"/>
                <a:cs typeface="Calibri"/>
              </a:rPr>
              <a:t> </a:t>
            </a:r>
            <a:r>
              <a:rPr sz="2000" dirty="0">
                <a:latin typeface="Calibri"/>
                <a:cs typeface="Calibri"/>
              </a:rPr>
              <a:t>of</a:t>
            </a:r>
            <a:r>
              <a:rPr sz="2000" spc="-60"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restaurant</a:t>
            </a:r>
            <a:r>
              <a:rPr sz="2000" spc="-75" dirty="0">
                <a:latin typeface="Calibri"/>
                <a:cs typeface="Calibri"/>
              </a:rPr>
              <a:t> </a:t>
            </a:r>
            <a:r>
              <a:rPr sz="2000" dirty="0">
                <a:latin typeface="Calibri"/>
                <a:cs typeface="Calibri"/>
              </a:rPr>
              <a:t>is</a:t>
            </a:r>
            <a:r>
              <a:rPr sz="2000" spc="-70" dirty="0">
                <a:latin typeface="Calibri"/>
                <a:cs typeface="Calibri"/>
              </a:rPr>
              <a:t> </a:t>
            </a:r>
            <a:r>
              <a:rPr sz="2000" spc="-10" dirty="0">
                <a:latin typeface="Calibri"/>
                <a:cs typeface="Calibri"/>
              </a:rPr>
              <a:t>based </a:t>
            </a:r>
            <a:r>
              <a:rPr sz="2000" dirty="0">
                <a:latin typeface="Calibri"/>
                <a:cs typeface="Calibri"/>
              </a:rPr>
              <a:t>on</a:t>
            </a:r>
            <a:r>
              <a:rPr sz="2000" spc="-40" dirty="0">
                <a:latin typeface="Calibri"/>
                <a:cs typeface="Calibri"/>
              </a:rPr>
              <a:t> </a:t>
            </a:r>
            <a:r>
              <a:rPr sz="2000" dirty="0">
                <a:latin typeface="Calibri"/>
                <a:cs typeface="Calibri"/>
              </a:rPr>
              <a:t>user</a:t>
            </a:r>
            <a:r>
              <a:rPr sz="2000" spc="-65" dirty="0">
                <a:latin typeface="Calibri"/>
                <a:cs typeface="Calibri"/>
              </a:rPr>
              <a:t> </a:t>
            </a:r>
            <a:r>
              <a:rPr sz="2000" spc="-10" dirty="0">
                <a:latin typeface="Calibri"/>
                <a:cs typeface="Calibri"/>
              </a:rPr>
              <a:t>reviews.</a:t>
            </a:r>
            <a:endParaRPr sz="2000" dirty="0">
              <a:latin typeface="Calibri"/>
              <a:cs typeface="Calibri"/>
            </a:endParaRPr>
          </a:p>
          <a:p>
            <a:pPr marL="299085" marR="295910" indent="-287020">
              <a:lnSpc>
                <a:spcPct val="100000"/>
              </a:lnSpc>
              <a:buFont typeface="Arial"/>
              <a:buChar char="•"/>
              <a:tabLst>
                <a:tab pos="299085" algn="l"/>
              </a:tabLst>
            </a:pPr>
            <a:r>
              <a:rPr sz="2000" b="1" spc="-20" dirty="0">
                <a:latin typeface="Calibri"/>
                <a:cs typeface="Calibri"/>
              </a:rPr>
              <a:t>Datekey</a:t>
            </a:r>
            <a:r>
              <a:rPr sz="2000" b="1" spc="-95" dirty="0">
                <a:latin typeface="Calibri"/>
                <a:cs typeface="Calibri"/>
              </a:rPr>
              <a:t> </a:t>
            </a:r>
            <a:r>
              <a:rPr sz="2000" b="1" spc="-10" dirty="0">
                <a:latin typeface="Calibri"/>
                <a:cs typeface="Calibri"/>
              </a:rPr>
              <a:t>opening:</a:t>
            </a:r>
            <a:r>
              <a:rPr sz="2000" b="1" spc="-95" dirty="0">
                <a:latin typeface="Calibri"/>
                <a:cs typeface="Calibri"/>
              </a:rPr>
              <a:t> </a:t>
            </a:r>
            <a:r>
              <a:rPr sz="2000" dirty="0">
                <a:latin typeface="Calibri"/>
                <a:cs typeface="Calibri"/>
              </a:rPr>
              <a:t>The</a:t>
            </a:r>
            <a:r>
              <a:rPr sz="2000" spc="-20" dirty="0">
                <a:latin typeface="Calibri"/>
                <a:cs typeface="Calibri"/>
              </a:rPr>
              <a:t> </a:t>
            </a:r>
            <a:r>
              <a:rPr sz="2000" dirty="0">
                <a:latin typeface="Calibri"/>
                <a:cs typeface="Calibri"/>
              </a:rPr>
              <a:t>date</a:t>
            </a:r>
            <a:r>
              <a:rPr sz="2000" spc="-40" dirty="0">
                <a:latin typeface="Calibri"/>
                <a:cs typeface="Calibri"/>
              </a:rPr>
              <a:t> </a:t>
            </a:r>
            <a:r>
              <a:rPr sz="2000" dirty="0">
                <a:latin typeface="Calibri"/>
                <a:cs typeface="Calibri"/>
              </a:rPr>
              <a:t>when</a:t>
            </a:r>
            <a:r>
              <a:rPr sz="2000" spc="-15" dirty="0">
                <a:latin typeface="Calibri"/>
                <a:cs typeface="Calibri"/>
              </a:rPr>
              <a:t> </a:t>
            </a:r>
            <a:r>
              <a:rPr sz="2000" dirty="0">
                <a:latin typeface="Calibri"/>
                <a:cs typeface="Calibri"/>
              </a:rPr>
              <a:t>the</a:t>
            </a:r>
            <a:r>
              <a:rPr sz="2000" spc="-30" dirty="0">
                <a:latin typeface="Calibri"/>
                <a:cs typeface="Calibri"/>
              </a:rPr>
              <a:t> </a:t>
            </a:r>
            <a:r>
              <a:rPr sz="2000" spc="-10" dirty="0">
                <a:latin typeface="Calibri"/>
                <a:cs typeface="Calibri"/>
              </a:rPr>
              <a:t>restaurant </a:t>
            </a:r>
            <a:r>
              <a:rPr sz="2000" dirty="0">
                <a:latin typeface="Calibri"/>
                <a:cs typeface="Calibri"/>
              </a:rPr>
              <a:t>was</a:t>
            </a:r>
            <a:r>
              <a:rPr sz="2000" spc="-55" dirty="0">
                <a:latin typeface="Calibri"/>
                <a:cs typeface="Calibri"/>
              </a:rPr>
              <a:t> </a:t>
            </a:r>
            <a:r>
              <a:rPr sz="2000" spc="-10" dirty="0">
                <a:latin typeface="Calibri"/>
                <a:cs typeface="Calibri"/>
              </a:rPr>
              <a:t>opened.</a:t>
            </a:r>
            <a:endParaRPr sz="2000" dirty="0">
              <a:latin typeface="Calibri"/>
              <a:cs typeface="Calibri"/>
            </a:endParaRPr>
          </a:p>
        </p:txBody>
      </p:sp>
      <p:sp>
        <p:nvSpPr>
          <p:cNvPr id="7" name="Rectangle 6">
            <a:extLst>
              <a:ext uri="{FF2B5EF4-FFF2-40B4-BE49-F238E27FC236}">
                <a16:creationId xmlns:a16="http://schemas.microsoft.com/office/drawing/2014/main" id="{085C6EA0-248D-F352-8246-7C4F9677B8C3}"/>
              </a:ext>
            </a:extLst>
          </p:cNvPr>
          <p:cNvSpPr/>
          <p:nvPr/>
        </p:nvSpPr>
        <p:spPr>
          <a:xfrm>
            <a:off x="3974783" y="49781"/>
            <a:ext cx="3722493" cy="707886"/>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Data summary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FE4D81A-2E7E-9837-377C-E90B219EBC21}"/>
              </a:ext>
            </a:extLst>
          </p:cNvPr>
          <p:cNvSpPr>
            <a:spLocks noGrp="1" noChangeArrowheads="1"/>
          </p:cNvSpPr>
          <p:nvPr>
            <p:ph idx="1"/>
          </p:nvPr>
        </p:nvSpPr>
        <p:spPr bwMode="auto">
          <a:xfrm>
            <a:off x="828161" y="2506661"/>
            <a:ext cx="10515600"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Data Cleaning &amp; Preparation</a:t>
            </a: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Handled missing and zero values in cost, ratings, and cuisines.</a:t>
            </a: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Standardized categorical data (e.g., country names, cuisines) for consistency.</a:t>
            </a: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Converted cost columns into a clean numeric format for analysis.</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Data Enrichment</a:t>
            </a: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Created new fields like </a:t>
            </a:r>
            <a:r>
              <a:rPr kumimoji="0" lang="en-US" altLang="en-US" sz="1500" b="1" i="0" u="none" strike="noStrike" cap="none" normalizeH="0" baseline="0" dirty="0">
                <a:ln>
                  <a:noFill/>
                </a:ln>
                <a:effectLst/>
                <a:latin typeface="Arial" panose="020B0604020202020204" pitchFamily="34" charset="0"/>
              </a:rPr>
              <a:t>price range categories</a:t>
            </a:r>
            <a:r>
              <a:rPr kumimoji="0" lang="en-US" altLang="en-US" sz="1500" b="0" i="0" u="none" strike="noStrike" cap="none" normalizeH="0" baseline="0" dirty="0">
                <a:ln>
                  <a:noFill/>
                </a:ln>
                <a:effectLst/>
                <a:latin typeface="Arial" panose="020B0604020202020204" pitchFamily="34" charset="0"/>
              </a:rPr>
              <a:t> and grouped cuisines for comparison.</a:t>
            </a:r>
          </a:p>
          <a:p>
            <a:pPr marL="0" marR="0" lvl="0" indent="0" defTabSz="914400" rtl="0" eaLnBrk="0" fontAlgn="base" latinLnBrk="0" hangingPunct="0">
              <a:spcBef>
                <a:spcPct val="0"/>
              </a:spcBef>
              <a:spcAft>
                <a:spcPts val="600"/>
              </a:spcAft>
              <a:buClrTx/>
              <a:buSzTx/>
              <a:buFontTx/>
              <a:buChar char="•"/>
              <a:tabLst/>
            </a:pPr>
            <a:r>
              <a:rPr kumimoji="0" lang="en-US" altLang="en-US" sz="1500" b="0" i="0" u="none" strike="noStrike" cap="none" normalizeH="0" baseline="0" dirty="0">
                <a:ln>
                  <a:noFill/>
                </a:ln>
                <a:effectLst/>
                <a:latin typeface="Arial" panose="020B0604020202020204" pitchFamily="34" charset="0"/>
              </a:rPr>
              <a:t>Merged country codes with full country names for better readability.</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Analytical Techniques</a:t>
            </a: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Descriptive Analysis:</a:t>
            </a:r>
            <a:r>
              <a:rPr kumimoji="0" lang="en-US" altLang="en-US" sz="1500" b="0" i="0" u="none" strike="noStrike" cap="none" normalizeH="0" baseline="0" dirty="0">
                <a:ln>
                  <a:noFill/>
                </a:ln>
                <a:effectLst/>
                <a:latin typeface="Arial" panose="020B0604020202020204" pitchFamily="34" charset="0"/>
              </a:rPr>
              <a:t> Explored average ratings, cost distributions, and delivery/table booking availability.</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Trend Analysis:</a:t>
            </a:r>
            <a:r>
              <a:rPr kumimoji="0" lang="en-US" altLang="en-US" sz="1500" b="0" i="0" u="none" strike="noStrike" cap="none" normalizeH="0" baseline="0" dirty="0">
                <a:ln>
                  <a:noFill/>
                </a:ln>
                <a:effectLst/>
                <a:latin typeface="Arial" panose="020B0604020202020204" pitchFamily="34" charset="0"/>
              </a:rPr>
              <a:t> Identified country- and city-wise restaurant growth and service adoption.</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Correlation Checks:</a:t>
            </a:r>
            <a:r>
              <a:rPr kumimoji="0" lang="en-US" altLang="en-US" sz="1500" b="0" i="0" u="none" strike="noStrike" cap="none" normalizeH="0" baseline="0" dirty="0">
                <a:ln>
                  <a:noFill/>
                </a:ln>
                <a:effectLst/>
                <a:latin typeface="Arial" panose="020B0604020202020204" pitchFamily="34" charset="0"/>
              </a:rPr>
              <a:t> Studied relationships between cost, ratings, and services offered.</a:t>
            </a: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Tools &amp; Features Used</a:t>
            </a:r>
            <a:endParaRPr kumimoji="0" lang="en-US" altLang="en-US" sz="1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500" b="1" i="0" u="none" strike="noStrike" cap="none" normalizeH="0" baseline="0" dirty="0">
                <a:ln>
                  <a:noFill/>
                </a:ln>
                <a:effectLst/>
                <a:latin typeface="Arial" panose="020B0604020202020204" pitchFamily="34" charset="0"/>
              </a:rPr>
              <a:t>Excel:</a:t>
            </a:r>
            <a:r>
              <a:rPr kumimoji="0" lang="en-US" altLang="en-US" sz="1500" b="0" i="0" u="none" strike="noStrike" cap="none" normalizeH="0" baseline="0" dirty="0">
                <a:ln>
                  <a:noFill/>
                </a:ln>
                <a:effectLst/>
                <a:latin typeface="Arial" panose="020B0604020202020204" pitchFamily="34" charset="0"/>
              </a:rPr>
              <a:t> Pivot tables for summarizing restaurant counts, VLOOKUP for mapping country codes, charts for visualization.</a:t>
            </a:r>
          </a:p>
          <a:p>
            <a:pPr marL="0" marR="0" lvl="0" indent="0" defTabSz="914400" rtl="0" eaLnBrk="0" fontAlgn="base" latinLnBrk="0" hangingPunct="0">
              <a:spcBef>
                <a:spcPct val="0"/>
              </a:spcBef>
              <a:spcAft>
                <a:spcPts val="600"/>
              </a:spcAft>
              <a:buClrTx/>
              <a:buSzTx/>
              <a:buFontTx/>
              <a:buChar char="•"/>
              <a:tabLst/>
            </a:pPr>
            <a:endParaRPr kumimoji="0" lang="en-US" altLang="en-US" sz="1500" b="0" i="0" u="none" strike="noStrike" cap="none" normalizeH="0" baseline="0" dirty="0">
              <a:ln>
                <a:noFill/>
              </a:ln>
              <a:effectLst/>
              <a:latin typeface="Arial" panose="020B0604020202020204" pitchFamily="34" charset="0"/>
            </a:endParaRPr>
          </a:p>
        </p:txBody>
      </p:sp>
      <p:sp>
        <p:nvSpPr>
          <p:cNvPr id="3" name="Rectangle 2">
            <a:extLst>
              <a:ext uri="{FF2B5EF4-FFF2-40B4-BE49-F238E27FC236}">
                <a16:creationId xmlns:a16="http://schemas.microsoft.com/office/drawing/2014/main" id="{04398789-DC24-7C30-1E50-E9FC3E60C0A5}"/>
              </a:ext>
            </a:extLst>
          </p:cNvPr>
          <p:cNvSpPr/>
          <p:nvPr/>
        </p:nvSpPr>
        <p:spPr>
          <a:xfrm>
            <a:off x="722307" y="1029495"/>
            <a:ext cx="3431682" cy="707886"/>
          </a:xfrm>
          <a:prstGeom prst="rect">
            <a:avLst/>
          </a:prstGeom>
          <a:noFill/>
        </p:spPr>
        <p:txBody>
          <a:bodyPr wrap="squar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Methodology</a:t>
            </a:r>
            <a:endPar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366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060577" y="4361969"/>
            <a:ext cx="10060940" cy="2167260"/>
          </a:xfrm>
          <a:prstGeom prst="rect">
            <a:avLst/>
          </a:prstGeom>
        </p:spPr>
        <p:txBody>
          <a:bodyPr vert="horz" wrap="square" lIns="0" tIns="12700" rIns="0" bIns="0" rtlCol="0">
            <a:spAutoFit/>
          </a:bodyPr>
          <a:lstStyle/>
          <a:p>
            <a:pPr marL="299085" indent="-286385">
              <a:lnSpc>
                <a:spcPct val="100000"/>
              </a:lnSpc>
              <a:spcBef>
                <a:spcPts val="100"/>
              </a:spcBef>
              <a:buFont typeface="Arial"/>
              <a:buChar char="•"/>
              <a:tabLst>
                <a:tab pos="299085" algn="l"/>
              </a:tabLst>
            </a:pPr>
            <a:r>
              <a:rPr sz="2000" dirty="0">
                <a:latin typeface="Calibri"/>
                <a:cs typeface="Calibri"/>
              </a:rPr>
              <a:t>From</a:t>
            </a:r>
            <a:r>
              <a:rPr sz="2000" spc="-7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chart</a:t>
            </a:r>
            <a:r>
              <a:rPr sz="2000" spc="-55" dirty="0">
                <a:latin typeface="Calibri"/>
                <a:cs typeface="Calibri"/>
              </a:rPr>
              <a:t> </a:t>
            </a:r>
            <a:r>
              <a:rPr sz="2000" dirty="0">
                <a:latin typeface="Calibri"/>
                <a:cs typeface="Calibri"/>
              </a:rPr>
              <a:t>we</a:t>
            </a:r>
            <a:r>
              <a:rPr sz="2000" spc="-30" dirty="0">
                <a:latin typeface="Calibri"/>
                <a:cs typeface="Calibri"/>
              </a:rPr>
              <a:t> </a:t>
            </a:r>
            <a:r>
              <a:rPr sz="2000" dirty="0">
                <a:latin typeface="Calibri"/>
                <a:cs typeface="Calibri"/>
              </a:rPr>
              <a:t>can</a:t>
            </a:r>
            <a:r>
              <a:rPr sz="2000" spc="-40" dirty="0">
                <a:latin typeface="Calibri"/>
                <a:cs typeface="Calibri"/>
              </a:rPr>
              <a:t> </a:t>
            </a:r>
            <a:r>
              <a:rPr sz="2000" dirty="0">
                <a:latin typeface="Calibri"/>
                <a:cs typeface="Calibri"/>
              </a:rPr>
              <a:t>analyze</a:t>
            </a:r>
            <a:r>
              <a:rPr sz="2000" spc="-40" dirty="0">
                <a:latin typeface="Calibri"/>
                <a:cs typeface="Calibri"/>
              </a:rPr>
              <a:t> </a:t>
            </a:r>
            <a:r>
              <a:rPr sz="2000" dirty="0">
                <a:latin typeface="Calibri"/>
                <a:cs typeface="Calibri"/>
              </a:rPr>
              <a:t>that</a:t>
            </a:r>
            <a:r>
              <a:rPr sz="2000" spc="-60" dirty="0">
                <a:latin typeface="Calibri"/>
                <a:cs typeface="Calibri"/>
              </a:rPr>
              <a:t> </a:t>
            </a:r>
            <a:r>
              <a:rPr sz="2000" dirty="0">
                <a:latin typeface="Calibri"/>
                <a:cs typeface="Calibri"/>
              </a:rPr>
              <a:t>in</a:t>
            </a:r>
            <a:r>
              <a:rPr sz="2000" spc="-55" dirty="0">
                <a:latin typeface="Calibri"/>
                <a:cs typeface="Calibri"/>
              </a:rPr>
              <a:t> </a:t>
            </a:r>
            <a:r>
              <a:rPr sz="2000" dirty="0">
                <a:latin typeface="Calibri"/>
                <a:cs typeface="Calibri"/>
              </a:rPr>
              <a:t>India</a:t>
            </a:r>
            <a:r>
              <a:rPr sz="2000" spc="-45" dirty="0">
                <a:latin typeface="Calibri"/>
                <a:cs typeface="Calibri"/>
              </a:rPr>
              <a:t> </a:t>
            </a:r>
            <a:r>
              <a:rPr sz="2000" dirty="0">
                <a:latin typeface="Calibri"/>
                <a:cs typeface="Calibri"/>
              </a:rPr>
              <a:t>there</a:t>
            </a:r>
            <a:r>
              <a:rPr sz="2000" spc="-45" dirty="0">
                <a:latin typeface="Calibri"/>
                <a:cs typeface="Calibri"/>
              </a:rPr>
              <a:t> </a:t>
            </a:r>
            <a:r>
              <a:rPr sz="2000" dirty="0">
                <a:latin typeface="Calibri"/>
                <a:cs typeface="Calibri"/>
              </a:rPr>
              <a:t>are</a:t>
            </a:r>
            <a:r>
              <a:rPr sz="2000" spc="-60" dirty="0">
                <a:latin typeface="Calibri"/>
                <a:cs typeface="Calibri"/>
              </a:rPr>
              <a:t> </a:t>
            </a:r>
            <a:r>
              <a:rPr sz="2000" dirty="0">
                <a:latin typeface="Calibri"/>
                <a:cs typeface="Calibri"/>
              </a:rPr>
              <a:t>more</a:t>
            </a:r>
            <a:r>
              <a:rPr sz="2000" spc="-50" dirty="0">
                <a:latin typeface="Calibri"/>
                <a:cs typeface="Calibri"/>
              </a:rPr>
              <a:t> </a:t>
            </a:r>
            <a:r>
              <a:rPr sz="2000" dirty="0">
                <a:latin typeface="Calibri"/>
                <a:cs typeface="Calibri"/>
              </a:rPr>
              <a:t>numbers</a:t>
            </a:r>
            <a:r>
              <a:rPr sz="2000" spc="-45" dirty="0">
                <a:latin typeface="Calibri"/>
                <a:cs typeface="Calibri"/>
              </a:rPr>
              <a:t> </a:t>
            </a:r>
            <a:r>
              <a:rPr sz="2000" dirty="0">
                <a:latin typeface="Calibri"/>
                <a:cs typeface="Calibri"/>
              </a:rPr>
              <a:t>of</a:t>
            </a:r>
            <a:r>
              <a:rPr sz="2000" spc="-55" dirty="0">
                <a:latin typeface="Calibri"/>
                <a:cs typeface="Calibri"/>
              </a:rPr>
              <a:t> </a:t>
            </a:r>
            <a:r>
              <a:rPr sz="2000" spc="-30" dirty="0">
                <a:latin typeface="Calibri"/>
                <a:cs typeface="Calibri"/>
              </a:rPr>
              <a:t>restaurants</a:t>
            </a:r>
            <a:r>
              <a:rPr sz="2000" spc="-50" dirty="0">
                <a:latin typeface="Calibri"/>
                <a:cs typeface="Calibri"/>
              </a:rPr>
              <a:t> </a:t>
            </a:r>
            <a:r>
              <a:rPr sz="2000" dirty="0">
                <a:latin typeface="Calibri"/>
                <a:cs typeface="Calibri"/>
              </a:rPr>
              <a:t>i.e.</a:t>
            </a:r>
            <a:r>
              <a:rPr sz="2000" spc="-25" dirty="0">
                <a:latin typeface="Calibri"/>
                <a:cs typeface="Calibri"/>
              </a:rPr>
              <a:t> </a:t>
            </a:r>
            <a:r>
              <a:rPr sz="2000" spc="-10" dirty="0">
                <a:latin typeface="Calibri"/>
                <a:cs typeface="Calibri"/>
              </a:rPr>
              <a:t>8652</a:t>
            </a:r>
            <a:r>
              <a:rPr sz="2000" spc="-80" dirty="0">
                <a:latin typeface="Calibri"/>
                <a:cs typeface="Calibri"/>
              </a:rPr>
              <a:t> </a:t>
            </a:r>
            <a:r>
              <a:rPr sz="2000" dirty="0">
                <a:latin typeface="Calibri"/>
                <a:cs typeface="Calibri"/>
              </a:rPr>
              <a:t>we</a:t>
            </a:r>
            <a:r>
              <a:rPr sz="2000" spc="-40" dirty="0">
                <a:latin typeface="Calibri"/>
                <a:cs typeface="Calibri"/>
              </a:rPr>
              <a:t> </a:t>
            </a:r>
            <a:r>
              <a:rPr sz="2000" dirty="0">
                <a:latin typeface="Calibri"/>
                <a:cs typeface="Calibri"/>
              </a:rPr>
              <a:t>can</a:t>
            </a:r>
            <a:r>
              <a:rPr sz="2000" spc="-40" dirty="0">
                <a:latin typeface="Calibri"/>
                <a:cs typeface="Calibri"/>
              </a:rPr>
              <a:t> </a:t>
            </a:r>
            <a:r>
              <a:rPr sz="2000" spc="-25" dirty="0">
                <a:latin typeface="Calibri"/>
                <a:cs typeface="Calibri"/>
              </a:rPr>
              <a:t>say</a:t>
            </a:r>
            <a:r>
              <a:rPr lang="en-US" sz="2000" spc="-25" dirty="0">
                <a:latin typeface="Calibri"/>
                <a:cs typeface="Calibri"/>
              </a:rPr>
              <a:t> </a:t>
            </a:r>
            <a:r>
              <a:rPr sz="2000" dirty="0">
                <a:latin typeface="Calibri"/>
                <a:cs typeface="Calibri"/>
              </a:rPr>
              <a:t>that</a:t>
            </a:r>
            <a:r>
              <a:rPr sz="2000" spc="-70" dirty="0">
                <a:latin typeface="Calibri"/>
                <a:cs typeface="Calibri"/>
              </a:rPr>
              <a:t> </a:t>
            </a:r>
            <a:r>
              <a:rPr sz="2000" dirty="0">
                <a:latin typeface="Calibri"/>
                <a:cs typeface="Calibri"/>
              </a:rPr>
              <a:t>almost</a:t>
            </a:r>
            <a:r>
              <a:rPr sz="2000" spc="-65" dirty="0">
                <a:latin typeface="Calibri"/>
                <a:cs typeface="Calibri"/>
              </a:rPr>
              <a:t> </a:t>
            </a:r>
            <a:r>
              <a:rPr sz="2000" dirty="0">
                <a:latin typeface="Calibri"/>
                <a:cs typeface="Calibri"/>
              </a:rPr>
              <a:t>90%</a:t>
            </a:r>
            <a:r>
              <a:rPr sz="2000" spc="-5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market</a:t>
            </a:r>
            <a:r>
              <a:rPr sz="2000" spc="-65" dirty="0">
                <a:latin typeface="Calibri"/>
                <a:cs typeface="Calibri"/>
              </a:rPr>
              <a:t> </a:t>
            </a:r>
            <a:r>
              <a:rPr sz="2000" dirty="0">
                <a:latin typeface="Calibri"/>
                <a:cs typeface="Calibri"/>
              </a:rPr>
              <a:t>is</a:t>
            </a:r>
            <a:r>
              <a:rPr sz="2000" spc="-60" dirty="0">
                <a:latin typeface="Calibri"/>
                <a:cs typeface="Calibri"/>
              </a:rPr>
              <a:t> </a:t>
            </a:r>
            <a:r>
              <a:rPr sz="2000" dirty="0">
                <a:latin typeface="Calibri"/>
                <a:cs typeface="Calibri"/>
              </a:rPr>
              <a:t>being</a:t>
            </a:r>
            <a:r>
              <a:rPr sz="2000" spc="-40" dirty="0">
                <a:latin typeface="Calibri"/>
                <a:cs typeface="Calibri"/>
              </a:rPr>
              <a:t> </a:t>
            </a:r>
            <a:r>
              <a:rPr sz="2000" dirty="0">
                <a:latin typeface="Calibri"/>
                <a:cs typeface="Calibri"/>
              </a:rPr>
              <a:t>occupied by</a:t>
            </a:r>
            <a:r>
              <a:rPr sz="2000" spc="-50" dirty="0">
                <a:latin typeface="Calibri"/>
                <a:cs typeface="Calibri"/>
              </a:rPr>
              <a:t> </a:t>
            </a:r>
            <a:r>
              <a:rPr sz="2000" dirty="0">
                <a:latin typeface="Calibri"/>
                <a:cs typeface="Calibri"/>
              </a:rPr>
              <a:t>India</a:t>
            </a:r>
            <a:r>
              <a:rPr sz="2000" spc="-55" dirty="0">
                <a:latin typeface="Calibri"/>
                <a:cs typeface="Calibri"/>
              </a:rPr>
              <a:t> </a:t>
            </a:r>
            <a:r>
              <a:rPr sz="2000" dirty="0">
                <a:latin typeface="Calibri"/>
                <a:cs typeface="Calibri"/>
              </a:rPr>
              <a:t>so</a:t>
            </a:r>
            <a:r>
              <a:rPr sz="2000" spc="-65" dirty="0">
                <a:latin typeface="Calibri"/>
                <a:cs typeface="Calibri"/>
              </a:rPr>
              <a:t> </a:t>
            </a:r>
            <a:r>
              <a:rPr sz="2000" dirty="0">
                <a:latin typeface="Calibri"/>
                <a:cs typeface="Calibri"/>
              </a:rPr>
              <a:t>the</a:t>
            </a:r>
            <a:r>
              <a:rPr sz="2000" spc="-55" dirty="0">
                <a:latin typeface="Calibri"/>
                <a:cs typeface="Calibri"/>
              </a:rPr>
              <a:t> </a:t>
            </a:r>
            <a:r>
              <a:rPr sz="2000" spc="-10" dirty="0">
                <a:latin typeface="Calibri"/>
                <a:cs typeface="Calibri"/>
              </a:rPr>
              <a:t>competition</a:t>
            </a:r>
            <a:r>
              <a:rPr sz="2000" dirty="0">
                <a:latin typeface="Calibri"/>
                <a:cs typeface="Calibri"/>
              </a:rPr>
              <a:t> is</a:t>
            </a:r>
            <a:r>
              <a:rPr sz="2000" spc="-60" dirty="0">
                <a:latin typeface="Calibri"/>
                <a:cs typeface="Calibri"/>
              </a:rPr>
              <a:t> </a:t>
            </a:r>
            <a:r>
              <a:rPr sz="2000" dirty="0">
                <a:latin typeface="Calibri"/>
                <a:cs typeface="Calibri"/>
              </a:rPr>
              <a:t>very</a:t>
            </a:r>
            <a:r>
              <a:rPr sz="2000" spc="-75" dirty="0">
                <a:latin typeface="Calibri"/>
                <a:cs typeface="Calibri"/>
              </a:rPr>
              <a:t> </a:t>
            </a:r>
            <a:r>
              <a:rPr sz="2000" dirty="0">
                <a:latin typeface="Calibri"/>
                <a:cs typeface="Calibri"/>
              </a:rPr>
              <a:t>high</a:t>
            </a:r>
            <a:r>
              <a:rPr sz="2000" spc="-25" dirty="0">
                <a:latin typeface="Calibri"/>
                <a:cs typeface="Calibri"/>
              </a:rPr>
              <a:t> </a:t>
            </a:r>
            <a:r>
              <a:rPr sz="2000" spc="-10" dirty="0">
                <a:latin typeface="Calibri"/>
                <a:cs typeface="Calibri"/>
              </a:rPr>
              <a:t>there.</a:t>
            </a:r>
            <a:endParaRPr sz="2000" dirty="0">
              <a:latin typeface="Calibri"/>
              <a:cs typeface="Calibri"/>
            </a:endParaRPr>
          </a:p>
          <a:p>
            <a:pPr marL="299085" marR="5080" indent="-287020">
              <a:lnSpc>
                <a:spcPct val="100000"/>
              </a:lnSpc>
              <a:buFont typeface="Arial"/>
              <a:buChar char="•"/>
              <a:tabLst>
                <a:tab pos="299085" algn="l"/>
              </a:tabLst>
            </a:pPr>
            <a:r>
              <a:rPr sz="2000" dirty="0">
                <a:latin typeface="Calibri"/>
                <a:cs typeface="Calibri"/>
              </a:rPr>
              <a:t>In</a:t>
            </a:r>
            <a:r>
              <a:rPr sz="2000" spc="-75"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countries</a:t>
            </a:r>
            <a:r>
              <a:rPr sz="2000" spc="-35" dirty="0">
                <a:latin typeface="Calibri"/>
                <a:cs typeface="Calibri"/>
              </a:rPr>
              <a:t> </a:t>
            </a:r>
            <a:r>
              <a:rPr sz="2000" dirty="0">
                <a:latin typeface="Calibri"/>
                <a:cs typeface="Calibri"/>
              </a:rPr>
              <a:t>like</a:t>
            </a:r>
            <a:r>
              <a:rPr sz="2000" spc="-50" dirty="0">
                <a:latin typeface="Calibri"/>
                <a:cs typeface="Calibri"/>
              </a:rPr>
              <a:t> </a:t>
            </a:r>
            <a:r>
              <a:rPr sz="2000" dirty="0">
                <a:latin typeface="Calibri"/>
                <a:cs typeface="Calibri"/>
              </a:rPr>
              <a:t>Canada</a:t>
            </a:r>
            <a:r>
              <a:rPr sz="2000" spc="-45" dirty="0">
                <a:latin typeface="Calibri"/>
                <a:cs typeface="Calibri"/>
              </a:rPr>
              <a:t> </a:t>
            </a:r>
            <a:r>
              <a:rPr sz="2000" dirty="0">
                <a:latin typeface="Calibri"/>
                <a:cs typeface="Calibri"/>
              </a:rPr>
              <a:t>,</a:t>
            </a:r>
            <a:r>
              <a:rPr sz="2000" spc="-55" dirty="0">
                <a:latin typeface="Calibri"/>
                <a:cs typeface="Calibri"/>
              </a:rPr>
              <a:t> </a:t>
            </a:r>
            <a:r>
              <a:rPr lang="en-US" sz="2000" spc="-55" dirty="0">
                <a:latin typeface="Calibri"/>
                <a:cs typeface="Calibri"/>
              </a:rPr>
              <a:t>South Africa, </a:t>
            </a:r>
            <a:r>
              <a:rPr sz="2000" spc="-10" dirty="0">
                <a:latin typeface="Calibri"/>
                <a:cs typeface="Calibri"/>
              </a:rPr>
              <a:t>Indonesia,</a:t>
            </a:r>
            <a:r>
              <a:rPr sz="2000" spc="-80" dirty="0">
                <a:latin typeface="Calibri"/>
                <a:cs typeface="Calibri"/>
              </a:rPr>
              <a:t> </a:t>
            </a:r>
            <a:r>
              <a:rPr sz="2000" dirty="0">
                <a:latin typeface="Calibri"/>
                <a:cs typeface="Calibri"/>
              </a:rPr>
              <a:t>Philippines,</a:t>
            </a:r>
            <a:r>
              <a:rPr sz="2000" spc="-30" dirty="0">
                <a:latin typeface="Calibri"/>
                <a:cs typeface="Calibri"/>
              </a:rPr>
              <a:t> </a:t>
            </a:r>
            <a:r>
              <a:rPr sz="2000" spc="-35" dirty="0">
                <a:latin typeface="Calibri"/>
                <a:cs typeface="Calibri"/>
              </a:rPr>
              <a:t>Qatar,</a:t>
            </a:r>
            <a:r>
              <a:rPr sz="2000" spc="-65" dirty="0">
                <a:latin typeface="Calibri"/>
                <a:cs typeface="Calibri"/>
              </a:rPr>
              <a:t> </a:t>
            </a:r>
            <a:r>
              <a:rPr sz="2000" spc="-10" dirty="0">
                <a:latin typeface="Calibri"/>
                <a:cs typeface="Calibri"/>
              </a:rPr>
              <a:t>Singapore,</a:t>
            </a:r>
            <a:r>
              <a:rPr sz="2000" spc="-3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Sri</a:t>
            </a:r>
            <a:r>
              <a:rPr sz="2000" spc="-70" dirty="0">
                <a:latin typeface="Calibri"/>
                <a:cs typeface="Calibri"/>
              </a:rPr>
              <a:t> </a:t>
            </a:r>
            <a:r>
              <a:rPr sz="2000" dirty="0">
                <a:latin typeface="Calibri"/>
                <a:cs typeface="Calibri"/>
              </a:rPr>
              <a:t>Lanka</a:t>
            </a:r>
            <a:r>
              <a:rPr sz="2000" spc="-65"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market</a:t>
            </a:r>
            <a:r>
              <a:rPr sz="2000" spc="-85" dirty="0">
                <a:latin typeface="Calibri"/>
                <a:cs typeface="Calibri"/>
              </a:rPr>
              <a:t> </a:t>
            </a:r>
            <a:r>
              <a:rPr sz="2000" spc="-10" dirty="0">
                <a:latin typeface="Calibri"/>
                <a:cs typeface="Calibri"/>
              </a:rPr>
              <a:t>saturation </a:t>
            </a:r>
            <a:r>
              <a:rPr sz="2000" dirty="0">
                <a:latin typeface="Calibri"/>
                <a:cs typeface="Calibri"/>
              </a:rPr>
              <a:t>is</a:t>
            </a:r>
            <a:r>
              <a:rPr sz="2000" spc="-45" dirty="0">
                <a:latin typeface="Calibri"/>
                <a:cs typeface="Calibri"/>
              </a:rPr>
              <a:t> </a:t>
            </a:r>
            <a:r>
              <a:rPr sz="2000" dirty="0">
                <a:latin typeface="Calibri"/>
                <a:cs typeface="Calibri"/>
              </a:rPr>
              <a:t>very</a:t>
            </a:r>
            <a:r>
              <a:rPr sz="2000" spc="-75" dirty="0">
                <a:latin typeface="Calibri"/>
                <a:cs typeface="Calibri"/>
              </a:rPr>
              <a:t> </a:t>
            </a:r>
            <a:r>
              <a:rPr sz="2000" dirty="0">
                <a:latin typeface="Calibri"/>
                <a:cs typeface="Calibri"/>
              </a:rPr>
              <a:t>low</a:t>
            </a:r>
            <a:r>
              <a:rPr sz="2000" spc="-30" dirty="0">
                <a:latin typeface="Calibri"/>
                <a:cs typeface="Calibri"/>
              </a:rPr>
              <a:t> </a:t>
            </a:r>
            <a:r>
              <a:rPr sz="2000" dirty="0">
                <a:latin typeface="Calibri"/>
                <a:cs typeface="Calibri"/>
              </a:rPr>
              <a:t>so</a:t>
            </a:r>
            <a:r>
              <a:rPr sz="2000" spc="-60" dirty="0">
                <a:latin typeface="Calibri"/>
                <a:cs typeface="Calibri"/>
              </a:rPr>
              <a:t> </a:t>
            </a:r>
            <a:r>
              <a:rPr lang="en-US" sz="2000" spc="-60" dirty="0">
                <a:latin typeface="Calibri"/>
                <a:cs typeface="Calibri"/>
              </a:rPr>
              <a:t>I’ll</a:t>
            </a:r>
            <a:r>
              <a:rPr sz="2000" spc="-35" dirty="0">
                <a:latin typeface="Calibri"/>
                <a:cs typeface="Calibri"/>
              </a:rPr>
              <a:t> </a:t>
            </a:r>
            <a:r>
              <a:rPr sz="2000" dirty="0">
                <a:latin typeface="Calibri"/>
                <a:cs typeface="Calibri"/>
              </a:rPr>
              <a:t>suggest</a:t>
            </a:r>
            <a:r>
              <a:rPr sz="2000" spc="-65"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open</a:t>
            </a:r>
            <a:r>
              <a:rPr sz="2000" spc="-50" dirty="0">
                <a:latin typeface="Calibri"/>
                <a:cs typeface="Calibri"/>
              </a:rPr>
              <a:t> </a:t>
            </a:r>
            <a:r>
              <a:rPr sz="2000" dirty="0">
                <a:latin typeface="Calibri"/>
                <a:cs typeface="Calibri"/>
              </a:rPr>
              <a:t>up</a:t>
            </a:r>
            <a:r>
              <a:rPr sz="2000" spc="-25" dirty="0">
                <a:latin typeface="Calibri"/>
                <a:cs typeface="Calibri"/>
              </a:rPr>
              <a:t> </a:t>
            </a:r>
            <a:r>
              <a:rPr sz="2000" dirty="0">
                <a:latin typeface="Calibri"/>
                <a:cs typeface="Calibri"/>
              </a:rPr>
              <a:t>for</a:t>
            </a:r>
            <a:r>
              <a:rPr sz="2000" spc="-6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newer</a:t>
            </a:r>
            <a:r>
              <a:rPr sz="2000" spc="-30" dirty="0">
                <a:latin typeface="Calibri"/>
                <a:cs typeface="Calibri"/>
              </a:rPr>
              <a:t> </a:t>
            </a:r>
            <a:r>
              <a:rPr sz="2000" spc="-20" dirty="0">
                <a:latin typeface="Calibri"/>
                <a:cs typeface="Calibri"/>
              </a:rPr>
              <a:t>restaurant</a:t>
            </a:r>
            <a:r>
              <a:rPr sz="2000" spc="-50" dirty="0">
                <a:latin typeface="Calibri"/>
                <a:cs typeface="Calibri"/>
              </a:rPr>
              <a:t> </a:t>
            </a:r>
            <a:r>
              <a:rPr sz="2000" dirty="0">
                <a:latin typeface="Calibri"/>
                <a:cs typeface="Calibri"/>
              </a:rPr>
              <a:t>in</a:t>
            </a:r>
            <a:r>
              <a:rPr sz="2000" spc="-25" dirty="0">
                <a:latin typeface="Calibri"/>
                <a:cs typeface="Calibri"/>
              </a:rPr>
              <a:t> </a:t>
            </a:r>
            <a:r>
              <a:rPr sz="2000" dirty="0">
                <a:latin typeface="Calibri"/>
                <a:cs typeface="Calibri"/>
              </a:rPr>
              <a:t>these</a:t>
            </a:r>
            <a:r>
              <a:rPr sz="2000" spc="-50" dirty="0">
                <a:latin typeface="Calibri"/>
                <a:cs typeface="Calibri"/>
              </a:rPr>
              <a:t> </a:t>
            </a:r>
            <a:r>
              <a:rPr sz="2000" spc="-10" dirty="0">
                <a:latin typeface="Calibri"/>
                <a:cs typeface="Calibri"/>
              </a:rPr>
              <a:t>countries</a:t>
            </a:r>
            <a:r>
              <a:rPr sz="2000" spc="-20" dirty="0">
                <a:latin typeface="Calibri"/>
                <a:cs typeface="Calibri"/>
              </a:rPr>
              <a:t> </a:t>
            </a:r>
            <a:r>
              <a:rPr sz="2000" dirty="0">
                <a:latin typeface="Calibri"/>
                <a:cs typeface="Calibri"/>
              </a:rPr>
              <a:t>as</a:t>
            </a:r>
            <a:r>
              <a:rPr sz="2000" spc="-60" dirty="0">
                <a:latin typeface="Calibri"/>
                <a:cs typeface="Calibri"/>
              </a:rPr>
              <a:t> </a:t>
            </a:r>
            <a:r>
              <a:rPr sz="2000" dirty="0">
                <a:latin typeface="Calibri"/>
                <a:cs typeface="Calibri"/>
              </a:rPr>
              <a:t>by</a:t>
            </a:r>
            <a:r>
              <a:rPr sz="2000" spc="-45" dirty="0">
                <a:latin typeface="Calibri"/>
                <a:cs typeface="Calibri"/>
              </a:rPr>
              <a:t> </a:t>
            </a:r>
            <a:r>
              <a:rPr sz="2000" dirty="0">
                <a:latin typeface="Calibri"/>
                <a:cs typeface="Calibri"/>
              </a:rPr>
              <a:t>opening</a:t>
            </a:r>
            <a:r>
              <a:rPr sz="2000" spc="-15" dirty="0">
                <a:latin typeface="Calibri"/>
                <a:cs typeface="Calibri"/>
              </a:rPr>
              <a:t> </a:t>
            </a:r>
            <a:r>
              <a:rPr sz="2000" spc="-25" dirty="0">
                <a:latin typeface="Calibri"/>
                <a:cs typeface="Calibri"/>
              </a:rPr>
              <a:t>the </a:t>
            </a:r>
            <a:r>
              <a:rPr sz="2000" spc="-30" dirty="0">
                <a:latin typeface="Calibri"/>
                <a:cs typeface="Calibri"/>
              </a:rPr>
              <a:t>restaurants</a:t>
            </a:r>
            <a:r>
              <a:rPr sz="2000" spc="-50" dirty="0">
                <a:latin typeface="Calibri"/>
                <a:cs typeface="Calibri"/>
              </a:rPr>
              <a:t> </a:t>
            </a:r>
            <a:r>
              <a:rPr sz="2000" dirty="0">
                <a:latin typeface="Calibri"/>
                <a:cs typeface="Calibri"/>
              </a:rPr>
              <a:t>we</a:t>
            </a:r>
            <a:r>
              <a:rPr sz="2000" spc="350" dirty="0">
                <a:latin typeface="Calibri"/>
                <a:cs typeface="Calibri"/>
              </a:rPr>
              <a:t> </a:t>
            </a:r>
            <a:r>
              <a:rPr sz="2000" dirty="0">
                <a:latin typeface="Calibri"/>
                <a:cs typeface="Calibri"/>
              </a:rPr>
              <a:t>can</a:t>
            </a:r>
            <a:r>
              <a:rPr sz="2000" spc="-10" dirty="0">
                <a:latin typeface="Calibri"/>
                <a:cs typeface="Calibri"/>
              </a:rPr>
              <a:t> </a:t>
            </a:r>
            <a:r>
              <a:rPr sz="2000" dirty="0">
                <a:latin typeface="Calibri"/>
                <a:cs typeface="Calibri"/>
              </a:rPr>
              <a:t>develop</a:t>
            </a:r>
            <a:r>
              <a:rPr sz="2000" spc="-25" dirty="0">
                <a:latin typeface="Calibri"/>
                <a:cs typeface="Calibri"/>
              </a:rPr>
              <a:t> </a:t>
            </a:r>
            <a:r>
              <a:rPr sz="2000" dirty="0">
                <a:latin typeface="Calibri"/>
                <a:cs typeface="Calibri"/>
              </a:rPr>
              <a:t>a</a:t>
            </a:r>
            <a:r>
              <a:rPr sz="2000" spc="335" dirty="0">
                <a:latin typeface="Calibri"/>
                <a:cs typeface="Calibri"/>
              </a:rPr>
              <a:t> </a:t>
            </a:r>
            <a:r>
              <a:rPr sz="2000" dirty="0">
                <a:latin typeface="Calibri"/>
                <a:cs typeface="Calibri"/>
              </a:rPr>
              <a:t>great</a:t>
            </a:r>
            <a:r>
              <a:rPr sz="2000" spc="-50" dirty="0">
                <a:latin typeface="Calibri"/>
                <a:cs typeface="Calibri"/>
              </a:rPr>
              <a:t> </a:t>
            </a:r>
            <a:r>
              <a:rPr sz="2000" dirty="0">
                <a:latin typeface="Calibri"/>
                <a:cs typeface="Calibri"/>
              </a:rPr>
              <a:t>market</a:t>
            </a:r>
            <a:r>
              <a:rPr sz="2000" spc="-60" dirty="0">
                <a:latin typeface="Calibri"/>
                <a:cs typeface="Calibri"/>
              </a:rPr>
              <a:t> </a:t>
            </a:r>
            <a:r>
              <a:rPr sz="2000" dirty="0">
                <a:latin typeface="Calibri"/>
                <a:cs typeface="Calibri"/>
              </a:rPr>
              <a:t>share</a:t>
            </a:r>
            <a:r>
              <a:rPr sz="2000" spc="-35" dirty="0">
                <a:latin typeface="Calibri"/>
                <a:cs typeface="Calibri"/>
              </a:rPr>
              <a:t> </a:t>
            </a:r>
            <a:r>
              <a:rPr sz="2000" dirty="0">
                <a:latin typeface="Calibri"/>
                <a:cs typeface="Calibri"/>
              </a:rPr>
              <a:t>for</a:t>
            </a:r>
            <a:r>
              <a:rPr sz="2000" spc="-50" dirty="0">
                <a:latin typeface="Calibri"/>
                <a:cs typeface="Calibri"/>
              </a:rPr>
              <a:t> </a:t>
            </a:r>
            <a:r>
              <a:rPr sz="2000" dirty="0">
                <a:latin typeface="Calibri"/>
                <a:cs typeface="Calibri"/>
              </a:rPr>
              <a:t>the</a:t>
            </a:r>
            <a:r>
              <a:rPr sz="2000" spc="-15" dirty="0">
                <a:latin typeface="Calibri"/>
                <a:cs typeface="Calibri"/>
              </a:rPr>
              <a:t> </a:t>
            </a:r>
            <a:r>
              <a:rPr sz="2000" spc="-30" dirty="0">
                <a:latin typeface="Calibri"/>
                <a:cs typeface="Calibri"/>
              </a:rPr>
              <a:t>restaurants</a:t>
            </a:r>
            <a:r>
              <a:rPr sz="2000" spc="-45" dirty="0">
                <a:latin typeface="Calibri"/>
                <a:cs typeface="Calibri"/>
              </a:rPr>
              <a:t> </a:t>
            </a:r>
            <a:r>
              <a:rPr sz="2000" spc="-50" dirty="0">
                <a:latin typeface="Calibri"/>
                <a:cs typeface="Calibri"/>
              </a:rPr>
              <a:t>.</a:t>
            </a:r>
            <a:endParaRPr sz="2000" dirty="0">
              <a:latin typeface="Calibri"/>
              <a:cs typeface="Calibri"/>
            </a:endParaRPr>
          </a:p>
        </p:txBody>
      </p:sp>
      <p:graphicFrame>
        <p:nvGraphicFramePr>
          <p:cNvPr id="44" name="Chart 43">
            <a:extLst>
              <a:ext uri="{FF2B5EF4-FFF2-40B4-BE49-F238E27FC236}">
                <a16:creationId xmlns:a16="http://schemas.microsoft.com/office/drawing/2014/main" id="{24CB55DE-9B71-AE4C-E9C9-AF38D851A4DB}"/>
              </a:ext>
            </a:extLst>
          </p:cNvPr>
          <p:cNvGraphicFramePr>
            <a:graphicFrameLocks/>
          </p:cNvGraphicFramePr>
          <p:nvPr>
            <p:extLst>
              <p:ext uri="{D42A27DB-BD31-4B8C-83A1-F6EECF244321}">
                <p14:modId xmlns:p14="http://schemas.microsoft.com/office/powerpoint/2010/main" val="1981865860"/>
              </p:ext>
            </p:extLst>
          </p:nvPr>
        </p:nvGraphicFramePr>
        <p:xfrm>
          <a:off x="2895501" y="1087395"/>
          <a:ext cx="6297926" cy="3064475"/>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964A7411-803C-210B-E9F3-8D6A7A6FF9CE}"/>
              </a:ext>
            </a:extLst>
          </p:cNvPr>
          <p:cNvSpPr/>
          <p:nvPr/>
        </p:nvSpPr>
        <p:spPr>
          <a:xfrm>
            <a:off x="1234493" y="328771"/>
            <a:ext cx="9619942" cy="707886"/>
          </a:xfrm>
          <a:prstGeom prst="rect">
            <a:avLst/>
          </a:prstGeom>
          <a:noFill/>
        </p:spPr>
        <p:txBody>
          <a:bodyPr wrap="non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N</a:t>
            </a: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umber of restaurants in each country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219201" y="4852161"/>
            <a:ext cx="9677400" cy="936154"/>
          </a:xfrm>
          <a:prstGeom prst="rect">
            <a:avLst/>
          </a:prstGeom>
        </p:spPr>
        <p:txBody>
          <a:bodyPr vert="horz" wrap="square" lIns="0" tIns="12700" rIns="0" bIns="0" rtlCol="0">
            <a:spAutoFit/>
          </a:bodyPr>
          <a:lstStyle/>
          <a:p>
            <a:pPr marL="299085" indent="-286385">
              <a:lnSpc>
                <a:spcPct val="100000"/>
              </a:lnSpc>
              <a:spcBef>
                <a:spcPts val="100"/>
              </a:spcBef>
              <a:buFont typeface="Arial"/>
              <a:buChar char="•"/>
              <a:tabLst>
                <a:tab pos="299085" algn="l"/>
              </a:tabLst>
            </a:pPr>
            <a:r>
              <a:rPr sz="2000" dirty="0">
                <a:latin typeface="Calibri"/>
                <a:cs typeface="Calibri"/>
              </a:rPr>
              <a:t>We</a:t>
            </a:r>
            <a:r>
              <a:rPr sz="2000" spc="-70" dirty="0">
                <a:latin typeface="Calibri"/>
                <a:cs typeface="Calibri"/>
              </a:rPr>
              <a:t> </a:t>
            </a:r>
            <a:r>
              <a:rPr sz="2000" dirty="0">
                <a:latin typeface="Calibri"/>
                <a:cs typeface="Calibri"/>
              </a:rPr>
              <a:t>can</a:t>
            </a:r>
            <a:r>
              <a:rPr sz="2000" spc="-50" dirty="0">
                <a:latin typeface="Calibri"/>
                <a:cs typeface="Calibri"/>
              </a:rPr>
              <a:t> </a:t>
            </a:r>
            <a:r>
              <a:rPr sz="2000" dirty="0">
                <a:latin typeface="Calibri"/>
                <a:cs typeface="Calibri"/>
              </a:rPr>
              <a:t>analyze</a:t>
            </a:r>
            <a:r>
              <a:rPr sz="2000" spc="-65" dirty="0">
                <a:latin typeface="Calibri"/>
                <a:cs typeface="Calibri"/>
              </a:rPr>
              <a:t> </a:t>
            </a:r>
            <a:r>
              <a:rPr sz="2000" dirty="0">
                <a:latin typeface="Calibri"/>
                <a:cs typeface="Calibri"/>
              </a:rPr>
              <a:t>the</a:t>
            </a:r>
            <a:r>
              <a:rPr sz="2000" spc="-60" dirty="0">
                <a:latin typeface="Calibri"/>
                <a:cs typeface="Calibri"/>
              </a:rPr>
              <a:t> </a:t>
            </a:r>
            <a:r>
              <a:rPr sz="2000" dirty="0">
                <a:latin typeface="Calibri"/>
                <a:cs typeface="Calibri"/>
              </a:rPr>
              <a:t>trend</a:t>
            </a:r>
            <a:r>
              <a:rPr sz="2000" spc="-7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predict</a:t>
            </a:r>
            <a:r>
              <a:rPr sz="2000" spc="-45" dirty="0">
                <a:latin typeface="Calibri"/>
                <a:cs typeface="Calibri"/>
              </a:rPr>
              <a:t> </a:t>
            </a:r>
            <a:r>
              <a:rPr sz="2000" dirty="0">
                <a:latin typeface="Calibri"/>
                <a:cs typeface="Calibri"/>
              </a:rPr>
              <a:t>in</a:t>
            </a:r>
            <a:r>
              <a:rPr sz="2000" spc="-55"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next</a:t>
            </a:r>
            <a:r>
              <a:rPr sz="2000" spc="-80" dirty="0">
                <a:latin typeface="Calibri"/>
                <a:cs typeface="Calibri"/>
              </a:rPr>
              <a:t> </a:t>
            </a:r>
            <a:r>
              <a:rPr sz="2000" dirty="0">
                <a:latin typeface="Calibri"/>
                <a:cs typeface="Calibri"/>
              </a:rPr>
              <a:t>year</a:t>
            </a:r>
            <a:r>
              <a:rPr sz="2000" spc="-65" dirty="0">
                <a:latin typeface="Calibri"/>
                <a:cs typeface="Calibri"/>
              </a:rPr>
              <a:t> </a:t>
            </a:r>
            <a:r>
              <a:rPr sz="2000" dirty="0">
                <a:latin typeface="Calibri"/>
                <a:cs typeface="Calibri"/>
              </a:rPr>
              <a:t>how</a:t>
            </a:r>
            <a:r>
              <a:rPr sz="2000" spc="-65" dirty="0">
                <a:latin typeface="Calibri"/>
                <a:cs typeface="Calibri"/>
              </a:rPr>
              <a:t> </a:t>
            </a:r>
            <a:r>
              <a:rPr sz="2000" dirty="0">
                <a:latin typeface="Calibri"/>
                <a:cs typeface="Calibri"/>
              </a:rPr>
              <a:t>many</a:t>
            </a:r>
            <a:r>
              <a:rPr sz="2000" spc="-75" dirty="0">
                <a:latin typeface="Calibri"/>
                <a:cs typeface="Calibri"/>
              </a:rPr>
              <a:t> </a:t>
            </a:r>
            <a:r>
              <a:rPr sz="2000" spc="-30" dirty="0">
                <a:latin typeface="Calibri"/>
                <a:cs typeface="Calibri"/>
              </a:rPr>
              <a:t>restaurants</a:t>
            </a:r>
            <a:r>
              <a:rPr sz="2000" spc="-70" dirty="0">
                <a:latin typeface="Calibri"/>
                <a:cs typeface="Calibri"/>
              </a:rPr>
              <a:t> </a:t>
            </a:r>
            <a:r>
              <a:rPr sz="2000" dirty="0">
                <a:latin typeface="Calibri"/>
                <a:cs typeface="Calibri"/>
              </a:rPr>
              <a:t>will</a:t>
            </a:r>
            <a:r>
              <a:rPr sz="2000" spc="-60" dirty="0">
                <a:latin typeface="Calibri"/>
                <a:cs typeface="Calibri"/>
              </a:rPr>
              <a:t> </a:t>
            </a:r>
            <a:r>
              <a:rPr sz="2000" spc="-20" dirty="0">
                <a:latin typeface="Calibri"/>
                <a:cs typeface="Calibri"/>
              </a:rPr>
              <a:t>open</a:t>
            </a:r>
            <a:r>
              <a:rPr lang="en-US" sz="2000" dirty="0">
                <a:latin typeface="Calibri"/>
                <a:cs typeface="Calibri"/>
              </a:rPr>
              <a:t> </a:t>
            </a:r>
            <a:r>
              <a:rPr sz="2000" spc="-10" dirty="0">
                <a:latin typeface="Calibri"/>
                <a:cs typeface="Calibri"/>
              </a:rPr>
              <a:t>probably.</a:t>
            </a:r>
            <a:endParaRPr sz="2000" dirty="0">
              <a:latin typeface="Calibri"/>
              <a:cs typeface="Calibri"/>
            </a:endParaRPr>
          </a:p>
          <a:p>
            <a:pPr marL="299085" indent="-286385">
              <a:lnSpc>
                <a:spcPct val="100000"/>
              </a:lnSpc>
              <a:buFont typeface="Arial"/>
              <a:buChar char="•"/>
              <a:tabLst>
                <a:tab pos="299085" algn="l"/>
              </a:tabLst>
            </a:pPr>
            <a:r>
              <a:rPr sz="2000" dirty="0">
                <a:latin typeface="Calibri"/>
                <a:cs typeface="Calibri"/>
              </a:rPr>
              <a:t>As</a:t>
            </a:r>
            <a:r>
              <a:rPr sz="2000" spc="-75" dirty="0">
                <a:latin typeface="Calibri"/>
                <a:cs typeface="Calibri"/>
              </a:rPr>
              <a:t> </a:t>
            </a:r>
            <a:r>
              <a:rPr sz="2000" dirty="0">
                <a:latin typeface="Calibri"/>
                <a:cs typeface="Calibri"/>
              </a:rPr>
              <a:t>from</a:t>
            </a:r>
            <a:r>
              <a:rPr sz="2000" spc="-50" dirty="0">
                <a:latin typeface="Calibri"/>
                <a:cs typeface="Calibri"/>
              </a:rPr>
              <a:t> </a:t>
            </a:r>
            <a:r>
              <a:rPr sz="2000" dirty="0">
                <a:latin typeface="Calibri"/>
                <a:cs typeface="Calibri"/>
              </a:rPr>
              <a:t>2015</a:t>
            </a:r>
            <a:r>
              <a:rPr sz="2000" spc="-45" dirty="0">
                <a:latin typeface="Calibri"/>
                <a:cs typeface="Calibri"/>
              </a:rPr>
              <a:t> </a:t>
            </a:r>
            <a:r>
              <a:rPr sz="2000" dirty="0">
                <a:latin typeface="Calibri"/>
                <a:cs typeface="Calibri"/>
              </a:rPr>
              <a:t>we</a:t>
            </a:r>
            <a:r>
              <a:rPr sz="2000" spc="-40" dirty="0">
                <a:latin typeface="Calibri"/>
                <a:cs typeface="Calibri"/>
              </a:rPr>
              <a:t> </a:t>
            </a:r>
            <a:r>
              <a:rPr sz="2000" dirty="0">
                <a:latin typeface="Calibri"/>
                <a:cs typeface="Calibri"/>
              </a:rPr>
              <a:t>see</a:t>
            </a:r>
            <a:r>
              <a:rPr sz="2000" spc="-55" dirty="0">
                <a:latin typeface="Calibri"/>
                <a:cs typeface="Calibri"/>
              </a:rPr>
              <a:t> </a:t>
            </a:r>
            <a:r>
              <a:rPr sz="2000" dirty="0">
                <a:latin typeface="Calibri"/>
                <a:cs typeface="Calibri"/>
              </a:rPr>
              <a:t>a</a:t>
            </a:r>
            <a:r>
              <a:rPr sz="2000" spc="-50" dirty="0">
                <a:latin typeface="Calibri"/>
                <a:cs typeface="Calibri"/>
              </a:rPr>
              <a:t> </a:t>
            </a:r>
            <a:r>
              <a:rPr sz="2000" dirty="0">
                <a:latin typeface="Calibri"/>
                <a:cs typeface="Calibri"/>
              </a:rPr>
              <a:t>steady</a:t>
            </a:r>
            <a:r>
              <a:rPr sz="2000" spc="-65" dirty="0">
                <a:latin typeface="Calibri"/>
                <a:cs typeface="Calibri"/>
              </a:rPr>
              <a:t> </a:t>
            </a:r>
            <a:r>
              <a:rPr sz="2000" dirty="0">
                <a:latin typeface="Calibri"/>
                <a:cs typeface="Calibri"/>
              </a:rPr>
              <a:t>growth</a:t>
            </a:r>
            <a:r>
              <a:rPr sz="2000" spc="-30" dirty="0">
                <a:latin typeface="Calibri"/>
                <a:cs typeface="Calibri"/>
              </a:rPr>
              <a:t> </a:t>
            </a:r>
            <a:r>
              <a:rPr sz="2000" dirty="0">
                <a:latin typeface="Calibri"/>
                <a:cs typeface="Calibri"/>
              </a:rPr>
              <a:t>over</a:t>
            </a:r>
            <a:r>
              <a:rPr sz="2000" spc="-50" dirty="0">
                <a:latin typeface="Calibri"/>
                <a:cs typeface="Calibri"/>
              </a:rPr>
              <a:t> </a:t>
            </a:r>
            <a:r>
              <a:rPr sz="2000" dirty="0">
                <a:latin typeface="Calibri"/>
                <a:cs typeface="Calibri"/>
              </a:rPr>
              <a:t>the</a:t>
            </a:r>
            <a:r>
              <a:rPr sz="2000" spc="-35" dirty="0">
                <a:latin typeface="Calibri"/>
                <a:cs typeface="Calibri"/>
              </a:rPr>
              <a:t> </a:t>
            </a:r>
            <a:r>
              <a:rPr sz="2000" dirty="0">
                <a:latin typeface="Calibri"/>
                <a:cs typeface="Calibri"/>
              </a:rPr>
              <a:t>years</a:t>
            </a:r>
            <a:r>
              <a:rPr sz="2000" spc="-65" dirty="0">
                <a:latin typeface="Calibri"/>
                <a:cs typeface="Calibri"/>
              </a:rPr>
              <a:t> </a:t>
            </a:r>
            <a:r>
              <a:rPr sz="2000" dirty="0">
                <a:latin typeface="Calibri"/>
                <a:cs typeface="Calibri"/>
              </a:rPr>
              <a:t>so</a:t>
            </a:r>
            <a:r>
              <a:rPr sz="2000" spc="-60" dirty="0">
                <a:latin typeface="Calibri"/>
                <a:cs typeface="Calibri"/>
              </a:rPr>
              <a:t> </a:t>
            </a:r>
            <a:r>
              <a:rPr sz="2000" dirty="0">
                <a:latin typeface="Calibri"/>
                <a:cs typeface="Calibri"/>
              </a:rPr>
              <a:t>we</a:t>
            </a:r>
            <a:r>
              <a:rPr sz="2000" spc="-40" dirty="0">
                <a:latin typeface="Calibri"/>
                <a:cs typeface="Calibri"/>
              </a:rPr>
              <a:t> </a:t>
            </a:r>
            <a:r>
              <a:rPr sz="2000" dirty="0">
                <a:latin typeface="Calibri"/>
                <a:cs typeface="Calibri"/>
              </a:rPr>
              <a:t>can</a:t>
            </a:r>
            <a:r>
              <a:rPr sz="2000" spc="-35" dirty="0">
                <a:latin typeface="Calibri"/>
                <a:cs typeface="Calibri"/>
              </a:rPr>
              <a:t> </a:t>
            </a:r>
            <a:r>
              <a:rPr sz="2000" dirty="0">
                <a:latin typeface="Calibri"/>
                <a:cs typeface="Calibri"/>
              </a:rPr>
              <a:t>say</a:t>
            </a:r>
            <a:r>
              <a:rPr sz="2000" spc="-6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trend</a:t>
            </a:r>
            <a:r>
              <a:rPr sz="2000" spc="-35" dirty="0">
                <a:latin typeface="Calibri"/>
                <a:cs typeface="Calibri"/>
              </a:rPr>
              <a:t> </a:t>
            </a:r>
            <a:r>
              <a:rPr sz="2000" dirty="0">
                <a:latin typeface="Calibri"/>
                <a:cs typeface="Calibri"/>
              </a:rPr>
              <a:t>will</a:t>
            </a:r>
            <a:r>
              <a:rPr sz="2000" spc="-30" dirty="0">
                <a:latin typeface="Calibri"/>
                <a:cs typeface="Calibri"/>
              </a:rPr>
              <a:t> </a:t>
            </a:r>
            <a:r>
              <a:rPr sz="2000" spc="-10" dirty="0">
                <a:latin typeface="Calibri"/>
                <a:cs typeface="Calibri"/>
              </a:rPr>
              <a:t>continue</a:t>
            </a:r>
            <a:r>
              <a:rPr sz="1800" spc="-10" dirty="0">
                <a:latin typeface="Calibri"/>
                <a:cs typeface="Calibri"/>
              </a:rPr>
              <a:t>.</a:t>
            </a:r>
            <a:endParaRPr sz="1800" dirty="0">
              <a:latin typeface="Calibri"/>
              <a:cs typeface="Calibri"/>
            </a:endParaRPr>
          </a:p>
        </p:txBody>
      </p:sp>
      <p:sp>
        <p:nvSpPr>
          <p:cNvPr id="41" name="Rectangle 40">
            <a:extLst>
              <a:ext uri="{FF2B5EF4-FFF2-40B4-BE49-F238E27FC236}">
                <a16:creationId xmlns:a16="http://schemas.microsoft.com/office/drawing/2014/main" id="{9EEAD614-0BB7-6E82-679B-0DE7722DD11D}"/>
              </a:ext>
            </a:extLst>
          </p:cNvPr>
          <p:cNvSpPr/>
          <p:nvPr/>
        </p:nvSpPr>
        <p:spPr>
          <a:xfrm>
            <a:off x="2768807" y="178096"/>
            <a:ext cx="6654386" cy="1323439"/>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Total count of restaurants </a:t>
            </a:r>
          </a:p>
          <a:p>
            <a:pPr algn="ctr"/>
            <a:r>
              <a:rPr lang="en-GB" sz="4000" b="1"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opened per year</a:t>
            </a:r>
            <a:endPar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endParaRPr>
          </a:p>
        </p:txBody>
      </p:sp>
      <p:graphicFrame>
        <p:nvGraphicFramePr>
          <p:cNvPr id="2" name="Chart 1">
            <a:extLst>
              <a:ext uri="{FF2B5EF4-FFF2-40B4-BE49-F238E27FC236}">
                <a16:creationId xmlns:a16="http://schemas.microsoft.com/office/drawing/2014/main" id="{003CBC33-F247-73C9-D7F4-E08354408C91}"/>
              </a:ext>
            </a:extLst>
          </p:cNvPr>
          <p:cNvGraphicFramePr>
            <a:graphicFrameLocks/>
          </p:cNvGraphicFramePr>
          <p:nvPr>
            <p:extLst>
              <p:ext uri="{D42A27DB-BD31-4B8C-83A1-F6EECF244321}">
                <p14:modId xmlns:p14="http://schemas.microsoft.com/office/powerpoint/2010/main" val="272107117"/>
              </p:ext>
            </p:extLst>
          </p:nvPr>
        </p:nvGraphicFramePr>
        <p:xfrm>
          <a:off x="2299789" y="1643560"/>
          <a:ext cx="7123404" cy="295456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422653" y="4260595"/>
            <a:ext cx="9324340" cy="1671955"/>
          </a:xfrm>
          <a:prstGeom prst="rect">
            <a:avLst/>
          </a:prstGeom>
        </p:spPr>
        <p:txBody>
          <a:bodyPr vert="horz" wrap="square" lIns="0" tIns="12700" rIns="0" bIns="0" rtlCol="0">
            <a:spAutoFit/>
          </a:bodyPr>
          <a:lstStyle/>
          <a:p>
            <a:pPr marL="299085" marR="313690" indent="-287020">
              <a:lnSpc>
                <a:spcPct val="100000"/>
              </a:lnSpc>
              <a:spcBef>
                <a:spcPts val="100"/>
              </a:spcBef>
              <a:buFont typeface="Arial"/>
              <a:buChar char="•"/>
              <a:tabLst>
                <a:tab pos="299085" algn="l"/>
              </a:tabLst>
            </a:pPr>
            <a:r>
              <a:rPr sz="1800" dirty="0">
                <a:latin typeface="Calibri"/>
                <a:cs typeface="Calibri"/>
              </a:rPr>
              <a:t>Indonesia</a:t>
            </a:r>
            <a:r>
              <a:rPr sz="1800" spc="-50" dirty="0">
                <a:latin typeface="Calibri"/>
                <a:cs typeface="Calibri"/>
              </a:rPr>
              <a:t> </a:t>
            </a:r>
            <a:r>
              <a:rPr sz="1800" dirty="0">
                <a:latin typeface="Calibri"/>
                <a:cs typeface="Calibri"/>
              </a:rPr>
              <a:t>has</a:t>
            </a:r>
            <a:r>
              <a:rPr sz="1800" spc="-45" dirty="0">
                <a:latin typeface="Calibri"/>
                <a:cs typeface="Calibri"/>
              </a:rPr>
              <a:t> </a:t>
            </a:r>
            <a:r>
              <a:rPr sz="1800" dirty="0">
                <a:latin typeface="Calibri"/>
                <a:cs typeface="Calibri"/>
              </a:rPr>
              <a:t>the</a:t>
            </a:r>
            <a:r>
              <a:rPr sz="1800" spc="-50" dirty="0">
                <a:latin typeface="Calibri"/>
                <a:cs typeface="Calibri"/>
              </a:rPr>
              <a:t> </a:t>
            </a:r>
            <a:r>
              <a:rPr sz="1800" dirty="0">
                <a:latin typeface="Calibri"/>
                <a:cs typeface="Calibri"/>
              </a:rPr>
              <a:t>highest</a:t>
            </a:r>
            <a:r>
              <a:rPr sz="1800" spc="-40" dirty="0">
                <a:latin typeface="Calibri"/>
                <a:cs typeface="Calibri"/>
              </a:rPr>
              <a:t> </a:t>
            </a:r>
            <a:r>
              <a:rPr sz="1800" dirty="0">
                <a:latin typeface="Calibri"/>
                <a:cs typeface="Calibri"/>
              </a:rPr>
              <a:t>voters</a:t>
            </a:r>
            <a:r>
              <a:rPr sz="1800" spc="310" dirty="0">
                <a:latin typeface="Calibri"/>
                <a:cs typeface="Calibri"/>
              </a:rPr>
              <a:t> </a:t>
            </a:r>
            <a:r>
              <a:rPr sz="1800" dirty="0">
                <a:latin typeface="Calibri"/>
                <a:cs typeface="Calibri"/>
              </a:rPr>
              <a:t>with</a:t>
            </a:r>
            <a:r>
              <a:rPr sz="1800" spc="345" dirty="0">
                <a:latin typeface="Calibri"/>
                <a:cs typeface="Calibri"/>
              </a:rPr>
              <a:t> </a:t>
            </a:r>
            <a:r>
              <a:rPr sz="1800" dirty="0">
                <a:latin typeface="Calibri"/>
                <a:cs typeface="Calibri"/>
              </a:rPr>
              <a:t>772</a:t>
            </a:r>
            <a:r>
              <a:rPr sz="1800" spc="-40" dirty="0">
                <a:latin typeface="Calibri"/>
                <a:cs typeface="Calibri"/>
              </a:rPr>
              <a:t> </a:t>
            </a:r>
            <a:r>
              <a:rPr sz="1800" dirty="0">
                <a:latin typeface="Calibri"/>
                <a:cs typeface="Calibri"/>
              </a:rPr>
              <a:t>votes</a:t>
            </a:r>
            <a:r>
              <a:rPr sz="1800" spc="325" dirty="0">
                <a:latin typeface="Calibri"/>
                <a:cs typeface="Calibri"/>
              </a:rPr>
              <a:t> </a:t>
            </a:r>
            <a:r>
              <a:rPr sz="1800" spc="-10" dirty="0">
                <a:latin typeface="Calibri"/>
                <a:cs typeface="Calibri"/>
              </a:rPr>
              <a:t>followed</a:t>
            </a:r>
            <a:r>
              <a:rPr sz="1800" spc="-15" dirty="0">
                <a:latin typeface="Calibri"/>
                <a:cs typeface="Calibri"/>
              </a:rPr>
              <a:t> </a:t>
            </a:r>
            <a:r>
              <a:rPr sz="1800" dirty="0">
                <a:latin typeface="Calibri"/>
                <a:cs typeface="Calibri"/>
              </a:rPr>
              <a:t>by</a:t>
            </a:r>
            <a:r>
              <a:rPr sz="1800" spc="-35" dirty="0">
                <a:latin typeface="Calibri"/>
                <a:cs typeface="Calibri"/>
              </a:rPr>
              <a:t> </a:t>
            </a:r>
            <a:r>
              <a:rPr sz="1800" dirty="0">
                <a:latin typeface="Calibri"/>
                <a:cs typeface="Calibri"/>
              </a:rPr>
              <a:t>UAE</a:t>
            </a:r>
            <a:r>
              <a:rPr sz="1800" spc="-70" dirty="0">
                <a:latin typeface="Calibri"/>
                <a:cs typeface="Calibri"/>
              </a:rPr>
              <a:t> </a:t>
            </a:r>
            <a:r>
              <a:rPr sz="1800" dirty="0">
                <a:latin typeface="Calibri"/>
                <a:cs typeface="Calibri"/>
              </a:rPr>
              <a:t>and</a:t>
            </a:r>
            <a:r>
              <a:rPr sz="1800" spc="-20" dirty="0">
                <a:latin typeface="Calibri"/>
                <a:cs typeface="Calibri"/>
              </a:rPr>
              <a:t> </a:t>
            </a:r>
            <a:r>
              <a:rPr sz="1800" dirty="0">
                <a:latin typeface="Calibri"/>
                <a:cs typeface="Calibri"/>
              </a:rPr>
              <a:t>USA</a:t>
            </a:r>
            <a:r>
              <a:rPr sz="1800" spc="285" dirty="0">
                <a:latin typeface="Calibri"/>
                <a:cs typeface="Calibri"/>
              </a:rPr>
              <a:t> </a:t>
            </a:r>
            <a:r>
              <a:rPr sz="1800" dirty="0">
                <a:latin typeface="Calibri"/>
                <a:cs typeface="Calibri"/>
              </a:rPr>
              <a:t>with</a:t>
            </a:r>
            <a:r>
              <a:rPr sz="1800" spc="345" dirty="0">
                <a:latin typeface="Calibri"/>
                <a:cs typeface="Calibri"/>
              </a:rPr>
              <a:t> </a:t>
            </a:r>
            <a:r>
              <a:rPr sz="1800" dirty="0">
                <a:latin typeface="Calibri"/>
                <a:cs typeface="Calibri"/>
              </a:rPr>
              <a:t>494</a:t>
            </a:r>
            <a:r>
              <a:rPr sz="1800" spc="-45" dirty="0">
                <a:latin typeface="Calibri"/>
                <a:cs typeface="Calibri"/>
              </a:rPr>
              <a:t> </a:t>
            </a:r>
            <a:r>
              <a:rPr sz="1800" dirty="0">
                <a:latin typeface="Calibri"/>
                <a:cs typeface="Calibri"/>
              </a:rPr>
              <a:t>and</a:t>
            </a:r>
            <a:r>
              <a:rPr sz="1800" spc="-35" dirty="0">
                <a:latin typeface="Calibri"/>
                <a:cs typeface="Calibri"/>
              </a:rPr>
              <a:t> </a:t>
            </a:r>
            <a:r>
              <a:rPr sz="1800" spc="-25" dirty="0">
                <a:latin typeface="Calibri"/>
                <a:cs typeface="Calibri"/>
              </a:rPr>
              <a:t>42</a:t>
            </a:r>
            <a:r>
              <a:rPr lang="en-US" sz="1800" spc="-25" dirty="0">
                <a:latin typeface="Calibri"/>
                <a:cs typeface="Calibri"/>
              </a:rPr>
              <a:t>8</a:t>
            </a:r>
            <a:r>
              <a:rPr sz="1800" spc="-25" dirty="0">
                <a:latin typeface="Calibri"/>
                <a:cs typeface="Calibri"/>
              </a:rPr>
              <a:t> </a:t>
            </a:r>
            <a:r>
              <a:rPr sz="1800" dirty="0">
                <a:latin typeface="Calibri"/>
                <a:cs typeface="Calibri"/>
              </a:rPr>
              <a:t>votes</a:t>
            </a:r>
            <a:r>
              <a:rPr sz="1800" spc="310" dirty="0">
                <a:latin typeface="Calibri"/>
                <a:cs typeface="Calibri"/>
              </a:rPr>
              <a:t> </a:t>
            </a:r>
            <a:r>
              <a:rPr sz="1800" spc="-10" dirty="0">
                <a:latin typeface="Calibri"/>
                <a:cs typeface="Calibri"/>
              </a:rPr>
              <a:t>respectively</a:t>
            </a:r>
            <a:r>
              <a:rPr sz="1800" spc="-30" dirty="0">
                <a:latin typeface="Calibri"/>
                <a:cs typeface="Calibri"/>
              </a:rPr>
              <a:t> </a:t>
            </a:r>
            <a:r>
              <a:rPr sz="1800" spc="-50" dirty="0">
                <a:latin typeface="Calibri"/>
                <a:cs typeface="Calibri"/>
              </a:rPr>
              <a:t>.</a:t>
            </a:r>
            <a:endParaRPr sz="1800" dirty="0">
              <a:latin typeface="Calibri"/>
              <a:cs typeface="Calibri"/>
            </a:endParaRPr>
          </a:p>
          <a:p>
            <a:pPr marL="299085" indent="-286385">
              <a:lnSpc>
                <a:spcPct val="100000"/>
              </a:lnSpc>
              <a:buFont typeface="Arial"/>
              <a:buChar char="•"/>
              <a:tabLst>
                <a:tab pos="299085" algn="l"/>
              </a:tabLst>
            </a:pPr>
            <a:r>
              <a:rPr sz="1800" dirty="0">
                <a:latin typeface="Calibri"/>
                <a:cs typeface="Calibri"/>
              </a:rPr>
              <a:t>Brazil</a:t>
            </a:r>
            <a:r>
              <a:rPr sz="1800" spc="-75" dirty="0">
                <a:latin typeface="Calibri"/>
                <a:cs typeface="Calibri"/>
              </a:rPr>
              <a:t> </a:t>
            </a:r>
            <a:r>
              <a:rPr sz="1800" dirty="0">
                <a:latin typeface="Calibri"/>
                <a:cs typeface="Calibri"/>
              </a:rPr>
              <a:t>has</a:t>
            </a:r>
            <a:r>
              <a:rPr sz="1800" spc="-70" dirty="0">
                <a:latin typeface="Calibri"/>
                <a:cs typeface="Calibri"/>
              </a:rPr>
              <a:t> </a:t>
            </a:r>
            <a:r>
              <a:rPr sz="1800" dirty="0">
                <a:latin typeface="Calibri"/>
                <a:cs typeface="Calibri"/>
              </a:rPr>
              <a:t>the</a:t>
            </a:r>
            <a:r>
              <a:rPr sz="1800" spc="-55" dirty="0">
                <a:latin typeface="Calibri"/>
                <a:cs typeface="Calibri"/>
              </a:rPr>
              <a:t> </a:t>
            </a:r>
            <a:r>
              <a:rPr sz="1800" dirty="0">
                <a:latin typeface="Calibri"/>
                <a:cs typeface="Calibri"/>
              </a:rPr>
              <a:t>least</a:t>
            </a:r>
            <a:r>
              <a:rPr sz="1800" spc="-85" dirty="0">
                <a:latin typeface="Calibri"/>
                <a:cs typeface="Calibri"/>
              </a:rPr>
              <a:t> </a:t>
            </a:r>
            <a:r>
              <a:rPr sz="1800" dirty="0">
                <a:latin typeface="Calibri"/>
                <a:cs typeface="Calibri"/>
              </a:rPr>
              <a:t>number</a:t>
            </a:r>
            <a:r>
              <a:rPr sz="1800" spc="-60" dirty="0">
                <a:latin typeface="Calibri"/>
                <a:cs typeface="Calibri"/>
              </a:rPr>
              <a:t> </a:t>
            </a:r>
            <a:r>
              <a:rPr sz="1800" dirty="0">
                <a:latin typeface="Calibri"/>
                <a:cs typeface="Calibri"/>
              </a:rPr>
              <a:t>of</a:t>
            </a:r>
            <a:r>
              <a:rPr sz="1800" spc="-75" dirty="0">
                <a:latin typeface="Calibri"/>
                <a:cs typeface="Calibri"/>
              </a:rPr>
              <a:t> </a:t>
            </a:r>
            <a:r>
              <a:rPr sz="1800" dirty="0">
                <a:latin typeface="Calibri"/>
                <a:cs typeface="Calibri"/>
              </a:rPr>
              <a:t>voters</a:t>
            </a:r>
            <a:r>
              <a:rPr sz="1800" spc="-70" dirty="0">
                <a:latin typeface="Calibri"/>
                <a:cs typeface="Calibri"/>
              </a:rPr>
              <a:t> </a:t>
            </a:r>
            <a:r>
              <a:rPr sz="1800" dirty="0">
                <a:latin typeface="Calibri"/>
                <a:cs typeface="Calibri"/>
              </a:rPr>
              <a:t>with</a:t>
            </a:r>
            <a:r>
              <a:rPr sz="1800" spc="-50" dirty="0">
                <a:latin typeface="Calibri"/>
                <a:cs typeface="Calibri"/>
              </a:rPr>
              <a:t> </a:t>
            </a:r>
            <a:r>
              <a:rPr sz="1800" dirty="0">
                <a:latin typeface="Calibri"/>
                <a:cs typeface="Calibri"/>
              </a:rPr>
              <a:t>20</a:t>
            </a:r>
            <a:r>
              <a:rPr sz="1800" spc="-70" dirty="0">
                <a:latin typeface="Calibri"/>
                <a:cs typeface="Calibri"/>
              </a:rPr>
              <a:t> </a:t>
            </a:r>
            <a:r>
              <a:rPr sz="1800" spc="-10" dirty="0">
                <a:latin typeface="Calibri"/>
                <a:cs typeface="Calibri"/>
              </a:rPr>
              <a:t>votes.</a:t>
            </a:r>
            <a:endParaRPr sz="1800" dirty="0">
              <a:latin typeface="Calibri"/>
              <a:cs typeface="Calibri"/>
            </a:endParaRPr>
          </a:p>
          <a:p>
            <a:pPr marL="299085" marR="5080" indent="-287020">
              <a:lnSpc>
                <a:spcPct val="100000"/>
              </a:lnSpc>
              <a:buFont typeface="Arial"/>
              <a:buChar char="•"/>
              <a:tabLst>
                <a:tab pos="299085" algn="l"/>
              </a:tabLst>
            </a:pPr>
            <a:r>
              <a:rPr sz="1800" dirty="0">
                <a:latin typeface="Calibri"/>
                <a:cs typeface="Calibri"/>
              </a:rPr>
              <a:t>Here</a:t>
            </a:r>
            <a:r>
              <a:rPr sz="1800" spc="-55" dirty="0">
                <a:latin typeface="Calibri"/>
                <a:cs typeface="Calibri"/>
              </a:rPr>
              <a:t> </a:t>
            </a:r>
            <a:r>
              <a:rPr sz="1800" dirty="0">
                <a:latin typeface="Calibri"/>
                <a:cs typeface="Calibri"/>
              </a:rPr>
              <a:t>we</a:t>
            </a:r>
            <a:r>
              <a:rPr sz="1800" spc="-50" dirty="0">
                <a:latin typeface="Calibri"/>
                <a:cs typeface="Calibri"/>
              </a:rPr>
              <a:t> </a:t>
            </a:r>
            <a:r>
              <a:rPr sz="1800" dirty="0">
                <a:latin typeface="Calibri"/>
                <a:cs typeface="Calibri"/>
              </a:rPr>
              <a:t>can</a:t>
            </a:r>
            <a:r>
              <a:rPr sz="1800" spc="-60" dirty="0">
                <a:latin typeface="Calibri"/>
                <a:cs typeface="Calibri"/>
              </a:rPr>
              <a:t> </a:t>
            </a:r>
            <a:r>
              <a:rPr sz="1800" spc="-10" dirty="0">
                <a:latin typeface="Calibri"/>
                <a:cs typeface="Calibri"/>
              </a:rPr>
              <a:t>observe</a:t>
            </a:r>
            <a:r>
              <a:rPr sz="1800" spc="-75" dirty="0">
                <a:latin typeface="Calibri"/>
                <a:cs typeface="Calibri"/>
              </a:rPr>
              <a:t> </a:t>
            </a:r>
            <a:r>
              <a:rPr sz="1800" dirty="0">
                <a:latin typeface="Calibri"/>
                <a:cs typeface="Calibri"/>
              </a:rPr>
              <a:t>that</a:t>
            </a:r>
            <a:r>
              <a:rPr sz="1800" spc="-80" dirty="0">
                <a:latin typeface="Calibri"/>
                <a:cs typeface="Calibri"/>
              </a:rPr>
              <a:t> </a:t>
            </a:r>
            <a:r>
              <a:rPr sz="1800" dirty="0">
                <a:latin typeface="Calibri"/>
                <a:cs typeface="Calibri"/>
              </a:rPr>
              <a:t>even</a:t>
            </a:r>
            <a:r>
              <a:rPr sz="1800" spc="-55" dirty="0">
                <a:latin typeface="Calibri"/>
                <a:cs typeface="Calibri"/>
              </a:rPr>
              <a:t> </a:t>
            </a:r>
            <a:r>
              <a:rPr sz="1800" dirty="0">
                <a:latin typeface="Calibri"/>
                <a:cs typeface="Calibri"/>
              </a:rPr>
              <a:t>the</a:t>
            </a:r>
            <a:r>
              <a:rPr sz="1800" spc="-60" dirty="0">
                <a:latin typeface="Calibri"/>
                <a:cs typeface="Calibri"/>
              </a:rPr>
              <a:t> </a:t>
            </a:r>
            <a:r>
              <a:rPr sz="1800" dirty="0">
                <a:latin typeface="Calibri"/>
                <a:cs typeface="Calibri"/>
              </a:rPr>
              <a:t>countries</a:t>
            </a:r>
            <a:r>
              <a:rPr sz="1800" spc="-55" dirty="0">
                <a:latin typeface="Calibri"/>
                <a:cs typeface="Calibri"/>
              </a:rPr>
              <a:t> </a:t>
            </a:r>
            <a:r>
              <a:rPr sz="1800" dirty="0">
                <a:latin typeface="Calibri"/>
                <a:cs typeface="Calibri"/>
              </a:rPr>
              <a:t>having</a:t>
            </a:r>
            <a:r>
              <a:rPr sz="1800" spc="-70" dirty="0">
                <a:latin typeface="Calibri"/>
                <a:cs typeface="Calibri"/>
              </a:rPr>
              <a:t> </a:t>
            </a:r>
            <a:r>
              <a:rPr sz="1800" dirty="0">
                <a:latin typeface="Calibri"/>
                <a:cs typeface="Calibri"/>
              </a:rPr>
              <a:t>highest</a:t>
            </a:r>
            <a:r>
              <a:rPr sz="1800" spc="-80" dirty="0">
                <a:latin typeface="Calibri"/>
                <a:cs typeface="Calibri"/>
              </a:rPr>
              <a:t> </a:t>
            </a:r>
            <a:r>
              <a:rPr sz="1800" dirty="0">
                <a:latin typeface="Calibri"/>
                <a:cs typeface="Calibri"/>
              </a:rPr>
              <a:t>number</a:t>
            </a:r>
            <a:r>
              <a:rPr sz="1800" spc="-70" dirty="0">
                <a:latin typeface="Calibri"/>
                <a:cs typeface="Calibri"/>
              </a:rPr>
              <a:t> </a:t>
            </a:r>
            <a:r>
              <a:rPr sz="1800" dirty="0">
                <a:latin typeface="Calibri"/>
                <a:cs typeface="Calibri"/>
              </a:rPr>
              <a:t>of</a:t>
            </a:r>
            <a:r>
              <a:rPr sz="1800" spc="-60" dirty="0">
                <a:latin typeface="Calibri"/>
                <a:cs typeface="Calibri"/>
              </a:rPr>
              <a:t> </a:t>
            </a:r>
            <a:r>
              <a:rPr sz="1800" spc="-30" dirty="0">
                <a:latin typeface="Calibri"/>
                <a:cs typeface="Calibri"/>
              </a:rPr>
              <a:t>restaurants</a:t>
            </a:r>
            <a:r>
              <a:rPr sz="1800" spc="-75" dirty="0">
                <a:latin typeface="Calibri"/>
                <a:cs typeface="Calibri"/>
              </a:rPr>
              <a:t> </a:t>
            </a:r>
            <a:r>
              <a:rPr sz="1800" dirty="0">
                <a:latin typeface="Calibri"/>
                <a:cs typeface="Calibri"/>
              </a:rPr>
              <a:t>the</a:t>
            </a:r>
            <a:r>
              <a:rPr sz="1800" spc="-65" dirty="0">
                <a:latin typeface="Calibri"/>
                <a:cs typeface="Calibri"/>
              </a:rPr>
              <a:t> </a:t>
            </a:r>
            <a:r>
              <a:rPr sz="1800" dirty="0">
                <a:latin typeface="Calibri"/>
                <a:cs typeface="Calibri"/>
              </a:rPr>
              <a:t>number</a:t>
            </a:r>
            <a:r>
              <a:rPr sz="1800" spc="-70" dirty="0">
                <a:latin typeface="Calibri"/>
                <a:cs typeface="Calibri"/>
              </a:rPr>
              <a:t> </a:t>
            </a:r>
            <a:r>
              <a:rPr sz="1800" spc="-25" dirty="0">
                <a:latin typeface="Calibri"/>
                <a:cs typeface="Calibri"/>
              </a:rPr>
              <a:t>of </a:t>
            </a:r>
            <a:r>
              <a:rPr sz="1800" dirty="0">
                <a:latin typeface="Calibri"/>
                <a:cs typeface="Calibri"/>
              </a:rPr>
              <a:t>voters</a:t>
            </a:r>
            <a:r>
              <a:rPr sz="1800" spc="-70" dirty="0">
                <a:latin typeface="Calibri"/>
                <a:cs typeface="Calibri"/>
              </a:rPr>
              <a:t> </a:t>
            </a:r>
            <a:r>
              <a:rPr sz="1800" dirty="0">
                <a:latin typeface="Calibri"/>
                <a:cs typeface="Calibri"/>
              </a:rPr>
              <a:t>can</a:t>
            </a:r>
            <a:r>
              <a:rPr sz="1800" spc="-35" dirty="0">
                <a:latin typeface="Calibri"/>
                <a:cs typeface="Calibri"/>
              </a:rPr>
              <a:t> </a:t>
            </a:r>
            <a:r>
              <a:rPr sz="1800" dirty="0">
                <a:latin typeface="Calibri"/>
                <a:cs typeface="Calibri"/>
              </a:rPr>
              <a:t>less</a:t>
            </a:r>
            <a:r>
              <a:rPr sz="1800" spc="-75" dirty="0">
                <a:latin typeface="Calibri"/>
                <a:cs typeface="Calibri"/>
              </a:rPr>
              <a:t> </a:t>
            </a:r>
            <a:r>
              <a:rPr sz="1800" dirty="0">
                <a:latin typeface="Calibri"/>
                <a:cs typeface="Calibri"/>
              </a:rPr>
              <a:t>or</a:t>
            </a:r>
            <a:r>
              <a:rPr sz="1800" spc="-55" dirty="0">
                <a:latin typeface="Calibri"/>
                <a:cs typeface="Calibri"/>
              </a:rPr>
              <a:t> </a:t>
            </a:r>
            <a:r>
              <a:rPr sz="1800" dirty="0">
                <a:latin typeface="Calibri"/>
                <a:cs typeface="Calibri"/>
              </a:rPr>
              <a:t>vice</a:t>
            </a:r>
            <a:r>
              <a:rPr sz="1800" spc="-50" dirty="0">
                <a:latin typeface="Calibri"/>
                <a:cs typeface="Calibri"/>
              </a:rPr>
              <a:t> </a:t>
            </a:r>
            <a:r>
              <a:rPr sz="1800" spc="-10" dirty="0">
                <a:latin typeface="Calibri"/>
                <a:cs typeface="Calibri"/>
              </a:rPr>
              <a:t>versa.</a:t>
            </a:r>
            <a:endParaRPr sz="1800" dirty="0">
              <a:latin typeface="Calibri"/>
              <a:cs typeface="Calibri"/>
            </a:endParaRPr>
          </a:p>
          <a:p>
            <a:pPr marL="299085" indent="-286385">
              <a:lnSpc>
                <a:spcPct val="100000"/>
              </a:lnSpc>
              <a:buFont typeface="Arial"/>
              <a:buChar char="•"/>
              <a:tabLst>
                <a:tab pos="299085" algn="l"/>
              </a:tabLst>
            </a:pPr>
            <a:r>
              <a:rPr sz="1800" dirty="0">
                <a:latin typeface="Calibri"/>
                <a:cs typeface="Calibri"/>
              </a:rPr>
              <a:t>For</a:t>
            </a:r>
            <a:r>
              <a:rPr sz="1800" spc="-95" dirty="0">
                <a:latin typeface="Calibri"/>
                <a:cs typeface="Calibri"/>
              </a:rPr>
              <a:t> </a:t>
            </a:r>
            <a:r>
              <a:rPr sz="1800" spc="-10" dirty="0">
                <a:latin typeface="Calibri"/>
                <a:cs typeface="Calibri"/>
              </a:rPr>
              <a:t>example,</a:t>
            </a:r>
            <a:r>
              <a:rPr sz="1800" spc="-40" dirty="0">
                <a:latin typeface="Calibri"/>
                <a:cs typeface="Calibri"/>
              </a:rPr>
              <a:t> </a:t>
            </a:r>
            <a:r>
              <a:rPr sz="1800" dirty="0">
                <a:latin typeface="Calibri"/>
                <a:cs typeface="Calibri"/>
              </a:rPr>
              <a:t>India</a:t>
            </a:r>
            <a:r>
              <a:rPr sz="1800" spc="-35" dirty="0">
                <a:latin typeface="Calibri"/>
                <a:cs typeface="Calibri"/>
              </a:rPr>
              <a:t> </a:t>
            </a:r>
            <a:r>
              <a:rPr sz="1800" dirty="0">
                <a:latin typeface="Calibri"/>
                <a:cs typeface="Calibri"/>
              </a:rPr>
              <a:t>has</a:t>
            </a:r>
            <a:r>
              <a:rPr sz="1800" spc="-55" dirty="0">
                <a:latin typeface="Calibri"/>
                <a:cs typeface="Calibri"/>
              </a:rPr>
              <a:t> </a:t>
            </a:r>
            <a:r>
              <a:rPr sz="1800" dirty="0">
                <a:latin typeface="Calibri"/>
                <a:cs typeface="Calibri"/>
              </a:rPr>
              <a:t>the</a:t>
            </a:r>
            <a:r>
              <a:rPr sz="1800" spc="-35" dirty="0">
                <a:latin typeface="Calibri"/>
                <a:cs typeface="Calibri"/>
              </a:rPr>
              <a:t> </a:t>
            </a:r>
            <a:r>
              <a:rPr sz="1800" dirty="0">
                <a:latin typeface="Calibri"/>
                <a:cs typeface="Calibri"/>
              </a:rPr>
              <a:t>highest</a:t>
            </a:r>
            <a:r>
              <a:rPr sz="1800" spc="-60" dirty="0">
                <a:latin typeface="Calibri"/>
                <a:cs typeface="Calibri"/>
              </a:rPr>
              <a:t> </a:t>
            </a:r>
            <a:r>
              <a:rPr sz="1800" dirty="0">
                <a:latin typeface="Calibri"/>
                <a:cs typeface="Calibri"/>
              </a:rPr>
              <a:t>number</a:t>
            </a:r>
            <a:r>
              <a:rPr sz="1800" spc="-45" dirty="0">
                <a:latin typeface="Calibri"/>
                <a:cs typeface="Calibri"/>
              </a:rPr>
              <a:t> </a:t>
            </a:r>
            <a:r>
              <a:rPr sz="1800" dirty="0">
                <a:latin typeface="Calibri"/>
                <a:cs typeface="Calibri"/>
              </a:rPr>
              <a:t>of</a:t>
            </a:r>
            <a:r>
              <a:rPr sz="1800" spc="-50" dirty="0">
                <a:latin typeface="Calibri"/>
                <a:cs typeface="Calibri"/>
              </a:rPr>
              <a:t> </a:t>
            </a:r>
            <a:r>
              <a:rPr sz="1800" spc="-30" dirty="0">
                <a:latin typeface="Calibri"/>
                <a:cs typeface="Calibri"/>
              </a:rPr>
              <a:t>restaurants</a:t>
            </a:r>
            <a:r>
              <a:rPr sz="1800" spc="-45" dirty="0">
                <a:latin typeface="Calibri"/>
                <a:cs typeface="Calibri"/>
              </a:rPr>
              <a:t> </a:t>
            </a:r>
            <a:r>
              <a:rPr sz="1800" spc="-40" dirty="0">
                <a:latin typeface="Calibri"/>
                <a:cs typeface="Calibri"/>
              </a:rPr>
              <a:t>8652</a:t>
            </a:r>
            <a:r>
              <a:rPr sz="1800" spc="-70" dirty="0">
                <a:latin typeface="Calibri"/>
                <a:cs typeface="Calibri"/>
              </a:rPr>
              <a:t> </a:t>
            </a:r>
            <a:r>
              <a:rPr sz="1800" dirty="0">
                <a:latin typeface="Calibri"/>
                <a:cs typeface="Calibri"/>
              </a:rPr>
              <a:t>but</a:t>
            </a:r>
            <a:r>
              <a:rPr sz="1800" spc="-45" dirty="0">
                <a:latin typeface="Calibri"/>
                <a:cs typeface="Calibri"/>
              </a:rPr>
              <a:t> </a:t>
            </a:r>
            <a:r>
              <a:rPr sz="1800" dirty="0">
                <a:latin typeface="Calibri"/>
                <a:cs typeface="Calibri"/>
              </a:rPr>
              <a:t>it</a:t>
            </a:r>
            <a:r>
              <a:rPr sz="1800" spc="-50" dirty="0">
                <a:latin typeface="Calibri"/>
                <a:cs typeface="Calibri"/>
              </a:rPr>
              <a:t> </a:t>
            </a:r>
            <a:r>
              <a:rPr sz="1800" dirty="0">
                <a:latin typeface="Calibri"/>
                <a:cs typeface="Calibri"/>
              </a:rPr>
              <a:t>only</a:t>
            </a:r>
            <a:r>
              <a:rPr sz="1800" spc="-45" dirty="0">
                <a:latin typeface="Calibri"/>
                <a:cs typeface="Calibri"/>
              </a:rPr>
              <a:t> </a:t>
            </a:r>
            <a:r>
              <a:rPr sz="1800" dirty="0">
                <a:latin typeface="Calibri"/>
                <a:cs typeface="Calibri"/>
              </a:rPr>
              <a:t>have</a:t>
            </a:r>
            <a:r>
              <a:rPr sz="1800" spc="-65" dirty="0">
                <a:latin typeface="Calibri"/>
                <a:cs typeface="Calibri"/>
              </a:rPr>
              <a:t> </a:t>
            </a:r>
            <a:r>
              <a:rPr sz="1800" dirty="0">
                <a:latin typeface="Calibri"/>
                <a:cs typeface="Calibri"/>
              </a:rPr>
              <a:t>137</a:t>
            </a:r>
            <a:r>
              <a:rPr sz="1800" spc="-50" dirty="0">
                <a:latin typeface="Calibri"/>
                <a:cs typeface="Calibri"/>
              </a:rPr>
              <a:t> </a:t>
            </a:r>
            <a:r>
              <a:rPr sz="1800" spc="-10" dirty="0">
                <a:latin typeface="Calibri"/>
                <a:cs typeface="Calibri"/>
              </a:rPr>
              <a:t>votes.</a:t>
            </a:r>
            <a:endParaRPr sz="1800" dirty="0">
              <a:latin typeface="Calibri"/>
              <a:cs typeface="Calibri"/>
            </a:endParaRPr>
          </a:p>
        </p:txBody>
      </p:sp>
      <p:graphicFrame>
        <p:nvGraphicFramePr>
          <p:cNvPr id="47" name="Chart 46">
            <a:extLst>
              <a:ext uri="{FF2B5EF4-FFF2-40B4-BE49-F238E27FC236}">
                <a16:creationId xmlns:a16="http://schemas.microsoft.com/office/drawing/2014/main" id="{F76CF36E-203B-6A77-F75B-CE5F1FCC91CD}"/>
              </a:ext>
            </a:extLst>
          </p:cNvPr>
          <p:cNvGraphicFramePr>
            <a:graphicFrameLocks/>
          </p:cNvGraphicFramePr>
          <p:nvPr>
            <p:extLst>
              <p:ext uri="{D42A27DB-BD31-4B8C-83A1-F6EECF244321}">
                <p14:modId xmlns:p14="http://schemas.microsoft.com/office/powerpoint/2010/main" val="3394853070"/>
              </p:ext>
            </p:extLst>
          </p:nvPr>
        </p:nvGraphicFramePr>
        <p:xfrm>
          <a:off x="2886010" y="1583347"/>
          <a:ext cx="6397625" cy="2677248"/>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87502D63-5F84-ADA2-4C8F-6BAC2CFD61CE}"/>
              </a:ext>
            </a:extLst>
          </p:cNvPr>
          <p:cNvSpPr/>
          <p:nvPr/>
        </p:nvSpPr>
        <p:spPr>
          <a:xfrm>
            <a:off x="3176491" y="259908"/>
            <a:ext cx="5630066" cy="1323439"/>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Country wise average </a:t>
            </a:r>
          </a:p>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Number of voters</a:t>
            </a:r>
            <a:endPar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object 304"/>
          <p:cNvSpPr txBox="1">
            <a:spLocks noGrp="1"/>
          </p:cNvSpPr>
          <p:nvPr>
            <p:ph type="title"/>
          </p:nvPr>
        </p:nvSpPr>
        <p:spPr>
          <a:xfrm>
            <a:off x="2669523" y="401470"/>
            <a:ext cx="6852953" cy="629018"/>
          </a:xfrm>
          <a:prstGeom prst="rect">
            <a:avLst/>
          </a:prstGeom>
        </p:spPr>
        <p:txBody>
          <a:bodyPr vert="horz" wrap="square" lIns="0" tIns="13335" rIns="0" bIns="0" rtlCol="0">
            <a:spAutoFit/>
          </a:bodyPr>
          <a:lstStyle/>
          <a:p>
            <a:pPr marL="12700">
              <a:lnSpc>
                <a:spcPct val="100000"/>
              </a:lnSpc>
              <a:spcBef>
                <a:spcPts val="105"/>
              </a:spcBef>
            </a:pPr>
            <a:r>
              <a:rPr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ea typeface="+mn-ea"/>
                <a:cs typeface="Arial" panose="020B0604020202020204" pitchFamily="34" charset="0"/>
              </a:rPr>
              <a:t>Country vs Average Rating</a:t>
            </a:r>
          </a:p>
        </p:txBody>
      </p:sp>
      <p:sp>
        <p:nvSpPr>
          <p:cNvPr id="309" name="object 309"/>
          <p:cNvSpPr txBox="1"/>
          <p:nvPr/>
        </p:nvSpPr>
        <p:spPr>
          <a:xfrm>
            <a:off x="1602739" y="4434966"/>
            <a:ext cx="8540750" cy="1550670"/>
          </a:xfrm>
          <a:prstGeom prst="rect">
            <a:avLst/>
          </a:prstGeom>
        </p:spPr>
        <p:txBody>
          <a:bodyPr vert="horz" wrap="square" lIns="0" tIns="12700" rIns="0" bIns="0" rtlCol="0">
            <a:spAutoFit/>
          </a:bodyPr>
          <a:lstStyle/>
          <a:p>
            <a:pPr marL="299085" indent="-286385">
              <a:lnSpc>
                <a:spcPct val="100000"/>
              </a:lnSpc>
              <a:spcBef>
                <a:spcPts val="100"/>
              </a:spcBef>
              <a:buFont typeface="Arial"/>
              <a:buChar char="•"/>
              <a:tabLst>
                <a:tab pos="299085" algn="l"/>
              </a:tabLst>
            </a:pPr>
            <a:r>
              <a:rPr sz="2000" spc="-10" dirty="0">
                <a:latin typeface="Calibri"/>
                <a:cs typeface="Calibri"/>
              </a:rPr>
              <a:t>Philippines</a:t>
            </a:r>
            <a:r>
              <a:rPr sz="2000" spc="-30" dirty="0">
                <a:latin typeface="Calibri"/>
                <a:cs typeface="Calibri"/>
              </a:rPr>
              <a:t> </a:t>
            </a:r>
            <a:r>
              <a:rPr sz="2000" dirty="0">
                <a:latin typeface="Calibri"/>
                <a:cs typeface="Calibri"/>
              </a:rPr>
              <a:t>has</a:t>
            </a:r>
            <a:r>
              <a:rPr sz="2000" spc="-60"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highest</a:t>
            </a:r>
            <a:r>
              <a:rPr sz="2000" spc="-65" dirty="0">
                <a:latin typeface="Calibri"/>
                <a:cs typeface="Calibri"/>
              </a:rPr>
              <a:t> </a:t>
            </a:r>
            <a:r>
              <a:rPr sz="2000" dirty="0">
                <a:latin typeface="Calibri"/>
                <a:cs typeface="Calibri"/>
              </a:rPr>
              <a:t>rating</a:t>
            </a:r>
            <a:r>
              <a:rPr sz="2000" spc="-40" dirty="0">
                <a:latin typeface="Calibri"/>
                <a:cs typeface="Calibri"/>
              </a:rPr>
              <a:t> </a:t>
            </a:r>
            <a:r>
              <a:rPr sz="2000" dirty="0">
                <a:latin typeface="Calibri"/>
                <a:cs typeface="Calibri"/>
              </a:rPr>
              <a:t>of</a:t>
            </a:r>
            <a:r>
              <a:rPr sz="2000" spc="-80" dirty="0">
                <a:latin typeface="Calibri"/>
                <a:cs typeface="Calibri"/>
              </a:rPr>
              <a:t> </a:t>
            </a:r>
            <a:r>
              <a:rPr sz="2000" dirty="0">
                <a:latin typeface="Calibri"/>
                <a:cs typeface="Calibri"/>
              </a:rPr>
              <a:t>4.47</a:t>
            </a:r>
            <a:r>
              <a:rPr sz="2000" spc="-95" dirty="0">
                <a:latin typeface="Calibri"/>
                <a:cs typeface="Calibri"/>
              </a:rPr>
              <a:t> </a:t>
            </a:r>
            <a:r>
              <a:rPr sz="2000" spc="-20" dirty="0">
                <a:latin typeface="Calibri"/>
                <a:cs typeface="Calibri"/>
              </a:rPr>
              <a:t>followed</a:t>
            </a:r>
            <a:r>
              <a:rPr sz="2000" spc="-75" dirty="0">
                <a:latin typeface="Calibri"/>
                <a:cs typeface="Calibri"/>
              </a:rPr>
              <a:t> </a:t>
            </a:r>
            <a:r>
              <a:rPr sz="2000" dirty="0">
                <a:latin typeface="Calibri"/>
                <a:cs typeface="Calibri"/>
              </a:rPr>
              <a:t>by</a:t>
            </a:r>
            <a:r>
              <a:rPr sz="2000" spc="-65" dirty="0">
                <a:latin typeface="Calibri"/>
                <a:cs typeface="Calibri"/>
              </a:rPr>
              <a:t> </a:t>
            </a:r>
            <a:r>
              <a:rPr sz="2000" dirty="0">
                <a:latin typeface="Calibri"/>
                <a:cs typeface="Calibri"/>
              </a:rPr>
              <a:t>Indonesia</a:t>
            </a:r>
            <a:r>
              <a:rPr sz="2000" spc="-100" dirty="0">
                <a:latin typeface="Calibri"/>
                <a:cs typeface="Calibri"/>
              </a:rPr>
              <a:t> </a:t>
            </a:r>
            <a:r>
              <a:rPr sz="2000" dirty="0">
                <a:latin typeface="Calibri"/>
                <a:cs typeface="Calibri"/>
              </a:rPr>
              <a:t>with</a:t>
            </a:r>
            <a:r>
              <a:rPr sz="2000" spc="-45" dirty="0">
                <a:latin typeface="Calibri"/>
                <a:cs typeface="Calibri"/>
              </a:rPr>
              <a:t> </a:t>
            </a:r>
            <a:r>
              <a:rPr sz="2000" dirty="0">
                <a:latin typeface="Calibri"/>
                <a:cs typeface="Calibri"/>
              </a:rPr>
              <a:t>a</a:t>
            </a:r>
            <a:r>
              <a:rPr sz="2000" spc="-55" dirty="0">
                <a:latin typeface="Calibri"/>
                <a:cs typeface="Calibri"/>
              </a:rPr>
              <a:t> </a:t>
            </a:r>
            <a:r>
              <a:rPr sz="2000" dirty="0">
                <a:latin typeface="Calibri"/>
                <a:cs typeface="Calibri"/>
              </a:rPr>
              <a:t>rating</a:t>
            </a:r>
            <a:r>
              <a:rPr sz="2000" spc="-50" dirty="0">
                <a:latin typeface="Calibri"/>
                <a:cs typeface="Calibri"/>
              </a:rPr>
              <a:t> </a:t>
            </a:r>
            <a:r>
              <a:rPr sz="2000" spc="-25" dirty="0">
                <a:latin typeface="Calibri"/>
                <a:cs typeface="Calibri"/>
              </a:rPr>
              <a:t>of</a:t>
            </a:r>
            <a:endParaRPr sz="2000">
              <a:latin typeface="Calibri"/>
              <a:cs typeface="Calibri"/>
            </a:endParaRPr>
          </a:p>
          <a:p>
            <a:pPr marL="299085">
              <a:lnSpc>
                <a:spcPct val="100000"/>
              </a:lnSpc>
            </a:pPr>
            <a:r>
              <a:rPr sz="2000" spc="-10" dirty="0">
                <a:latin typeface="Calibri"/>
                <a:cs typeface="Calibri"/>
              </a:rPr>
              <a:t>4.30.</a:t>
            </a:r>
            <a:endParaRPr sz="2000">
              <a:latin typeface="Calibri"/>
              <a:cs typeface="Calibri"/>
            </a:endParaRPr>
          </a:p>
          <a:p>
            <a:pPr marL="299085" indent="-286385">
              <a:lnSpc>
                <a:spcPct val="100000"/>
              </a:lnSpc>
              <a:spcBef>
                <a:spcPts val="5"/>
              </a:spcBef>
              <a:buFont typeface="Arial"/>
              <a:buChar char="•"/>
              <a:tabLst>
                <a:tab pos="299085" algn="l"/>
              </a:tabLst>
            </a:pPr>
            <a:r>
              <a:rPr sz="2000" dirty="0">
                <a:latin typeface="Calibri"/>
                <a:cs typeface="Calibri"/>
              </a:rPr>
              <a:t>Canada</a:t>
            </a:r>
            <a:r>
              <a:rPr sz="2000" spc="-90" dirty="0">
                <a:latin typeface="Calibri"/>
                <a:cs typeface="Calibri"/>
              </a:rPr>
              <a:t> </a:t>
            </a:r>
            <a:r>
              <a:rPr sz="2000" dirty="0">
                <a:latin typeface="Calibri"/>
                <a:cs typeface="Calibri"/>
              </a:rPr>
              <a:t>and</a:t>
            </a:r>
            <a:r>
              <a:rPr sz="2000" spc="-85" dirty="0">
                <a:latin typeface="Calibri"/>
                <a:cs typeface="Calibri"/>
              </a:rPr>
              <a:t> </a:t>
            </a:r>
            <a:r>
              <a:rPr sz="2000" dirty="0">
                <a:latin typeface="Calibri"/>
                <a:cs typeface="Calibri"/>
              </a:rPr>
              <a:t>Singapore</a:t>
            </a:r>
            <a:r>
              <a:rPr sz="2000" spc="-95" dirty="0">
                <a:latin typeface="Calibri"/>
                <a:cs typeface="Calibri"/>
              </a:rPr>
              <a:t> </a:t>
            </a:r>
            <a:r>
              <a:rPr sz="2000" dirty="0">
                <a:latin typeface="Calibri"/>
                <a:cs typeface="Calibri"/>
              </a:rPr>
              <a:t>has</a:t>
            </a:r>
            <a:r>
              <a:rPr sz="2000" spc="-60" dirty="0">
                <a:latin typeface="Calibri"/>
                <a:cs typeface="Calibri"/>
              </a:rPr>
              <a:t> </a:t>
            </a:r>
            <a:r>
              <a:rPr sz="2000" dirty="0">
                <a:latin typeface="Calibri"/>
                <a:cs typeface="Calibri"/>
              </a:rPr>
              <a:t>least</a:t>
            </a:r>
            <a:r>
              <a:rPr sz="2000" spc="-50" dirty="0">
                <a:latin typeface="Calibri"/>
                <a:cs typeface="Calibri"/>
              </a:rPr>
              <a:t> </a:t>
            </a:r>
            <a:r>
              <a:rPr sz="2000" dirty="0">
                <a:latin typeface="Calibri"/>
                <a:cs typeface="Calibri"/>
              </a:rPr>
              <a:t>rating</a:t>
            </a:r>
            <a:r>
              <a:rPr sz="2000" spc="-65" dirty="0">
                <a:latin typeface="Calibri"/>
                <a:cs typeface="Calibri"/>
              </a:rPr>
              <a:t> </a:t>
            </a:r>
            <a:r>
              <a:rPr sz="2000" dirty="0">
                <a:latin typeface="Calibri"/>
                <a:cs typeface="Calibri"/>
              </a:rPr>
              <a:t>with</a:t>
            </a:r>
            <a:r>
              <a:rPr sz="2000" spc="-65" dirty="0">
                <a:latin typeface="Calibri"/>
                <a:cs typeface="Calibri"/>
              </a:rPr>
              <a:t> </a:t>
            </a:r>
            <a:r>
              <a:rPr sz="2000" dirty="0">
                <a:latin typeface="Calibri"/>
                <a:cs typeface="Calibri"/>
              </a:rPr>
              <a:t>3.58</a:t>
            </a:r>
            <a:r>
              <a:rPr sz="2000" spc="-110" dirty="0">
                <a:latin typeface="Calibri"/>
                <a:cs typeface="Calibri"/>
              </a:rPr>
              <a:t> </a:t>
            </a:r>
            <a:r>
              <a:rPr sz="2000" spc="-10" dirty="0">
                <a:latin typeface="Calibri"/>
                <a:cs typeface="Calibri"/>
              </a:rPr>
              <a:t>rating.</a:t>
            </a:r>
            <a:endParaRPr sz="2000">
              <a:latin typeface="Calibri"/>
              <a:cs typeface="Calibri"/>
            </a:endParaRPr>
          </a:p>
          <a:p>
            <a:pPr marL="299085" marR="5080" indent="-287020">
              <a:lnSpc>
                <a:spcPct val="100000"/>
              </a:lnSpc>
              <a:buFont typeface="Arial"/>
              <a:buChar char="•"/>
              <a:tabLst>
                <a:tab pos="299085" algn="l"/>
              </a:tabLst>
            </a:pPr>
            <a:r>
              <a:rPr sz="2000" dirty="0">
                <a:latin typeface="Calibri"/>
                <a:cs typeface="Calibri"/>
              </a:rPr>
              <a:t>The</a:t>
            </a:r>
            <a:r>
              <a:rPr sz="2000" spc="-60" dirty="0">
                <a:latin typeface="Calibri"/>
                <a:cs typeface="Calibri"/>
              </a:rPr>
              <a:t> </a:t>
            </a:r>
            <a:r>
              <a:rPr sz="2000" spc="-10" dirty="0">
                <a:latin typeface="Calibri"/>
                <a:cs typeface="Calibri"/>
              </a:rPr>
              <a:t>ratings</a:t>
            </a:r>
            <a:r>
              <a:rPr sz="2000" spc="-55" dirty="0">
                <a:latin typeface="Calibri"/>
                <a:cs typeface="Calibri"/>
              </a:rPr>
              <a:t> </a:t>
            </a:r>
            <a:r>
              <a:rPr sz="2000" dirty="0">
                <a:latin typeface="Calibri"/>
                <a:cs typeface="Calibri"/>
              </a:rPr>
              <a:t>are</a:t>
            </a:r>
            <a:r>
              <a:rPr sz="2000" spc="-60" dirty="0">
                <a:latin typeface="Calibri"/>
                <a:cs typeface="Calibri"/>
              </a:rPr>
              <a:t> </a:t>
            </a:r>
            <a:r>
              <a:rPr sz="2000" dirty="0">
                <a:latin typeface="Calibri"/>
                <a:cs typeface="Calibri"/>
              </a:rPr>
              <a:t>quite</a:t>
            </a:r>
            <a:r>
              <a:rPr sz="2000" spc="-60" dirty="0">
                <a:latin typeface="Calibri"/>
                <a:cs typeface="Calibri"/>
              </a:rPr>
              <a:t> </a:t>
            </a:r>
            <a:r>
              <a:rPr sz="2000" dirty="0">
                <a:latin typeface="Calibri"/>
                <a:cs typeface="Calibri"/>
              </a:rPr>
              <a:t>good</a:t>
            </a:r>
            <a:r>
              <a:rPr sz="2000" spc="-105" dirty="0">
                <a:latin typeface="Calibri"/>
                <a:cs typeface="Calibri"/>
              </a:rPr>
              <a:t> </a:t>
            </a:r>
            <a:r>
              <a:rPr sz="2000" dirty="0">
                <a:latin typeface="Calibri"/>
                <a:cs typeface="Calibri"/>
              </a:rPr>
              <a:t>for</a:t>
            </a:r>
            <a:r>
              <a:rPr sz="2000" spc="-80" dirty="0">
                <a:latin typeface="Calibri"/>
                <a:cs typeface="Calibri"/>
              </a:rPr>
              <a:t> </a:t>
            </a:r>
            <a:r>
              <a:rPr sz="2000" dirty="0">
                <a:latin typeface="Calibri"/>
                <a:cs typeface="Calibri"/>
              </a:rPr>
              <a:t>these</a:t>
            </a:r>
            <a:r>
              <a:rPr sz="2000" spc="-45" dirty="0">
                <a:latin typeface="Calibri"/>
                <a:cs typeface="Calibri"/>
              </a:rPr>
              <a:t> </a:t>
            </a:r>
            <a:r>
              <a:rPr sz="2000" spc="-10" dirty="0">
                <a:latin typeface="Calibri"/>
                <a:cs typeface="Calibri"/>
              </a:rPr>
              <a:t>countries</a:t>
            </a:r>
            <a:r>
              <a:rPr sz="2000" spc="-60" dirty="0">
                <a:latin typeface="Calibri"/>
                <a:cs typeface="Calibri"/>
              </a:rPr>
              <a:t> </a:t>
            </a:r>
            <a:r>
              <a:rPr sz="2000" dirty="0">
                <a:latin typeface="Calibri"/>
                <a:cs typeface="Calibri"/>
              </a:rPr>
              <a:t>so</a:t>
            </a:r>
            <a:r>
              <a:rPr sz="2000" spc="-55" dirty="0">
                <a:latin typeface="Calibri"/>
                <a:cs typeface="Calibri"/>
              </a:rPr>
              <a:t> </a:t>
            </a:r>
            <a:r>
              <a:rPr sz="2000" dirty="0">
                <a:latin typeface="Calibri"/>
                <a:cs typeface="Calibri"/>
              </a:rPr>
              <a:t>as</a:t>
            </a:r>
            <a:r>
              <a:rPr sz="2000" spc="-60" dirty="0">
                <a:latin typeface="Calibri"/>
                <a:cs typeface="Calibri"/>
              </a:rPr>
              <a:t> </a:t>
            </a:r>
            <a:r>
              <a:rPr sz="2000" dirty="0">
                <a:latin typeface="Calibri"/>
                <a:cs typeface="Calibri"/>
              </a:rPr>
              <a:t>per</a:t>
            </a:r>
            <a:r>
              <a:rPr sz="2000" spc="-55"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data</a:t>
            </a:r>
            <a:r>
              <a:rPr sz="2000" spc="-50" dirty="0">
                <a:latin typeface="Calibri"/>
                <a:cs typeface="Calibri"/>
              </a:rPr>
              <a:t> </a:t>
            </a:r>
            <a:r>
              <a:rPr sz="2000" dirty="0">
                <a:latin typeface="Calibri"/>
                <a:cs typeface="Calibri"/>
              </a:rPr>
              <a:t>it</a:t>
            </a:r>
            <a:r>
              <a:rPr sz="2000" spc="-40" dirty="0">
                <a:latin typeface="Calibri"/>
                <a:cs typeface="Calibri"/>
              </a:rPr>
              <a:t> </a:t>
            </a:r>
            <a:r>
              <a:rPr sz="2000" dirty="0">
                <a:latin typeface="Calibri"/>
                <a:cs typeface="Calibri"/>
              </a:rPr>
              <a:t>can</a:t>
            </a:r>
            <a:r>
              <a:rPr sz="2000" spc="-70" dirty="0">
                <a:latin typeface="Calibri"/>
                <a:cs typeface="Calibri"/>
              </a:rPr>
              <a:t> </a:t>
            </a:r>
            <a:r>
              <a:rPr sz="2000" dirty="0">
                <a:latin typeface="Calibri"/>
                <a:cs typeface="Calibri"/>
              </a:rPr>
              <a:t>be</a:t>
            </a:r>
            <a:r>
              <a:rPr sz="2000" spc="-65" dirty="0">
                <a:latin typeface="Calibri"/>
                <a:cs typeface="Calibri"/>
              </a:rPr>
              <a:t> </a:t>
            </a:r>
            <a:r>
              <a:rPr sz="2000" dirty="0">
                <a:latin typeface="Calibri"/>
                <a:cs typeface="Calibri"/>
              </a:rPr>
              <a:t>a</a:t>
            </a:r>
            <a:r>
              <a:rPr sz="2000" spc="-55" dirty="0">
                <a:latin typeface="Calibri"/>
                <a:cs typeface="Calibri"/>
              </a:rPr>
              <a:t> </a:t>
            </a:r>
            <a:r>
              <a:rPr sz="2000" spc="-20" dirty="0">
                <a:latin typeface="Calibri"/>
                <a:cs typeface="Calibri"/>
              </a:rPr>
              <a:t>good </a:t>
            </a:r>
            <a:r>
              <a:rPr sz="2000" dirty="0">
                <a:latin typeface="Calibri"/>
                <a:cs typeface="Calibri"/>
              </a:rPr>
              <a:t>decision</a:t>
            </a:r>
            <a:r>
              <a:rPr sz="2000" spc="-55" dirty="0">
                <a:latin typeface="Calibri"/>
                <a:cs typeface="Calibri"/>
              </a:rPr>
              <a:t> </a:t>
            </a:r>
            <a:r>
              <a:rPr sz="2000" dirty="0">
                <a:latin typeface="Calibri"/>
                <a:cs typeface="Calibri"/>
              </a:rPr>
              <a:t>if</a:t>
            </a:r>
            <a:r>
              <a:rPr sz="2000" spc="-70" dirty="0">
                <a:latin typeface="Calibri"/>
                <a:cs typeface="Calibri"/>
              </a:rPr>
              <a:t> </a:t>
            </a:r>
            <a:r>
              <a:rPr sz="2000" dirty="0">
                <a:latin typeface="Calibri"/>
                <a:cs typeface="Calibri"/>
              </a:rPr>
              <a:t>we</a:t>
            </a:r>
            <a:r>
              <a:rPr sz="2000" spc="-75" dirty="0">
                <a:latin typeface="Calibri"/>
                <a:cs typeface="Calibri"/>
              </a:rPr>
              <a:t> </a:t>
            </a:r>
            <a:r>
              <a:rPr sz="2000" dirty="0">
                <a:latin typeface="Calibri"/>
                <a:cs typeface="Calibri"/>
              </a:rPr>
              <a:t>go</a:t>
            </a:r>
            <a:r>
              <a:rPr sz="2000" spc="-90" dirty="0">
                <a:latin typeface="Calibri"/>
                <a:cs typeface="Calibri"/>
              </a:rPr>
              <a:t> </a:t>
            </a:r>
            <a:r>
              <a:rPr sz="2000" dirty="0">
                <a:latin typeface="Calibri"/>
                <a:cs typeface="Calibri"/>
              </a:rPr>
              <a:t>for</a:t>
            </a:r>
            <a:r>
              <a:rPr sz="2000" spc="-100" dirty="0">
                <a:latin typeface="Calibri"/>
                <a:cs typeface="Calibri"/>
              </a:rPr>
              <a:t> </a:t>
            </a:r>
            <a:r>
              <a:rPr sz="2000" spc="-25" dirty="0">
                <a:latin typeface="Calibri"/>
                <a:cs typeface="Calibri"/>
              </a:rPr>
              <a:t>restaurant</a:t>
            </a:r>
            <a:r>
              <a:rPr sz="2000" spc="-20" dirty="0">
                <a:latin typeface="Calibri"/>
                <a:cs typeface="Calibri"/>
              </a:rPr>
              <a:t> </a:t>
            </a:r>
            <a:r>
              <a:rPr sz="2000" dirty="0">
                <a:latin typeface="Calibri"/>
                <a:cs typeface="Calibri"/>
              </a:rPr>
              <a:t>expansion</a:t>
            </a:r>
            <a:r>
              <a:rPr sz="2000" spc="-75" dirty="0">
                <a:latin typeface="Calibri"/>
                <a:cs typeface="Calibri"/>
              </a:rPr>
              <a:t> </a:t>
            </a:r>
            <a:r>
              <a:rPr sz="2000" dirty="0">
                <a:latin typeface="Calibri"/>
                <a:cs typeface="Calibri"/>
              </a:rPr>
              <a:t>in</a:t>
            </a:r>
            <a:r>
              <a:rPr sz="2000" spc="-65" dirty="0">
                <a:latin typeface="Calibri"/>
                <a:cs typeface="Calibri"/>
              </a:rPr>
              <a:t> </a:t>
            </a:r>
            <a:r>
              <a:rPr sz="2000" dirty="0">
                <a:latin typeface="Calibri"/>
                <a:cs typeface="Calibri"/>
              </a:rPr>
              <a:t>these</a:t>
            </a:r>
            <a:r>
              <a:rPr sz="2000" spc="-55" dirty="0">
                <a:latin typeface="Calibri"/>
                <a:cs typeface="Calibri"/>
              </a:rPr>
              <a:t> </a:t>
            </a:r>
            <a:r>
              <a:rPr sz="2000" spc="-10" dirty="0">
                <a:latin typeface="Calibri"/>
                <a:cs typeface="Calibri"/>
              </a:rPr>
              <a:t>countries.</a:t>
            </a:r>
            <a:endParaRPr sz="2000">
              <a:latin typeface="Calibri"/>
              <a:cs typeface="Calibri"/>
            </a:endParaRPr>
          </a:p>
        </p:txBody>
      </p:sp>
      <p:graphicFrame>
        <p:nvGraphicFramePr>
          <p:cNvPr id="310" name="Chart 309">
            <a:extLst>
              <a:ext uri="{FF2B5EF4-FFF2-40B4-BE49-F238E27FC236}">
                <a16:creationId xmlns:a16="http://schemas.microsoft.com/office/drawing/2014/main" id="{0B842B19-7E0E-B24E-1BAB-DD68433DC434}"/>
              </a:ext>
            </a:extLst>
          </p:cNvPr>
          <p:cNvGraphicFramePr>
            <a:graphicFrameLocks/>
          </p:cNvGraphicFramePr>
          <p:nvPr>
            <p:extLst>
              <p:ext uri="{D42A27DB-BD31-4B8C-83A1-F6EECF244321}">
                <p14:modId xmlns:p14="http://schemas.microsoft.com/office/powerpoint/2010/main" val="3517288992"/>
              </p:ext>
            </p:extLst>
          </p:nvPr>
        </p:nvGraphicFramePr>
        <p:xfrm>
          <a:off x="2207623" y="1433341"/>
          <a:ext cx="7471953" cy="245939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749044" y="4401057"/>
            <a:ext cx="8546465" cy="1256754"/>
          </a:xfrm>
          <a:prstGeom prst="rect">
            <a:avLst/>
          </a:prstGeom>
        </p:spPr>
        <p:txBody>
          <a:bodyPr vert="horz" wrap="square" lIns="0" tIns="12700" rIns="0" bIns="0" rtlCol="0">
            <a:spAutoFit/>
          </a:bodyPr>
          <a:lstStyle/>
          <a:p>
            <a:pPr marL="299085" marR="33655" indent="-287020">
              <a:lnSpc>
                <a:spcPct val="100000"/>
              </a:lnSpc>
              <a:spcBef>
                <a:spcPts val="100"/>
              </a:spcBef>
              <a:buFont typeface="Arial"/>
              <a:buChar char="•"/>
              <a:tabLst>
                <a:tab pos="299085" algn="l"/>
              </a:tabLst>
            </a:pPr>
            <a:r>
              <a:rPr sz="2000" dirty="0">
                <a:latin typeface="Calibri"/>
                <a:cs typeface="Calibri"/>
              </a:rPr>
              <a:t>In</a:t>
            </a:r>
            <a:r>
              <a:rPr sz="2000" spc="-85" dirty="0">
                <a:latin typeface="Calibri"/>
                <a:cs typeface="Calibri"/>
              </a:rPr>
              <a:t> </a:t>
            </a:r>
            <a:r>
              <a:rPr sz="2000" dirty="0">
                <a:latin typeface="Calibri"/>
                <a:cs typeface="Calibri"/>
              </a:rPr>
              <a:t>this</a:t>
            </a:r>
            <a:r>
              <a:rPr sz="2000" spc="-70" dirty="0">
                <a:latin typeface="Calibri"/>
                <a:cs typeface="Calibri"/>
              </a:rPr>
              <a:t> </a:t>
            </a:r>
            <a:r>
              <a:rPr sz="2000" dirty="0">
                <a:latin typeface="Calibri"/>
                <a:cs typeface="Calibri"/>
              </a:rPr>
              <a:t>chart</a:t>
            </a:r>
            <a:r>
              <a:rPr sz="2000" spc="-105" dirty="0">
                <a:latin typeface="Calibri"/>
                <a:cs typeface="Calibri"/>
              </a:rPr>
              <a:t> </a:t>
            </a:r>
            <a:r>
              <a:rPr sz="2000" dirty="0">
                <a:latin typeface="Calibri"/>
                <a:cs typeface="Calibri"/>
              </a:rPr>
              <a:t>we</a:t>
            </a:r>
            <a:r>
              <a:rPr sz="2000" spc="-65" dirty="0">
                <a:latin typeface="Calibri"/>
                <a:cs typeface="Calibri"/>
              </a:rPr>
              <a:t> </a:t>
            </a:r>
            <a:r>
              <a:rPr sz="2000" dirty="0">
                <a:latin typeface="Calibri"/>
                <a:cs typeface="Calibri"/>
              </a:rPr>
              <a:t>see</a:t>
            </a:r>
            <a:r>
              <a:rPr sz="2000" spc="-65"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price</a:t>
            </a:r>
            <a:r>
              <a:rPr sz="2000" spc="-80" dirty="0">
                <a:latin typeface="Calibri"/>
                <a:cs typeface="Calibri"/>
              </a:rPr>
              <a:t> </a:t>
            </a:r>
            <a:r>
              <a:rPr sz="2000" dirty="0">
                <a:latin typeface="Calibri"/>
                <a:cs typeface="Calibri"/>
              </a:rPr>
              <a:t>range</a:t>
            </a:r>
            <a:r>
              <a:rPr sz="2000" spc="-90" dirty="0">
                <a:latin typeface="Calibri"/>
                <a:cs typeface="Calibri"/>
              </a:rPr>
              <a:t> </a:t>
            </a:r>
            <a:r>
              <a:rPr sz="2000" dirty="0">
                <a:latin typeface="Calibri"/>
                <a:cs typeface="Calibri"/>
              </a:rPr>
              <a:t>distribution</a:t>
            </a:r>
            <a:r>
              <a:rPr sz="2000" spc="-60" dirty="0">
                <a:latin typeface="Calibri"/>
                <a:cs typeface="Calibri"/>
              </a:rPr>
              <a:t> </a:t>
            </a:r>
            <a:r>
              <a:rPr sz="2000" dirty="0">
                <a:latin typeface="Calibri"/>
                <a:cs typeface="Calibri"/>
              </a:rPr>
              <a:t>in</a:t>
            </a:r>
            <a:r>
              <a:rPr sz="2000" spc="-95" dirty="0">
                <a:latin typeface="Calibri"/>
                <a:cs typeface="Calibri"/>
              </a:rPr>
              <a:t> </a:t>
            </a:r>
            <a:r>
              <a:rPr sz="2000" dirty="0">
                <a:latin typeface="Calibri"/>
                <a:cs typeface="Calibri"/>
              </a:rPr>
              <a:t>the</a:t>
            </a:r>
            <a:r>
              <a:rPr sz="2000" spc="-75" dirty="0">
                <a:latin typeface="Calibri"/>
                <a:cs typeface="Calibri"/>
              </a:rPr>
              <a:t> </a:t>
            </a:r>
            <a:r>
              <a:rPr sz="2000" dirty="0">
                <a:latin typeface="Calibri"/>
                <a:cs typeface="Calibri"/>
              </a:rPr>
              <a:t>range</a:t>
            </a:r>
            <a:r>
              <a:rPr sz="2000" spc="-75" dirty="0">
                <a:latin typeface="Calibri"/>
                <a:cs typeface="Calibri"/>
              </a:rPr>
              <a:t> </a:t>
            </a:r>
            <a:r>
              <a:rPr sz="2000" dirty="0">
                <a:latin typeface="Calibri"/>
                <a:cs typeface="Calibri"/>
              </a:rPr>
              <a:t>of</a:t>
            </a:r>
            <a:r>
              <a:rPr sz="2000" spc="-70" dirty="0">
                <a:latin typeface="Calibri"/>
                <a:cs typeface="Calibri"/>
              </a:rPr>
              <a:t> </a:t>
            </a:r>
            <a:r>
              <a:rPr sz="2000" dirty="0">
                <a:latin typeface="Calibri"/>
                <a:cs typeface="Calibri"/>
              </a:rPr>
              <a:t>1</a:t>
            </a:r>
            <a:r>
              <a:rPr sz="2000" spc="-70" dirty="0">
                <a:latin typeface="Calibri"/>
                <a:cs typeface="Calibri"/>
              </a:rPr>
              <a:t> </a:t>
            </a:r>
            <a:r>
              <a:rPr sz="2000" spc="-25" dirty="0">
                <a:latin typeface="Calibri"/>
                <a:cs typeface="Calibri"/>
              </a:rPr>
              <a:t>to 4.</a:t>
            </a:r>
            <a:endParaRPr lang="en-US" sz="2000" spc="-25" dirty="0">
              <a:latin typeface="Calibri"/>
              <a:cs typeface="Calibri"/>
            </a:endParaRPr>
          </a:p>
          <a:p>
            <a:pPr marL="12065" marR="33655">
              <a:lnSpc>
                <a:spcPct val="100000"/>
              </a:lnSpc>
              <a:spcBef>
                <a:spcPts val="100"/>
              </a:spcBef>
              <a:tabLst>
                <a:tab pos="299085" algn="l"/>
              </a:tabLst>
            </a:pPr>
            <a:endParaRPr sz="2000" dirty="0">
              <a:latin typeface="Calibri"/>
              <a:cs typeface="Calibri"/>
            </a:endParaRPr>
          </a:p>
          <a:p>
            <a:pPr marL="299085" indent="-286385">
              <a:lnSpc>
                <a:spcPct val="100000"/>
              </a:lnSpc>
              <a:buFont typeface="Arial"/>
              <a:buChar char="•"/>
              <a:tabLst>
                <a:tab pos="299085" algn="l"/>
              </a:tabLst>
            </a:pPr>
            <a:r>
              <a:rPr sz="2000" dirty="0">
                <a:latin typeface="Calibri"/>
                <a:cs typeface="Calibri"/>
              </a:rPr>
              <a:t>We</a:t>
            </a:r>
            <a:r>
              <a:rPr sz="2000" spc="-65" dirty="0">
                <a:latin typeface="Calibri"/>
                <a:cs typeface="Calibri"/>
              </a:rPr>
              <a:t> </a:t>
            </a:r>
            <a:r>
              <a:rPr sz="2000" dirty="0">
                <a:latin typeface="Calibri"/>
                <a:cs typeface="Calibri"/>
              </a:rPr>
              <a:t>see</a:t>
            </a:r>
            <a:r>
              <a:rPr sz="2000" spc="-75" dirty="0">
                <a:latin typeface="Calibri"/>
                <a:cs typeface="Calibri"/>
              </a:rPr>
              <a:t> </a:t>
            </a:r>
            <a:r>
              <a:rPr sz="2000" dirty="0">
                <a:latin typeface="Calibri"/>
                <a:cs typeface="Calibri"/>
              </a:rPr>
              <a:t>that</a:t>
            </a:r>
            <a:r>
              <a:rPr sz="2000" spc="-80" dirty="0">
                <a:latin typeface="Calibri"/>
                <a:cs typeface="Calibri"/>
              </a:rPr>
              <a:t> </a:t>
            </a:r>
            <a:r>
              <a:rPr sz="2000" dirty="0">
                <a:latin typeface="Calibri"/>
                <a:cs typeface="Calibri"/>
              </a:rPr>
              <a:t>4</a:t>
            </a:r>
            <a:r>
              <a:rPr lang="en-US" sz="2000" dirty="0">
                <a:latin typeface="Calibri"/>
                <a:cs typeface="Calibri"/>
              </a:rPr>
              <a:t>6</a:t>
            </a:r>
            <a:r>
              <a:rPr sz="2000" dirty="0">
                <a:latin typeface="Calibri"/>
                <a:cs typeface="Calibri"/>
              </a:rPr>
              <a:t>%</a:t>
            </a:r>
            <a:r>
              <a:rPr sz="2000" spc="-90" dirty="0">
                <a:latin typeface="Calibri"/>
                <a:cs typeface="Calibri"/>
              </a:rPr>
              <a:t> </a:t>
            </a:r>
            <a:r>
              <a:rPr sz="2000" dirty="0">
                <a:latin typeface="Calibri"/>
                <a:cs typeface="Calibri"/>
              </a:rPr>
              <a:t>of</a:t>
            </a:r>
            <a:r>
              <a:rPr sz="2000" spc="-60" dirty="0">
                <a:latin typeface="Calibri"/>
                <a:cs typeface="Calibri"/>
              </a:rPr>
              <a:t> </a:t>
            </a:r>
            <a:r>
              <a:rPr sz="2000" spc="-30" dirty="0">
                <a:latin typeface="Calibri"/>
                <a:cs typeface="Calibri"/>
              </a:rPr>
              <a:t>restaurant</a:t>
            </a:r>
            <a:r>
              <a:rPr sz="2000" spc="-95" dirty="0">
                <a:latin typeface="Calibri"/>
                <a:cs typeface="Calibri"/>
              </a:rPr>
              <a:t> </a:t>
            </a:r>
            <a:r>
              <a:rPr sz="2000" dirty="0">
                <a:latin typeface="Calibri"/>
                <a:cs typeface="Calibri"/>
              </a:rPr>
              <a:t>falls</a:t>
            </a:r>
            <a:r>
              <a:rPr sz="2000" spc="-75" dirty="0">
                <a:latin typeface="Calibri"/>
                <a:cs typeface="Calibri"/>
              </a:rPr>
              <a:t> </a:t>
            </a:r>
            <a:r>
              <a:rPr sz="2000" dirty="0">
                <a:latin typeface="Calibri"/>
                <a:cs typeface="Calibri"/>
              </a:rPr>
              <a:t>under</a:t>
            </a:r>
            <a:r>
              <a:rPr sz="2000" spc="-45" dirty="0">
                <a:latin typeface="Calibri"/>
                <a:cs typeface="Calibri"/>
              </a:rPr>
              <a:t> </a:t>
            </a:r>
            <a:r>
              <a:rPr sz="2000" dirty="0">
                <a:latin typeface="Calibri"/>
                <a:cs typeface="Calibri"/>
              </a:rPr>
              <a:t>the</a:t>
            </a:r>
            <a:r>
              <a:rPr sz="2000" spc="-80" dirty="0">
                <a:latin typeface="Calibri"/>
                <a:cs typeface="Calibri"/>
              </a:rPr>
              <a:t> </a:t>
            </a:r>
            <a:r>
              <a:rPr sz="2000" dirty="0">
                <a:latin typeface="Calibri"/>
                <a:cs typeface="Calibri"/>
              </a:rPr>
              <a:t>price</a:t>
            </a:r>
            <a:r>
              <a:rPr sz="2000" spc="-80" dirty="0">
                <a:latin typeface="Calibri"/>
                <a:cs typeface="Calibri"/>
              </a:rPr>
              <a:t> </a:t>
            </a:r>
            <a:r>
              <a:rPr sz="2000" dirty="0">
                <a:latin typeface="Calibri"/>
                <a:cs typeface="Calibri"/>
              </a:rPr>
              <a:t>range</a:t>
            </a:r>
            <a:r>
              <a:rPr sz="2000" spc="-70" dirty="0">
                <a:latin typeface="Calibri"/>
                <a:cs typeface="Calibri"/>
              </a:rPr>
              <a:t> </a:t>
            </a:r>
            <a:r>
              <a:rPr sz="2000" dirty="0">
                <a:latin typeface="Calibri"/>
                <a:cs typeface="Calibri"/>
              </a:rPr>
              <a:t>of</a:t>
            </a:r>
            <a:r>
              <a:rPr sz="2000" spc="-70" dirty="0">
                <a:latin typeface="Calibri"/>
                <a:cs typeface="Calibri"/>
              </a:rPr>
              <a:t> </a:t>
            </a:r>
            <a:r>
              <a:rPr sz="2000" spc="-50" dirty="0">
                <a:latin typeface="Calibri"/>
                <a:cs typeface="Calibri"/>
              </a:rPr>
              <a:t>1</a:t>
            </a:r>
            <a:endParaRPr sz="2000" dirty="0">
              <a:latin typeface="Calibri"/>
              <a:cs typeface="Calibri"/>
            </a:endParaRPr>
          </a:p>
          <a:p>
            <a:pPr marL="299085">
              <a:lnSpc>
                <a:spcPct val="100000"/>
              </a:lnSpc>
            </a:pPr>
            <a:r>
              <a:rPr sz="2000" dirty="0">
                <a:latin typeface="Calibri"/>
                <a:cs typeface="Calibri"/>
              </a:rPr>
              <a:t>whereas</a:t>
            </a:r>
            <a:r>
              <a:rPr sz="2000" spc="-85" dirty="0">
                <a:latin typeface="Calibri"/>
                <a:cs typeface="Calibri"/>
              </a:rPr>
              <a:t> </a:t>
            </a:r>
            <a:r>
              <a:rPr sz="2000" dirty="0">
                <a:latin typeface="Calibri"/>
                <a:cs typeface="Calibri"/>
              </a:rPr>
              <a:t>only</a:t>
            </a:r>
            <a:r>
              <a:rPr sz="2000" spc="-85" dirty="0">
                <a:latin typeface="Calibri"/>
                <a:cs typeface="Calibri"/>
              </a:rPr>
              <a:t> </a:t>
            </a:r>
            <a:r>
              <a:rPr lang="en-US" sz="2000" spc="-85" dirty="0">
                <a:latin typeface="Calibri"/>
                <a:cs typeface="Calibri"/>
              </a:rPr>
              <a:t>6</a:t>
            </a:r>
            <a:r>
              <a:rPr sz="2000" dirty="0">
                <a:latin typeface="Calibri"/>
                <a:cs typeface="Calibri"/>
              </a:rPr>
              <a:t>%</a:t>
            </a:r>
            <a:r>
              <a:rPr sz="2000" spc="-95" dirty="0">
                <a:latin typeface="Calibri"/>
                <a:cs typeface="Calibri"/>
              </a:rPr>
              <a:t> </a:t>
            </a:r>
            <a:r>
              <a:rPr sz="2000" dirty="0">
                <a:latin typeface="Calibri"/>
                <a:cs typeface="Calibri"/>
              </a:rPr>
              <a:t>of</a:t>
            </a:r>
            <a:r>
              <a:rPr sz="2000" spc="-70" dirty="0">
                <a:latin typeface="Calibri"/>
                <a:cs typeface="Calibri"/>
              </a:rPr>
              <a:t> </a:t>
            </a:r>
            <a:r>
              <a:rPr sz="2000" dirty="0">
                <a:latin typeface="Calibri"/>
                <a:cs typeface="Calibri"/>
              </a:rPr>
              <a:t>the</a:t>
            </a:r>
            <a:r>
              <a:rPr sz="2000" spc="-90" dirty="0">
                <a:latin typeface="Calibri"/>
                <a:cs typeface="Calibri"/>
              </a:rPr>
              <a:t> </a:t>
            </a:r>
            <a:r>
              <a:rPr sz="2000" spc="-20" dirty="0">
                <a:latin typeface="Calibri"/>
                <a:cs typeface="Calibri"/>
              </a:rPr>
              <a:t>restaurants</a:t>
            </a:r>
            <a:r>
              <a:rPr sz="2000" spc="-95" dirty="0">
                <a:latin typeface="Calibri"/>
                <a:cs typeface="Calibri"/>
              </a:rPr>
              <a:t> </a:t>
            </a:r>
            <a:r>
              <a:rPr sz="2000" dirty="0">
                <a:latin typeface="Calibri"/>
                <a:cs typeface="Calibri"/>
              </a:rPr>
              <a:t>falls</a:t>
            </a:r>
            <a:r>
              <a:rPr sz="2000" spc="-70" dirty="0">
                <a:latin typeface="Calibri"/>
                <a:cs typeface="Calibri"/>
              </a:rPr>
              <a:t> </a:t>
            </a:r>
            <a:r>
              <a:rPr sz="2000" dirty="0">
                <a:latin typeface="Calibri"/>
                <a:cs typeface="Calibri"/>
              </a:rPr>
              <a:t>under</a:t>
            </a:r>
            <a:r>
              <a:rPr sz="2000" spc="-70" dirty="0">
                <a:latin typeface="Calibri"/>
                <a:cs typeface="Calibri"/>
              </a:rPr>
              <a:t> </a:t>
            </a:r>
            <a:r>
              <a:rPr sz="2000" dirty="0">
                <a:latin typeface="Calibri"/>
                <a:cs typeface="Calibri"/>
              </a:rPr>
              <a:t>the</a:t>
            </a:r>
            <a:r>
              <a:rPr sz="2000" spc="-85" dirty="0">
                <a:latin typeface="Calibri"/>
                <a:cs typeface="Calibri"/>
              </a:rPr>
              <a:t> </a:t>
            </a:r>
            <a:r>
              <a:rPr sz="2000" dirty="0">
                <a:latin typeface="Calibri"/>
                <a:cs typeface="Calibri"/>
              </a:rPr>
              <a:t>price</a:t>
            </a:r>
            <a:r>
              <a:rPr sz="2000" spc="-85" dirty="0">
                <a:latin typeface="Calibri"/>
                <a:cs typeface="Calibri"/>
              </a:rPr>
              <a:t> </a:t>
            </a:r>
            <a:r>
              <a:rPr sz="2000" dirty="0">
                <a:latin typeface="Calibri"/>
                <a:cs typeface="Calibri"/>
              </a:rPr>
              <a:t>range</a:t>
            </a:r>
            <a:r>
              <a:rPr sz="2000" spc="-90" dirty="0">
                <a:latin typeface="Calibri"/>
                <a:cs typeface="Calibri"/>
              </a:rPr>
              <a:t> </a:t>
            </a:r>
            <a:r>
              <a:rPr sz="2000" dirty="0">
                <a:latin typeface="Calibri"/>
                <a:cs typeface="Calibri"/>
              </a:rPr>
              <a:t>of</a:t>
            </a:r>
            <a:r>
              <a:rPr sz="2000" spc="-70" dirty="0">
                <a:latin typeface="Calibri"/>
                <a:cs typeface="Calibri"/>
              </a:rPr>
              <a:t> </a:t>
            </a:r>
            <a:r>
              <a:rPr sz="2000" spc="-25" dirty="0">
                <a:latin typeface="Calibri"/>
                <a:cs typeface="Calibri"/>
              </a:rPr>
              <a:t>4.</a:t>
            </a:r>
            <a:endParaRPr sz="2000" dirty="0">
              <a:latin typeface="Calibri"/>
              <a:cs typeface="Calibri"/>
            </a:endParaRPr>
          </a:p>
        </p:txBody>
      </p:sp>
      <p:grpSp>
        <p:nvGrpSpPr>
          <p:cNvPr id="6" name="object 6"/>
          <p:cNvGrpSpPr/>
          <p:nvPr/>
        </p:nvGrpSpPr>
        <p:grpSpPr>
          <a:xfrm>
            <a:off x="1749298" y="2244725"/>
            <a:ext cx="3509010" cy="256540"/>
            <a:chOff x="1749298" y="2244725"/>
            <a:chExt cx="3509010" cy="256540"/>
          </a:xfrm>
        </p:grpSpPr>
        <p:sp>
          <p:nvSpPr>
            <p:cNvPr id="7" name="object 7"/>
            <p:cNvSpPr/>
            <p:nvPr/>
          </p:nvSpPr>
          <p:spPr>
            <a:xfrm>
              <a:off x="1749298" y="2244724"/>
              <a:ext cx="3509010" cy="253365"/>
            </a:xfrm>
            <a:custGeom>
              <a:avLst/>
              <a:gdLst/>
              <a:ahLst/>
              <a:cxnLst/>
              <a:rect l="l" t="t" r="r" b="b"/>
              <a:pathLst>
                <a:path w="3509010" h="253364">
                  <a:moveTo>
                    <a:pt x="3508502" y="0"/>
                  </a:moveTo>
                  <a:lnTo>
                    <a:pt x="1518793" y="0"/>
                  </a:lnTo>
                  <a:lnTo>
                    <a:pt x="0" y="0"/>
                  </a:lnTo>
                  <a:lnTo>
                    <a:pt x="0" y="253365"/>
                  </a:lnTo>
                  <a:lnTo>
                    <a:pt x="1518780" y="253365"/>
                  </a:lnTo>
                  <a:lnTo>
                    <a:pt x="3508502" y="253365"/>
                  </a:lnTo>
                  <a:lnTo>
                    <a:pt x="3508502" y="0"/>
                  </a:lnTo>
                  <a:close/>
                </a:path>
              </a:pathLst>
            </a:custGeom>
            <a:solidFill>
              <a:srgbClr val="D9E0F1"/>
            </a:solidFill>
          </p:spPr>
          <p:txBody>
            <a:bodyPr wrap="square" lIns="0" tIns="0" rIns="0" bIns="0" rtlCol="0"/>
            <a:lstStyle/>
            <a:p>
              <a:endParaRPr/>
            </a:p>
          </p:txBody>
        </p:sp>
        <p:sp>
          <p:nvSpPr>
            <p:cNvPr id="8" name="object 8"/>
            <p:cNvSpPr/>
            <p:nvPr/>
          </p:nvSpPr>
          <p:spPr>
            <a:xfrm>
              <a:off x="1749298" y="2498090"/>
              <a:ext cx="3509010" cy="0"/>
            </a:xfrm>
            <a:custGeom>
              <a:avLst/>
              <a:gdLst/>
              <a:ahLst/>
              <a:cxnLst/>
              <a:rect l="l" t="t" r="r" b="b"/>
              <a:pathLst>
                <a:path w="3509010">
                  <a:moveTo>
                    <a:pt x="0" y="0"/>
                  </a:moveTo>
                  <a:lnTo>
                    <a:pt x="3508502" y="0"/>
                  </a:lnTo>
                </a:path>
              </a:pathLst>
            </a:custGeom>
            <a:ln w="6350">
              <a:solidFill>
                <a:srgbClr val="8EA9DB"/>
              </a:solidFill>
            </a:ln>
          </p:spPr>
          <p:txBody>
            <a:bodyPr wrap="square" lIns="0" tIns="0" rIns="0" bIns="0" rtlCol="0"/>
            <a:lstStyle/>
            <a:p>
              <a:endParaRPr/>
            </a:p>
          </p:txBody>
        </p:sp>
      </p:grpSp>
      <p:graphicFrame>
        <p:nvGraphicFramePr>
          <p:cNvPr id="9" name="object 9"/>
          <p:cNvGraphicFramePr>
            <a:graphicFrameLocks noGrp="1"/>
          </p:cNvGraphicFramePr>
          <p:nvPr/>
        </p:nvGraphicFramePr>
        <p:xfrm>
          <a:off x="1749298" y="2545207"/>
          <a:ext cx="3509008" cy="1218564"/>
        </p:xfrm>
        <a:graphic>
          <a:graphicData uri="http://schemas.openxmlformats.org/drawingml/2006/table">
            <a:tbl>
              <a:tblPr firstRow="1" bandRow="1">
                <a:tableStyleId>{2D5ABB26-0587-4C30-8999-92F81FD0307C}</a:tableStyleId>
              </a:tblPr>
              <a:tblGrid>
                <a:gridCol w="2050414">
                  <a:extLst>
                    <a:ext uri="{9D8B030D-6E8A-4147-A177-3AD203B41FA5}">
                      <a16:colId xmlns:a16="http://schemas.microsoft.com/office/drawing/2014/main" val="20000"/>
                    </a:ext>
                  </a:extLst>
                </a:gridCol>
                <a:gridCol w="1458594">
                  <a:extLst>
                    <a:ext uri="{9D8B030D-6E8A-4147-A177-3AD203B41FA5}">
                      <a16:colId xmlns:a16="http://schemas.microsoft.com/office/drawing/2014/main" val="20001"/>
                    </a:ext>
                  </a:extLst>
                </a:gridCol>
              </a:tblGrid>
              <a:tr h="227965">
                <a:tc>
                  <a:txBody>
                    <a:bodyPr/>
                    <a:lstStyle/>
                    <a:p>
                      <a:pPr marL="9525">
                        <a:lnSpc>
                          <a:spcPts val="1515"/>
                        </a:lnSpc>
                      </a:pPr>
                      <a:r>
                        <a:rPr sz="1600" spc="-50" dirty="0">
                          <a:latin typeface="Calibri"/>
                          <a:cs typeface="Calibri"/>
                        </a:rPr>
                        <a:t>1</a:t>
                      </a:r>
                      <a:endParaRPr sz="1600">
                        <a:latin typeface="Calibri"/>
                        <a:cs typeface="Calibri"/>
                      </a:endParaRPr>
                    </a:p>
                  </a:txBody>
                  <a:tcPr marL="0" marR="0" marT="0" marB="0"/>
                </a:tc>
                <a:tc>
                  <a:txBody>
                    <a:bodyPr/>
                    <a:lstStyle/>
                    <a:p>
                      <a:pPr marR="1905" algn="r">
                        <a:lnSpc>
                          <a:spcPts val="1515"/>
                        </a:lnSpc>
                      </a:pPr>
                      <a:r>
                        <a:rPr sz="1600" spc="-20" dirty="0">
                          <a:latin typeface="Calibri"/>
                          <a:cs typeface="Calibri"/>
                        </a:rPr>
                        <a:t>4443</a:t>
                      </a:r>
                      <a:endParaRPr sz="1600">
                        <a:latin typeface="Calibri"/>
                        <a:cs typeface="Calibri"/>
                      </a:endParaRPr>
                    </a:p>
                  </a:txBody>
                  <a:tcPr marL="0" marR="0" marT="0" marB="0"/>
                </a:tc>
                <a:extLst>
                  <a:ext uri="{0D108BD9-81ED-4DB2-BD59-A6C34878D82A}">
                    <a16:rowId xmlns:a16="http://schemas.microsoft.com/office/drawing/2014/main" val="10000"/>
                  </a:ext>
                </a:extLst>
              </a:tr>
              <a:tr h="253365">
                <a:tc>
                  <a:txBody>
                    <a:bodyPr/>
                    <a:lstStyle/>
                    <a:p>
                      <a:pPr marL="9525">
                        <a:lnSpc>
                          <a:spcPts val="1714"/>
                        </a:lnSpc>
                      </a:pPr>
                      <a:r>
                        <a:rPr sz="1600" spc="-50" dirty="0">
                          <a:latin typeface="Calibri"/>
                          <a:cs typeface="Calibri"/>
                        </a:rPr>
                        <a:t>2</a:t>
                      </a:r>
                      <a:endParaRPr sz="1600">
                        <a:latin typeface="Calibri"/>
                        <a:cs typeface="Calibri"/>
                      </a:endParaRPr>
                    </a:p>
                  </a:txBody>
                  <a:tcPr marL="0" marR="0" marT="0" marB="0"/>
                </a:tc>
                <a:tc>
                  <a:txBody>
                    <a:bodyPr/>
                    <a:lstStyle/>
                    <a:p>
                      <a:pPr marR="1905" algn="r">
                        <a:lnSpc>
                          <a:spcPts val="1714"/>
                        </a:lnSpc>
                      </a:pPr>
                      <a:r>
                        <a:rPr sz="1600" spc="-20" dirty="0">
                          <a:latin typeface="Calibri"/>
                          <a:cs typeface="Calibri"/>
                        </a:rPr>
                        <a:t>3113</a:t>
                      </a:r>
                      <a:endParaRPr sz="1600">
                        <a:latin typeface="Calibri"/>
                        <a:cs typeface="Calibri"/>
                      </a:endParaRPr>
                    </a:p>
                  </a:txBody>
                  <a:tcPr marL="0" marR="0" marT="0" marB="0"/>
                </a:tc>
                <a:extLst>
                  <a:ext uri="{0D108BD9-81ED-4DB2-BD59-A6C34878D82A}">
                    <a16:rowId xmlns:a16="http://schemas.microsoft.com/office/drawing/2014/main" val="10001"/>
                  </a:ext>
                </a:extLst>
              </a:tr>
              <a:tr h="253365">
                <a:tc>
                  <a:txBody>
                    <a:bodyPr/>
                    <a:lstStyle/>
                    <a:p>
                      <a:pPr marL="9525">
                        <a:lnSpc>
                          <a:spcPts val="1720"/>
                        </a:lnSpc>
                      </a:pPr>
                      <a:r>
                        <a:rPr sz="1600" spc="-50" dirty="0">
                          <a:latin typeface="Calibri"/>
                          <a:cs typeface="Calibri"/>
                        </a:rPr>
                        <a:t>3</a:t>
                      </a:r>
                      <a:endParaRPr sz="1600">
                        <a:latin typeface="Calibri"/>
                        <a:cs typeface="Calibri"/>
                      </a:endParaRPr>
                    </a:p>
                  </a:txBody>
                  <a:tcPr marL="0" marR="0" marT="0" marB="0"/>
                </a:tc>
                <a:tc>
                  <a:txBody>
                    <a:bodyPr/>
                    <a:lstStyle/>
                    <a:p>
                      <a:pPr marR="1905" algn="r">
                        <a:lnSpc>
                          <a:spcPts val="1720"/>
                        </a:lnSpc>
                      </a:pPr>
                      <a:r>
                        <a:rPr sz="1600" spc="-20" dirty="0">
                          <a:latin typeface="Calibri"/>
                          <a:cs typeface="Calibri"/>
                        </a:rPr>
                        <a:t>1408</a:t>
                      </a:r>
                      <a:endParaRPr sz="1600">
                        <a:latin typeface="Calibri"/>
                        <a:cs typeface="Calibri"/>
                      </a:endParaRPr>
                    </a:p>
                  </a:txBody>
                  <a:tcPr marL="0" marR="0" marT="0" marB="0"/>
                </a:tc>
                <a:extLst>
                  <a:ext uri="{0D108BD9-81ED-4DB2-BD59-A6C34878D82A}">
                    <a16:rowId xmlns:a16="http://schemas.microsoft.com/office/drawing/2014/main" val="10002"/>
                  </a:ext>
                </a:extLst>
              </a:tr>
              <a:tr h="231140">
                <a:tc>
                  <a:txBody>
                    <a:bodyPr/>
                    <a:lstStyle/>
                    <a:p>
                      <a:pPr marL="9525">
                        <a:lnSpc>
                          <a:spcPts val="1714"/>
                        </a:lnSpc>
                      </a:pPr>
                      <a:r>
                        <a:rPr sz="1600" spc="-50" dirty="0">
                          <a:latin typeface="Calibri"/>
                          <a:cs typeface="Calibri"/>
                        </a:rPr>
                        <a:t>4</a:t>
                      </a:r>
                      <a:endParaRPr sz="1600">
                        <a:latin typeface="Calibri"/>
                        <a:cs typeface="Calibri"/>
                      </a:endParaRPr>
                    </a:p>
                  </a:txBody>
                  <a:tcPr marL="0" marR="0" marT="0" marB="0">
                    <a:lnB w="6350">
                      <a:solidFill>
                        <a:srgbClr val="8EA9DB"/>
                      </a:solidFill>
                      <a:prstDash val="solid"/>
                    </a:lnB>
                  </a:tcPr>
                </a:tc>
                <a:tc>
                  <a:txBody>
                    <a:bodyPr/>
                    <a:lstStyle/>
                    <a:p>
                      <a:pPr marR="1905" algn="r">
                        <a:lnSpc>
                          <a:spcPts val="1714"/>
                        </a:lnSpc>
                      </a:pPr>
                      <a:r>
                        <a:rPr sz="1600" spc="-25" dirty="0">
                          <a:latin typeface="Calibri"/>
                          <a:cs typeface="Calibri"/>
                        </a:rPr>
                        <a:t>586</a:t>
                      </a:r>
                      <a:endParaRPr sz="1600">
                        <a:latin typeface="Calibri"/>
                        <a:cs typeface="Calibri"/>
                      </a:endParaRPr>
                    </a:p>
                  </a:txBody>
                  <a:tcPr marL="0" marR="0" marT="0" marB="0">
                    <a:lnB w="6350">
                      <a:solidFill>
                        <a:srgbClr val="8EA9DB"/>
                      </a:solidFill>
                      <a:prstDash val="solid"/>
                    </a:lnB>
                  </a:tcPr>
                </a:tc>
                <a:extLst>
                  <a:ext uri="{0D108BD9-81ED-4DB2-BD59-A6C34878D82A}">
                    <a16:rowId xmlns:a16="http://schemas.microsoft.com/office/drawing/2014/main" val="10003"/>
                  </a:ext>
                </a:extLst>
              </a:tr>
              <a:tr h="252729">
                <a:tc>
                  <a:txBody>
                    <a:bodyPr/>
                    <a:lstStyle/>
                    <a:p>
                      <a:pPr marL="9525">
                        <a:lnSpc>
                          <a:spcPts val="1889"/>
                        </a:lnSpc>
                      </a:pPr>
                      <a:r>
                        <a:rPr sz="1600" b="1" dirty="0">
                          <a:latin typeface="Calibri"/>
                          <a:cs typeface="Calibri"/>
                        </a:rPr>
                        <a:t>Grand</a:t>
                      </a:r>
                      <a:r>
                        <a:rPr sz="1600" b="1" spc="-25" dirty="0">
                          <a:latin typeface="Calibri"/>
                          <a:cs typeface="Calibri"/>
                        </a:rPr>
                        <a:t> </a:t>
                      </a:r>
                      <a:r>
                        <a:rPr sz="1600" b="1" spc="-10" dirty="0">
                          <a:latin typeface="Calibri"/>
                          <a:cs typeface="Calibri"/>
                        </a:rPr>
                        <a:t>Total</a:t>
                      </a:r>
                      <a:endParaRPr sz="1600">
                        <a:latin typeface="Calibri"/>
                        <a:cs typeface="Calibri"/>
                      </a:endParaRPr>
                    </a:p>
                  </a:txBody>
                  <a:tcPr marL="0" marR="0" marT="0" marB="0">
                    <a:lnT w="6350">
                      <a:solidFill>
                        <a:srgbClr val="8EA9DB"/>
                      </a:solidFill>
                      <a:prstDash val="solid"/>
                    </a:lnT>
                    <a:solidFill>
                      <a:srgbClr val="D9E0F1"/>
                    </a:solidFill>
                  </a:tcPr>
                </a:tc>
                <a:tc>
                  <a:txBody>
                    <a:bodyPr/>
                    <a:lstStyle/>
                    <a:p>
                      <a:pPr marR="1270" algn="r">
                        <a:lnSpc>
                          <a:spcPts val="1889"/>
                        </a:lnSpc>
                      </a:pPr>
                      <a:r>
                        <a:rPr sz="1600" b="1" spc="-20" dirty="0">
                          <a:latin typeface="Calibri"/>
                          <a:cs typeface="Calibri"/>
                        </a:rPr>
                        <a:t>9550</a:t>
                      </a:r>
                      <a:endParaRPr sz="1600" dirty="0">
                        <a:latin typeface="Calibri"/>
                        <a:cs typeface="Calibri"/>
                      </a:endParaRPr>
                    </a:p>
                  </a:txBody>
                  <a:tcPr marL="0" marR="0" marT="0" marB="0">
                    <a:lnT w="6350">
                      <a:solidFill>
                        <a:srgbClr val="8EA9DB"/>
                      </a:solidFill>
                      <a:prstDash val="solid"/>
                    </a:lnT>
                    <a:solidFill>
                      <a:srgbClr val="D9E0F1"/>
                    </a:solidFill>
                  </a:tcPr>
                </a:tc>
                <a:extLst>
                  <a:ext uri="{0D108BD9-81ED-4DB2-BD59-A6C34878D82A}">
                    <a16:rowId xmlns:a16="http://schemas.microsoft.com/office/drawing/2014/main" val="10004"/>
                  </a:ext>
                </a:extLst>
              </a:tr>
            </a:tbl>
          </a:graphicData>
        </a:graphic>
      </p:graphicFrame>
      <p:sp>
        <p:nvSpPr>
          <p:cNvPr id="10" name="object 10"/>
          <p:cNvSpPr txBox="1"/>
          <p:nvPr/>
        </p:nvSpPr>
        <p:spPr>
          <a:xfrm>
            <a:off x="1749298" y="2227910"/>
            <a:ext cx="3509010" cy="269240"/>
          </a:xfrm>
          <a:prstGeom prst="rect">
            <a:avLst/>
          </a:prstGeom>
        </p:spPr>
        <p:txBody>
          <a:bodyPr vert="horz" wrap="square" lIns="0" tIns="12065" rIns="0" bIns="0" rtlCol="0">
            <a:spAutoFit/>
          </a:bodyPr>
          <a:lstStyle/>
          <a:p>
            <a:pPr marL="9525">
              <a:lnSpc>
                <a:spcPct val="100000"/>
              </a:lnSpc>
              <a:spcBef>
                <a:spcPts val="95"/>
              </a:spcBef>
              <a:tabLst>
                <a:tab pos="1528445" algn="l"/>
              </a:tabLst>
            </a:pPr>
            <a:r>
              <a:rPr sz="1600" b="1" dirty="0">
                <a:latin typeface="Calibri"/>
                <a:cs typeface="Calibri"/>
              </a:rPr>
              <a:t>Price</a:t>
            </a:r>
            <a:r>
              <a:rPr sz="1600" b="1" spc="-45" dirty="0">
                <a:latin typeface="Calibri"/>
                <a:cs typeface="Calibri"/>
              </a:rPr>
              <a:t> </a:t>
            </a:r>
            <a:r>
              <a:rPr sz="1600" b="1" spc="-10" dirty="0">
                <a:latin typeface="Calibri"/>
                <a:cs typeface="Calibri"/>
              </a:rPr>
              <a:t>Range</a:t>
            </a:r>
            <a:r>
              <a:rPr sz="1600" b="1" dirty="0">
                <a:latin typeface="Calibri"/>
                <a:cs typeface="Calibri"/>
              </a:rPr>
              <a:t>	Count</a:t>
            </a:r>
            <a:r>
              <a:rPr sz="1600" b="1" spc="-25" dirty="0">
                <a:latin typeface="Calibri"/>
                <a:cs typeface="Calibri"/>
              </a:rPr>
              <a:t> </a:t>
            </a:r>
            <a:r>
              <a:rPr sz="1600" b="1" dirty="0">
                <a:latin typeface="Calibri"/>
                <a:cs typeface="Calibri"/>
              </a:rPr>
              <a:t>of</a:t>
            </a:r>
            <a:r>
              <a:rPr sz="1600" b="1" spc="-25" dirty="0">
                <a:latin typeface="Calibri"/>
                <a:cs typeface="Calibri"/>
              </a:rPr>
              <a:t> </a:t>
            </a:r>
            <a:r>
              <a:rPr sz="1600" b="1" spc="-10" dirty="0">
                <a:latin typeface="Calibri"/>
                <a:cs typeface="Calibri"/>
              </a:rPr>
              <a:t>Restaurants</a:t>
            </a:r>
            <a:endParaRPr sz="1600">
              <a:latin typeface="Calibri"/>
              <a:cs typeface="Calibri"/>
            </a:endParaRPr>
          </a:p>
        </p:txBody>
      </p:sp>
      <p:graphicFrame>
        <p:nvGraphicFramePr>
          <p:cNvPr id="32" name="Chart 31">
            <a:extLst>
              <a:ext uri="{FF2B5EF4-FFF2-40B4-BE49-F238E27FC236}">
                <a16:creationId xmlns:a16="http://schemas.microsoft.com/office/drawing/2014/main" id="{817BF5B9-D8BA-C0AA-74BE-3A595CC89104}"/>
              </a:ext>
            </a:extLst>
          </p:cNvPr>
          <p:cNvGraphicFramePr>
            <a:graphicFrameLocks/>
          </p:cNvGraphicFramePr>
          <p:nvPr>
            <p:extLst>
              <p:ext uri="{D42A27DB-BD31-4B8C-83A1-F6EECF244321}">
                <p14:modId xmlns:p14="http://schemas.microsoft.com/office/powerpoint/2010/main" val="3619249652"/>
              </p:ext>
            </p:extLst>
          </p:nvPr>
        </p:nvGraphicFramePr>
        <p:xfrm>
          <a:off x="6419687" y="1200188"/>
          <a:ext cx="3312142" cy="3172165"/>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a:extLst>
              <a:ext uri="{FF2B5EF4-FFF2-40B4-BE49-F238E27FC236}">
                <a16:creationId xmlns:a16="http://schemas.microsoft.com/office/drawing/2014/main" id="{51F578C8-8A37-2FF2-6CF8-11B0966039E6}"/>
              </a:ext>
            </a:extLst>
          </p:cNvPr>
          <p:cNvSpPr/>
          <p:nvPr/>
        </p:nvSpPr>
        <p:spPr>
          <a:xfrm>
            <a:off x="2674909" y="341758"/>
            <a:ext cx="5941050" cy="707886"/>
          </a:xfrm>
          <a:prstGeom prst="rect">
            <a:avLst/>
          </a:prstGeom>
          <a:noFill/>
        </p:spPr>
        <p:txBody>
          <a:bodyPr wrap="none" lIns="91440" tIns="45720" rIns="91440" bIns="45720">
            <a:spAutoFit/>
          </a:bodyPr>
          <a:lstStyle/>
          <a:p>
            <a:pPr algn="ctr"/>
            <a:r>
              <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Price range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21433" y="423544"/>
            <a:ext cx="8594725" cy="466090"/>
            <a:chOff x="1821433" y="423544"/>
            <a:chExt cx="8594725" cy="466090"/>
          </a:xfrm>
        </p:grpSpPr>
        <p:pic>
          <p:nvPicPr>
            <p:cNvPr id="3" name="object 3"/>
            <p:cNvPicPr/>
            <p:nvPr/>
          </p:nvPicPr>
          <p:blipFill>
            <a:blip r:embed="rId2" cstate="print"/>
            <a:stretch>
              <a:fillRect/>
            </a:stretch>
          </p:blipFill>
          <p:spPr>
            <a:xfrm>
              <a:off x="1831847" y="434301"/>
              <a:ext cx="8583930" cy="454952"/>
            </a:xfrm>
            <a:prstGeom prst="rect">
              <a:avLst/>
            </a:prstGeom>
          </p:spPr>
        </p:pic>
        <p:pic>
          <p:nvPicPr>
            <p:cNvPr id="4" name="object 4"/>
            <p:cNvPicPr/>
            <p:nvPr/>
          </p:nvPicPr>
          <p:blipFill>
            <a:blip r:embed="rId3" cstate="print"/>
            <a:stretch>
              <a:fillRect/>
            </a:stretch>
          </p:blipFill>
          <p:spPr>
            <a:xfrm>
              <a:off x="1821433" y="423544"/>
              <a:ext cx="8572881" cy="444500"/>
            </a:xfrm>
            <a:prstGeom prst="rect">
              <a:avLst/>
            </a:prstGeom>
          </p:spPr>
        </p:pic>
      </p:grpSp>
      <p:sp>
        <p:nvSpPr>
          <p:cNvPr id="5" name="object 5"/>
          <p:cNvSpPr txBox="1"/>
          <p:nvPr/>
        </p:nvSpPr>
        <p:spPr>
          <a:xfrm>
            <a:off x="1384553" y="4396232"/>
            <a:ext cx="9437370" cy="2220595"/>
          </a:xfrm>
          <a:prstGeom prst="rect">
            <a:avLst/>
          </a:prstGeom>
        </p:spPr>
        <p:txBody>
          <a:bodyPr vert="horz" wrap="square" lIns="0" tIns="12700" rIns="0" bIns="0" rtlCol="0">
            <a:spAutoFit/>
          </a:bodyPr>
          <a:lstStyle/>
          <a:p>
            <a:pPr marL="469900" marR="591185" indent="-457200">
              <a:lnSpc>
                <a:spcPct val="100000"/>
              </a:lnSpc>
              <a:spcBef>
                <a:spcPts val="100"/>
              </a:spcBef>
              <a:buFont typeface="Arial"/>
              <a:buChar char="•"/>
              <a:tabLst>
                <a:tab pos="469900" algn="l"/>
              </a:tabLst>
            </a:pPr>
            <a:r>
              <a:rPr sz="1800" dirty="0">
                <a:latin typeface="Calibri"/>
                <a:cs typeface="Calibri"/>
              </a:rPr>
              <a:t>Here</a:t>
            </a:r>
            <a:r>
              <a:rPr sz="1800" spc="-40" dirty="0">
                <a:latin typeface="Calibri"/>
                <a:cs typeface="Calibri"/>
              </a:rPr>
              <a:t> </a:t>
            </a:r>
            <a:r>
              <a:rPr sz="1800" dirty="0">
                <a:latin typeface="Calibri"/>
                <a:cs typeface="Calibri"/>
              </a:rPr>
              <a:t>we</a:t>
            </a:r>
            <a:r>
              <a:rPr sz="1800" spc="-50" dirty="0">
                <a:latin typeface="Calibri"/>
                <a:cs typeface="Calibri"/>
              </a:rPr>
              <a:t> </a:t>
            </a:r>
            <a:r>
              <a:rPr sz="1800" dirty="0">
                <a:latin typeface="Calibri"/>
                <a:cs typeface="Calibri"/>
              </a:rPr>
              <a:t>can</a:t>
            </a:r>
            <a:r>
              <a:rPr sz="1800" spc="-50" dirty="0">
                <a:latin typeface="Calibri"/>
                <a:cs typeface="Calibri"/>
              </a:rPr>
              <a:t> </a:t>
            </a:r>
            <a:r>
              <a:rPr sz="1800" dirty="0">
                <a:latin typeface="Calibri"/>
                <a:cs typeface="Calibri"/>
              </a:rPr>
              <a:t>see</a:t>
            </a:r>
            <a:r>
              <a:rPr sz="1800" spc="-65" dirty="0">
                <a:latin typeface="Calibri"/>
                <a:cs typeface="Calibri"/>
              </a:rPr>
              <a:t> </a:t>
            </a:r>
            <a:r>
              <a:rPr sz="1800" dirty="0">
                <a:latin typeface="Calibri"/>
                <a:cs typeface="Calibri"/>
              </a:rPr>
              <a:t>the</a:t>
            </a:r>
            <a:r>
              <a:rPr sz="1800" spc="-50" dirty="0">
                <a:latin typeface="Calibri"/>
                <a:cs typeface="Calibri"/>
              </a:rPr>
              <a:t> </a:t>
            </a:r>
            <a:r>
              <a:rPr sz="1800" dirty="0">
                <a:latin typeface="Calibri"/>
                <a:cs typeface="Calibri"/>
              </a:rPr>
              <a:t>two</a:t>
            </a:r>
            <a:r>
              <a:rPr sz="1800" spc="-65" dirty="0">
                <a:latin typeface="Calibri"/>
                <a:cs typeface="Calibri"/>
              </a:rPr>
              <a:t> </a:t>
            </a:r>
            <a:r>
              <a:rPr sz="1800" dirty="0">
                <a:latin typeface="Calibri"/>
                <a:cs typeface="Calibri"/>
              </a:rPr>
              <a:t>charts</a:t>
            </a:r>
            <a:r>
              <a:rPr sz="1800" spc="-60" dirty="0">
                <a:latin typeface="Calibri"/>
                <a:cs typeface="Calibri"/>
              </a:rPr>
              <a:t> </a:t>
            </a:r>
            <a:r>
              <a:rPr sz="1800" dirty="0">
                <a:latin typeface="Calibri"/>
                <a:cs typeface="Calibri"/>
              </a:rPr>
              <a:t>which</a:t>
            </a:r>
            <a:r>
              <a:rPr sz="1800" spc="-20" dirty="0">
                <a:latin typeface="Calibri"/>
                <a:cs typeface="Calibri"/>
              </a:rPr>
              <a:t> </a:t>
            </a:r>
            <a:r>
              <a:rPr sz="1800" dirty="0">
                <a:latin typeface="Calibri"/>
                <a:cs typeface="Calibri"/>
              </a:rPr>
              <a:t>shows</a:t>
            </a:r>
            <a:r>
              <a:rPr sz="1800" spc="-7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count</a:t>
            </a:r>
            <a:r>
              <a:rPr sz="1800" spc="-5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the</a:t>
            </a:r>
            <a:r>
              <a:rPr sz="1800" spc="-60" dirty="0">
                <a:latin typeface="Calibri"/>
                <a:cs typeface="Calibri"/>
              </a:rPr>
              <a:t> </a:t>
            </a:r>
            <a:r>
              <a:rPr sz="1800" spc="-30" dirty="0">
                <a:latin typeface="Calibri"/>
                <a:cs typeface="Calibri"/>
              </a:rPr>
              <a:t>restaurants</a:t>
            </a:r>
            <a:r>
              <a:rPr sz="1800" spc="-60" dirty="0">
                <a:latin typeface="Calibri"/>
                <a:cs typeface="Calibri"/>
              </a:rPr>
              <a:t> </a:t>
            </a:r>
            <a:r>
              <a:rPr sz="1800" spc="-10" dirty="0">
                <a:latin typeface="Calibri"/>
                <a:cs typeface="Calibri"/>
              </a:rPr>
              <a:t>offering</a:t>
            </a:r>
            <a:r>
              <a:rPr sz="1800" spc="-50" dirty="0">
                <a:latin typeface="Calibri"/>
                <a:cs typeface="Calibri"/>
              </a:rPr>
              <a:t> </a:t>
            </a:r>
            <a:r>
              <a:rPr sz="1800" dirty="0">
                <a:latin typeface="Calibri"/>
                <a:cs typeface="Calibri"/>
              </a:rPr>
              <a:t>for</a:t>
            </a:r>
            <a:r>
              <a:rPr sz="1800" spc="-55" dirty="0">
                <a:latin typeface="Calibri"/>
                <a:cs typeface="Calibri"/>
              </a:rPr>
              <a:t> </a:t>
            </a:r>
            <a:r>
              <a:rPr sz="1800" spc="-10" dirty="0">
                <a:latin typeface="Calibri"/>
                <a:cs typeface="Calibri"/>
              </a:rPr>
              <a:t>table </a:t>
            </a:r>
            <a:r>
              <a:rPr sz="1800" dirty="0">
                <a:latin typeface="Calibri"/>
                <a:cs typeface="Calibri"/>
              </a:rPr>
              <a:t>booking</a:t>
            </a:r>
            <a:r>
              <a:rPr sz="1800" spc="-65"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online</a:t>
            </a:r>
            <a:r>
              <a:rPr sz="1800" spc="-40" dirty="0">
                <a:latin typeface="Calibri"/>
                <a:cs typeface="Calibri"/>
              </a:rPr>
              <a:t> </a:t>
            </a:r>
            <a:r>
              <a:rPr sz="1800" spc="-10" dirty="0">
                <a:latin typeface="Calibri"/>
                <a:cs typeface="Calibri"/>
              </a:rPr>
              <a:t>delivery.</a:t>
            </a:r>
            <a:endParaRPr sz="1800" dirty="0">
              <a:latin typeface="Calibri"/>
              <a:cs typeface="Calibri"/>
            </a:endParaRPr>
          </a:p>
          <a:p>
            <a:pPr marL="469265" indent="-456565">
              <a:lnSpc>
                <a:spcPct val="100000"/>
              </a:lnSpc>
              <a:buFont typeface="Arial"/>
              <a:buChar char="•"/>
              <a:tabLst>
                <a:tab pos="469265" algn="l"/>
              </a:tabLst>
            </a:pPr>
            <a:r>
              <a:rPr sz="1800" dirty="0">
                <a:latin typeface="Calibri"/>
                <a:cs typeface="Calibri"/>
              </a:rPr>
              <a:t>We</a:t>
            </a:r>
            <a:r>
              <a:rPr sz="1800" spc="-35" dirty="0">
                <a:latin typeface="Calibri"/>
                <a:cs typeface="Calibri"/>
              </a:rPr>
              <a:t> </a:t>
            </a:r>
            <a:r>
              <a:rPr sz="1800" dirty="0">
                <a:latin typeface="Calibri"/>
                <a:cs typeface="Calibri"/>
              </a:rPr>
              <a:t>can</a:t>
            </a:r>
            <a:r>
              <a:rPr sz="1800" spc="-35" dirty="0">
                <a:latin typeface="Calibri"/>
                <a:cs typeface="Calibri"/>
              </a:rPr>
              <a:t> </a:t>
            </a:r>
            <a:r>
              <a:rPr sz="1800" dirty="0">
                <a:latin typeface="Calibri"/>
                <a:cs typeface="Calibri"/>
              </a:rPr>
              <a:t>see</a:t>
            </a:r>
            <a:r>
              <a:rPr sz="1800" spc="-55" dirty="0">
                <a:latin typeface="Calibri"/>
                <a:cs typeface="Calibri"/>
              </a:rPr>
              <a:t> </a:t>
            </a:r>
            <a:r>
              <a:rPr sz="1800" dirty="0">
                <a:latin typeface="Calibri"/>
                <a:cs typeface="Calibri"/>
              </a:rPr>
              <a:t>that</a:t>
            </a:r>
            <a:r>
              <a:rPr sz="1800" spc="320" dirty="0">
                <a:latin typeface="Calibri"/>
                <a:cs typeface="Calibri"/>
              </a:rPr>
              <a:t> </a:t>
            </a:r>
            <a:r>
              <a:rPr sz="1800" dirty="0">
                <a:latin typeface="Calibri"/>
                <a:cs typeface="Calibri"/>
              </a:rPr>
              <a:t>26%</a:t>
            </a:r>
            <a:r>
              <a:rPr sz="1800" spc="-4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the</a:t>
            </a:r>
            <a:r>
              <a:rPr sz="1800" spc="-35" dirty="0">
                <a:latin typeface="Calibri"/>
                <a:cs typeface="Calibri"/>
              </a:rPr>
              <a:t> </a:t>
            </a:r>
            <a:r>
              <a:rPr sz="1800" spc="-20" dirty="0">
                <a:latin typeface="Calibri"/>
                <a:cs typeface="Calibri"/>
              </a:rPr>
              <a:t>restaurants</a:t>
            </a:r>
            <a:r>
              <a:rPr sz="1800" spc="-60" dirty="0">
                <a:latin typeface="Calibri"/>
                <a:cs typeface="Calibri"/>
              </a:rPr>
              <a:t> </a:t>
            </a:r>
            <a:r>
              <a:rPr sz="1800" dirty="0">
                <a:latin typeface="Calibri"/>
                <a:cs typeface="Calibri"/>
              </a:rPr>
              <a:t>provides</a:t>
            </a:r>
            <a:r>
              <a:rPr sz="1800" spc="-35" dirty="0">
                <a:latin typeface="Calibri"/>
                <a:cs typeface="Calibri"/>
              </a:rPr>
              <a:t> </a:t>
            </a:r>
            <a:r>
              <a:rPr sz="1800" dirty="0">
                <a:latin typeface="Calibri"/>
                <a:cs typeface="Calibri"/>
              </a:rPr>
              <a:t>online</a:t>
            </a:r>
            <a:r>
              <a:rPr sz="1800" spc="-5" dirty="0">
                <a:latin typeface="Calibri"/>
                <a:cs typeface="Calibri"/>
              </a:rPr>
              <a:t> </a:t>
            </a:r>
            <a:r>
              <a:rPr sz="1800" dirty="0">
                <a:latin typeface="Calibri"/>
                <a:cs typeface="Calibri"/>
              </a:rPr>
              <a:t>delivery</a:t>
            </a:r>
            <a:r>
              <a:rPr sz="1800" spc="-45" dirty="0">
                <a:latin typeface="Calibri"/>
                <a:cs typeface="Calibri"/>
              </a:rPr>
              <a:t> </a:t>
            </a:r>
            <a:r>
              <a:rPr sz="1800" dirty="0">
                <a:latin typeface="Calibri"/>
                <a:cs typeface="Calibri"/>
              </a:rPr>
              <a:t>rest</a:t>
            </a:r>
            <a:r>
              <a:rPr sz="1800" spc="-55" dirty="0">
                <a:latin typeface="Calibri"/>
                <a:cs typeface="Calibri"/>
              </a:rPr>
              <a:t> </a:t>
            </a:r>
            <a:r>
              <a:rPr sz="1800" dirty="0">
                <a:latin typeface="Calibri"/>
                <a:cs typeface="Calibri"/>
              </a:rPr>
              <a:t>7</a:t>
            </a:r>
            <a:r>
              <a:rPr lang="en-US" sz="1800" dirty="0">
                <a:latin typeface="Calibri"/>
                <a:cs typeface="Calibri"/>
              </a:rPr>
              <a:t>4</a:t>
            </a:r>
            <a:r>
              <a:rPr sz="1800" dirty="0">
                <a:latin typeface="Calibri"/>
                <a:cs typeface="Calibri"/>
              </a:rPr>
              <a:t>%</a:t>
            </a:r>
            <a:r>
              <a:rPr sz="1800" spc="-35" dirty="0">
                <a:latin typeface="Calibri"/>
                <a:cs typeface="Calibri"/>
              </a:rPr>
              <a:t> </a:t>
            </a:r>
            <a:r>
              <a:rPr sz="1800" dirty="0">
                <a:latin typeface="Calibri"/>
                <a:cs typeface="Calibri"/>
              </a:rPr>
              <a:t>do</a:t>
            </a:r>
            <a:r>
              <a:rPr sz="1800" spc="-45" dirty="0">
                <a:latin typeface="Calibri"/>
                <a:cs typeface="Calibri"/>
              </a:rPr>
              <a:t> </a:t>
            </a:r>
            <a:r>
              <a:rPr sz="1800" dirty="0">
                <a:latin typeface="Calibri"/>
                <a:cs typeface="Calibri"/>
              </a:rPr>
              <a:t>not</a:t>
            </a:r>
            <a:r>
              <a:rPr sz="1800" spc="-40" dirty="0">
                <a:latin typeface="Calibri"/>
                <a:cs typeface="Calibri"/>
              </a:rPr>
              <a:t> </a:t>
            </a:r>
            <a:r>
              <a:rPr sz="1800" dirty="0">
                <a:latin typeface="Calibri"/>
                <a:cs typeface="Calibri"/>
              </a:rPr>
              <a:t>offer</a:t>
            </a:r>
            <a:r>
              <a:rPr sz="1800" spc="-40" dirty="0">
                <a:latin typeface="Calibri"/>
                <a:cs typeface="Calibri"/>
              </a:rPr>
              <a:t> </a:t>
            </a:r>
            <a:r>
              <a:rPr sz="1800" dirty="0">
                <a:latin typeface="Calibri"/>
                <a:cs typeface="Calibri"/>
              </a:rPr>
              <a:t>any</a:t>
            </a:r>
            <a:r>
              <a:rPr sz="1800" spc="-50" dirty="0">
                <a:latin typeface="Calibri"/>
                <a:cs typeface="Calibri"/>
              </a:rPr>
              <a:t> </a:t>
            </a:r>
            <a:r>
              <a:rPr sz="1800" spc="-10" dirty="0">
                <a:latin typeface="Calibri"/>
                <a:cs typeface="Calibri"/>
              </a:rPr>
              <a:t>online</a:t>
            </a:r>
            <a:endParaRPr sz="1800" dirty="0">
              <a:latin typeface="Calibri"/>
              <a:cs typeface="Calibri"/>
            </a:endParaRPr>
          </a:p>
          <a:p>
            <a:pPr marL="469900">
              <a:lnSpc>
                <a:spcPct val="100000"/>
              </a:lnSpc>
            </a:pPr>
            <a:r>
              <a:rPr sz="1800" dirty="0">
                <a:latin typeface="Calibri"/>
                <a:cs typeface="Calibri"/>
              </a:rPr>
              <a:t>delivery</a:t>
            </a:r>
            <a:r>
              <a:rPr sz="1800" spc="-85" dirty="0">
                <a:latin typeface="Calibri"/>
                <a:cs typeface="Calibri"/>
              </a:rPr>
              <a:t> </a:t>
            </a:r>
            <a:r>
              <a:rPr sz="1800" spc="-10" dirty="0">
                <a:latin typeface="Calibri"/>
                <a:cs typeface="Calibri"/>
              </a:rPr>
              <a:t>service.</a:t>
            </a:r>
            <a:endParaRPr sz="1800" dirty="0">
              <a:latin typeface="Calibri"/>
              <a:cs typeface="Calibri"/>
            </a:endParaRPr>
          </a:p>
          <a:p>
            <a:pPr marL="469900" marR="80645" indent="-457200">
              <a:lnSpc>
                <a:spcPct val="100000"/>
              </a:lnSpc>
              <a:buFont typeface="Arial"/>
              <a:buChar char="•"/>
              <a:tabLst>
                <a:tab pos="469900" algn="l"/>
              </a:tabLst>
            </a:pPr>
            <a:r>
              <a:rPr sz="1800" dirty="0">
                <a:latin typeface="Calibri"/>
                <a:cs typeface="Calibri"/>
              </a:rPr>
              <a:t>While</a:t>
            </a:r>
            <a:r>
              <a:rPr sz="1800" spc="-10" dirty="0">
                <a:latin typeface="Calibri"/>
                <a:cs typeface="Calibri"/>
              </a:rPr>
              <a:t> </a:t>
            </a:r>
            <a:r>
              <a:rPr sz="1800" dirty="0">
                <a:latin typeface="Calibri"/>
                <a:cs typeface="Calibri"/>
              </a:rPr>
              <a:t>in</a:t>
            </a:r>
            <a:r>
              <a:rPr sz="1800" spc="-3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chart</a:t>
            </a:r>
            <a:r>
              <a:rPr sz="1800" spc="-35" dirty="0">
                <a:latin typeface="Calibri"/>
                <a:cs typeface="Calibri"/>
              </a:rPr>
              <a:t> </a:t>
            </a:r>
            <a:r>
              <a:rPr sz="1800" dirty="0">
                <a:latin typeface="Calibri"/>
                <a:cs typeface="Calibri"/>
              </a:rPr>
              <a:t>2</a:t>
            </a:r>
            <a:r>
              <a:rPr sz="1800" spc="-45" dirty="0">
                <a:latin typeface="Calibri"/>
                <a:cs typeface="Calibri"/>
              </a:rPr>
              <a:t> </a:t>
            </a:r>
            <a:r>
              <a:rPr sz="1800" dirty="0">
                <a:latin typeface="Calibri"/>
                <a:cs typeface="Calibri"/>
              </a:rPr>
              <a:t>we</a:t>
            </a:r>
            <a:r>
              <a:rPr sz="1800" spc="-40" dirty="0">
                <a:latin typeface="Calibri"/>
                <a:cs typeface="Calibri"/>
              </a:rPr>
              <a:t> </a:t>
            </a:r>
            <a:r>
              <a:rPr sz="1800" dirty="0">
                <a:latin typeface="Calibri"/>
                <a:cs typeface="Calibri"/>
              </a:rPr>
              <a:t>see</a:t>
            </a:r>
            <a:r>
              <a:rPr sz="1800" spc="-55" dirty="0">
                <a:latin typeface="Calibri"/>
                <a:cs typeface="Calibri"/>
              </a:rPr>
              <a:t> </a:t>
            </a:r>
            <a:r>
              <a:rPr sz="1800" dirty="0">
                <a:latin typeface="Calibri"/>
                <a:cs typeface="Calibri"/>
              </a:rPr>
              <a:t>that</a:t>
            </a:r>
            <a:r>
              <a:rPr sz="1800" spc="-45" dirty="0">
                <a:latin typeface="Calibri"/>
                <a:cs typeface="Calibri"/>
              </a:rPr>
              <a:t> </a:t>
            </a:r>
            <a:r>
              <a:rPr sz="1800" dirty="0">
                <a:latin typeface="Calibri"/>
                <a:cs typeface="Calibri"/>
              </a:rPr>
              <a:t>only</a:t>
            </a:r>
            <a:r>
              <a:rPr sz="1800" spc="-50" dirty="0">
                <a:latin typeface="Calibri"/>
                <a:cs typeface="Calibri"/>
              </a:rPr>
              <a:t> </a:t>
            </a:r>
            <a:r>
              <a:rPr sz="1800" dirty="0">
                <a:latin typeface="Calibri"/>
                <a:cs typeface="Calibri"/>
              </a:rPr>
              <a:t>12%</a:t>
            </a:r>
            <a:r>
              <a:rPr sz="1800" spc="-50"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the</a:t>
            </a:r>
            <a:r>
              <a:rPr sz="1800" spc="-45" dirty="0">
                <a:latin typeface="Calibri"/>
                <a:cs typeface="Calibri"/>
              </a:rPr>
              <a:t> </a:t>
            </a:r>
            <a:r>
              <a:rPr sz="1800" spc="-30" dirty="0">
                <a:latin typeface="Calibri"/>
                <a:cs typeface="Calibri"/>
              </a:rPr>
              <a:t>restaurants</a:t>
            </a:r>
            <a:r>
              <a:rPr sz="1800" spc="-55" dirty="0">
                <a:latin typeface="Calibri"/>
                <a:cs typeface="Calibri"/>
              </a:rPr>
              <a:t> </a:t>
            </a:r>
            <a:r>
              <a:rPr sz="1800" spc="-10" dirty="0">
                <a:latin typeface="Calibri"/>
                <a:cs typeface="Calibri"/>
              </a:rPr>
              <a:t>offers</a:t>
            </a:r>
            <a:r>
              <a:rPr sz="1800" spc="-55" dirty="0">
                <a:latin typeface="Calibri"/>
                <a:cs typeface="Calibri"/>
              </a:rPr>
              <a:t> </a:t>
            </a:r>
            <a:r>
              <a:rPr sz="1800" dirty="0">
                <a:latin typeface="Calibri"/>
                <a:cs typeface="Calibri"/>
              </a:rPr>
              <a:t>for</a:t>
            </a:r>
            <a:r>
              <a:rPr sz="1800" spc="-35" dirty="0">
                <a:latin typeface="Calibri"/>
                <a:cs typeface="Calibri"/>
              </a:rPr>
              <a:t> </a:t>
            </a:r>
            <a:r>
              <a:rPr sz="1800" dirty="0">
                <a:latin typeface="Calibri"/>
                <a:cs typeface="Calibri"/>
              </a:rPr>
              <a:t>table</a:t>
            </a:r>
            <a:r>
              <a:rPr sz="1800" spc="-35" dirty="0">
                <a:latin typeface="Calibri"/>
                <a:cs typeface="Calibri"/>
              </a:rPr>
              <a:t> </a:t>
            </a:r>
            <a:r>
              <a:rPr sz="1800" dirty="0">
                <a:latin typeface="Calibri"/>
                <a:cs typeface="Calibri"/>
              </a:rPr>
              <a:t>booking</a:t>
            </a:r>
            <a:r>
              <a:rPr sz="1800" spc="-20" dirty="0">
                <a:latin typeface="Calibri"/>
                <a:cs typeface="Calibri"/>
              </a:rPr>
              <a:t> </a:t>
            </a:r>
            <a:r>
              <a:rPr sz="1800" dirty="0">
                <a:latin typeface="Calibri"/>
                <a:cs typeface="Calibri"/>
              </a:rPr>
              <a:t>rest</a:t>
            </a:r>
            <a:r>
              <a:rPr sz="1800" spc="-65" dirty="0">
                <a:latin typeface="Calibri"/>
                <a:cs typeface="Calibri"/>
              </a:rPr>
              <a:t> </a:t>
            </a:r>
            <a:r>
              <a:rPr sz="1800" dirty="0">
                <a:latin typeface="Calibri"/>
                <a:cs typeface="Calibri"/>
              </a:rPr>
              <a:t>88%</a:t>
            </a:r>
            <a:r>
              <a:rPr sz="1800" spc="-50" dirty="0">
                <a:latin typeface="Calibri"/>
                <a:cs typeface="Calibri"/>
              </a:rPr>
              <a:t> </a:t>
            </a:r>
            <a:r>
              <a:rPr sz="1800" spc="-25" dirty="0">
                <a:latin typeface="Calibri"/>
                <a:cs typeface="Calibri"/>
              </a:rPr>
              <a:t>do </a:t>
            </a:r>
            <a:r>
              <a:rPr sz="1800" dirty="0">
                <a:latin typeface="Calibri"/>
                <a:cs typeface="Calibri"/>
              </a:rPr>
              <a:t>not</a:t>
            </a:r>
            <a:r>
              <a:rPr sz="1800" spc="-80" dirty="0">
                <a:latin typeface="Calibri"/>
                <a:cs typeface="Calibri"/>
              </a:rPr>
              <a:t> </a:t>
            </a:r>
            <a:r>
              <a:rPr sz="1800" dirty="0">
                <a:latin typeface="Calibri"/>
                <a:cs typeface="Calibri"/>
              </a:rPr>
              <a:t>offer</a:t>
            </a:r>
            <a:r>
              <a:rPr sz="1800" spc="-95" dirty="0">
                <a:latin typeface="Calibri"/>
                <a:cs typeface="Calibri"/>
              </a:rPr>
              <a:t> </a:t>
            </a:r>
            <a:r>
              <a:rPr sz="1800" dirty="0">
                <a:latin typeface="Calibri"/>
                <a:cs typeface="Calibri"/>
              </a:rPr>
              <a:t>any</a:t>
            </a:r>
            <a:r>
              <a:rPr sz="1800" spc="-70" dirty="0">
                <a:latin typeface="Calibri"/>
                <a:cs typeface="Calibri"/>
              </a:rPr>
              <a:t> </a:t>
            </a:r>
            <a:r>
              <a:rPr sz="1800" dirty="0">
                <a:latin typeface="Calibri"/>
                <a:cs typeface="Calibri"/>
              </a:rPr>
              <a:t>table</a:t>
            </a:r>
            <a:r>
              <a:rPr sz="1800" spc="-80" dirty="0">
                <a:latin typeface="Calibri"/>
                <a:cs typeface="Calibri"/>
              </a:rPr>
              <a:t> </a:t>
            </a:r>
            <a:r>
              <a:rPr sz="1800" spc="-10" dirty="0">
                <a:latin typeface="Calibri"/>
                <a:cs typeface="Calibri"/>
              </a:rPr>
              <a:t>booking.</a:t>
            </a:r>
            <a:endParaRPr sz="1800" dirty="0">
              <a:latin typeface="Calibri"/>
              <a:cs typeface="Calibri"/>
            </a:endParaRPr>
          </a:p>
          <a:p>
            <a:pPr marL="469900" marR="276225" indent="-457200">
              <a:lnSpc>
                <a:spcPct val="100000"/>
              </a:lnSpc>
              <a:buFont typeface="Arial"/>
              <a:buChar char="•"/>
              <a:tabLst>
                <a:tab pos="469900" algn="l"/>
              </a:tabLst>
            </a:pPr>
            <a:r>
              <a:rPr sz="1800" dirty="0">
                <a:latin typeface="Calibri"/>
                <a:cs typeface="Calibri"/>
              </a:rPr>
              <a:t>So</a:t>
            </a:r>
            <a:r>
              <a:rPr sz="1800" spc="-70" dirty="0">
                <a:latin typeface="Calibri"/>
                <a:cs typeface="Calibri"/>
              </a:rPr>
              <a:t> </a:t>
            </a:r>
            <a:r>
              <a:rPr sz="1800" dirty="0">
                <a:latin typeface="Calibri"/>
                <a:cs typeface="Calibri"/>
              </a:rPr>
              <a:t>if</a:t>
            </a:r>
            <a:r>
              <a:rPr sz="1800" spc="-45" dirty="0">
                <a:latin typeface="Calibri"/>
                <a:cs typeface="Calibri"/>
              </a:rPr>
              <a:t> </a:t>
            </a:r>
            <a:r>
              <a:rPr sz="1800" dirty="0">
                <a:latin typeface="Calibri"/>
                <a:cs typeface="Calibri"/>
              </a:rPr>
              <a:t>in</a:t>
            </a:r>
            <a:r>
              <a:rPr sz="1800" spc="-40" dirty="0">
                <a:latin typeface="Calibri"/>
                <a:cs typeface="Calibri"/>
              </a:rPr>
              <a:t> </a:t>
            </a:r>
            <a:r>
              <a:rPr sz="1800" dirty="0">
                <a:latin typeface="Calibri"/>
                <a:cs typeface="Calibri"/>
              </a:rPr>
              <a:t>our</a:t>
            </a:r>
            <a:r>
              <a:rPr sz="1800" spc="-55" dirty="0">
                <a:latin typeface="Calibri"/>
                <a:cs typeface="Calibri"/>
              </a:rPr>
              <a:t> </a:t>
            </a:r>
            <a:r>
              <a:rPr sz="1800" dirty="0">
                <a:latin typeface="Calibri"/>
                <a:cs typeface="Calibri"/>
              </a:rPr>
              <a:t>new</a:t>
            </a:r>
            <a:r>
              <a:rPr sz="1800" spc="-55" dirty="0">
                <a:latin typeface="Calibri"/>
                <a:cs typeface="Calibri"/>
              </a:rPr>
              <a:t> </a:t>
            </a:r>
            <a:r>
              <a:rPr sz="1800" dirty="0">
                <a:latin typeface="Calibri"/>
                <a:cs typeface="Calibri"/>
              </a:rPr>
              <a:t>restaurants</a:t>
            </a:r>
            <a:r>
              <a:rPr sz="1800" spc="280" dirty="0">
                <a:latin typeface="Calibri"/>
                <a:cs typeface="Calibri"/>
              </a:rPr>
              <a:t> </a:t>
            </a:r>
            <a:r>
              <a:rPr sz="1800" dirty="0">
                <a:latin typeface="Calibri"/>
                <a:cs typeface="Calibri"/>
              </a:rPr>
              <a:t>we</a:t>
            </a:r>
            <a:r>
              <a:rPr sz="1800" spc="-40" dirty="0">
                <a:latin typeface="Calibri"/>
                <a:cs typeface="Calibri"/>
              </a:rPr>
              <a:t> </a:t>
            </a:r>
            <a:r>
              <a:rPr sz="1800" dirty="0">
                <a:latin typeface="Calibri"/>
                <a:cs typeface="Calibri"/>
              </a:rPr>
              <a:t>go</a:t>
            </a:r>
            <a:r>
              <a:rPr sz="1800" spc="-60" dirty="0">
                <a:latin typeface="Calibri"/>
                <a:cs typeface="Calibri"/>
              </a:rPr>
              <a:t> </a:t>
            </a:r>
            <a:r>
              <a:rPr sz="1800" dirty="0">
                <a:latin typeface="Calibri"/>
                <a:cs typeface="Calibri"/>
              </a:rPr>
              <a:t>for</a:t>
            </a:r>
            <a:r>
              <a:rPr sz="1800" spc="-65" dirty="0">
                <a:latin typeface="Calibri"/>
                <a:cs typeface="Calibri"/>
              </a:rPr>
              <a:t> </a:t>
            </a:r>
            <a:r>
              <a:rPr sz="1800" dirty="0">
                <a:latin typeface="Calibri"/>
                <a:cs typeface="Calibri"/>
              </a:rPr>
              <a:t>online</a:t>
            </a:r>
            <a:r>
              <a:rPr sz="1800" spc="-20" dirty="0">
                <a:latin typeface="Calibri"/>
                <a:cs typeface="Calibri"/>
              </a:rPr>
              <a:t> </a:t>
            </a:r>
            <a:r>
              <a:rPr sz="1800" dirty="0">
                <a:latin typeface="Calibri"/>
                <a:cs typeface="Calibri"/>
              </a:rPr>
              <a:t>delivery</a:t>
            </a:r>
            <a:r>
              <a:rPr sz="1800" spc="-5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table</a:t>
            </a:r>
            <a:r>
              <a:rPr sz="1800" spc="-40" dirty="0">
                <a:latin typeface="Calibri"/>
                <a:cs typeface="Calibri"/>
              </a:rPr>
              <a:t> </a:t>
            </a:r>
            <a:r>
              <a:rPr sz="1800" dirty="0">
                <a:latin typeface="Calibri"/>
                <a:cs typeface="Calibri"/>
              </a:rPr>
              <a:t>booking</a:t>
            </a:r>
            <a:r>
              <a:rPr sz="1800" spc="305" dirty="0">
                <a:latin typeface="Calibri"/>
                <a:cs typeface="Calibri"/>
              </a:rPr>
              <a:t> </a:t>
            </a:r>
            <a:r>
              <a:rPr sz="1800" dirty="0">
                <a:latin typeface="Calibri"/>
                <a:cs typeface="Calibri"/>
              </a:rPr>
              <a:t>then</a:t>
            </a:r>
            <a:r>
              <a:rPr sz="1800" spc="-25" dirty="0">
                <a:latin typeface="Calibri"/>
                <a:cs typeface="Calibri"/>
              </a:rPr>
              <a:t> </a:t>
            </a:r>
            <a:r>
              <a:rPr sz="1800" dirty="0">
                <a:latin typeface="Calibri"/>
                <a:cs typeface="Calibri"/>
              </a:rPr>
              <a:t>it</a:t>
            </a:r>
            <a:r>
              <a:rPr sz="1800" spc="-65"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be</a:t>
            </a:r>
            <a:r>
              <a:rPr sz="1800" spc="-35" dirty="0">
                <a:latin typeface="Calibri"/>
                <a:cs typeface="Calibri"/>
              </a:rPr>
              <a:t> </a:t>
            </a:r>
            <a:r>
              <a:rPr sz="1800" dirty="0">
                <a:latin typeface="Calibri"/>
                <a:cs typeface="Calibri"/>
              </a:rPr>
              <a:t>a</a:t>
            </a:r>
            <a:r>
              <a:rPr sz="1800" spc="-65" dirty="0">
                <a:latin typeface="Calibri"/>
                <a:cs typeface="Calibri"/>
              </a:rPr>
              <a:t> </a:t>
            </a:r>
            <a:r>
              <a:rPr sz="1800" spc="-20" dirty="0">
                <a:latin typeface="Calibri"/>
                <a:cs typeface="Calibri"/>
              </a:rPr>
              <a:t>good strategy</a:t>
            </a:r>
            <a:r>
              <a:rPr sz="1800" spc="-40" dirty="0">
                <a:latin typeface="Calibri"/>
                <a:cs typeface="Calibri"/>
              </a:rPr>
              <a:t> </a:t>
            </a:r>
            <a:r>
              <a:rPr sz="1800" spc="-50" dirty="0">
                <a:latin typeface="Calibri"/>
                <a:cs typeface="Calibri"/>
              </a:rPr>
              <a:t>.</a:t>
            </a:r>
            <a:endParaRPr sz="1800" dirty="0">
              <a:latin typeface="Calibri"/>
              <a:cs typeface="Calibri"/>
            </a:endParaRPr>
          </a:p>
        </p:txBody>
      </p:sp>
      <p:sp>
        <p:nvSpPr>
          <p:cNvPr id="12" name="object 12"/>
          <p:cNvSpPr txBox="1"/>
          <p:nvPr/>
        </p:nvSpPr>
        <p:spPr>
          <a:xfrm>
            <a:off x="1838144" y="1315974"/>
            <a:ext cx="3491502" cy="220573"/>
          </a:xfrm>
          <a:prstGeom prst="rect">
            <a:avLst/>
          </a:prstGeom>
        </p:spPr>
        <p:txBody>
          <a:bodyPr vert="horz" wrap="square" lIns="0" tIns="8255" rIns="0" bIns="0" rtlCol="0">
            <a:spAutoFit/>
          </a:bodyPr>
          <a:lstStyle/>
          <a:p>
            <a:pPr marL="966469" marR="5080" indent="-954405">
              <a:lnSpc>
                <a:spcPct val="102099"/>
              </a:lnSpc>
              <a:spcBef>
                <a:spcPts val="65"/>
              </a:spcBef>
            </a:pPr>
            <a:r>
              <a:rPr lang="en-US" sz="1400" spc="-25" dirty="0">
                <a:solidFill>
                  <a:srgbClr val="585858"/>
                </a:solidFill>
                <a:latin typeface="Calibri"/>
                <a:cs typeface="Calibri"/>
              </a:rPr>
              <a:t>Percentage</a:t>
            </a:r>
            <a:r>
              <a:rPr sz="1400" spc="-25" dirty="0">
                <a:solidFill>
                  <a:srgbClr val="585858"/>
                </a:solidFill>
                <a:latin typeface="Calibri"/>
                <a:cs typeface="Calibri"/>
              </a:rPr>
              <a:t> </a:t>
            </a:r>
            <a:r>
              <a:rPr sz="1400" dirty="0">
                <a:solidFill>
                  <a:srgbClr val="585858"/>
                </a:solidFill>
                <a:latin typeface="Calibri"/>
                <a:cs typeface="Calibri"/>
              </a:rPr>
              <a:t>of</a:t>
            </a:r>
            <a:r>
              <a:rPr sz="1400" spc="-30" dirty="0">
                <a:solidFill>
                  <a:srgbClr val="585858"/>
                </a:solidFill>
                <a:latin typeface="Calibri"/>
                <a:cs typeface="Calibri"/>
              </a:rPr>
              <a:t> </a:t>
            </a:r>
            <a:r>
              <a:rPr sz="1400" spc="-20" dirty="0">
                <a:solidFill>
                  <a:srgbClr val="585858"/>
                </a:solidFill>
                <a:latin typeface="Calibri"/>
                <a:cs typeface="Calibri"/>
              </a:rPr>
              <a:t>restaurants</a:t>
            </a:r>
            <a:r>
              <a:rPr sz="1400" spc="-40" dirty="0">
                <a:solidFill>
                  <a:srgbClr val="585858"/>
                </a:solidFill>
                <a:latin typeface="Calibri"/>
                <a:cs typeface="Calibri"/>
              </a:rPr>
              <a:t> </a:t>
            </a:r>
            <a:r>
              <a:rPr sz="1400" dirty="0">
                <a:solidFill>
                  <a:srgbClr val="585858"/>
                </a:solidFill>
                <a:latin typeface="Calibri"/>
                <a:cs typeface="Calibri"/>
              </a:rPr>
              <a:t>having</a:t>
            </a:r>
            <a:r>
              <a:rPr sz="1400" spc="-30" dirty="0">
                <a:solidFill>
                  <a:srgbClr val="585858"/>
                </a:solidFill>
                <a:latin typeface="Calibri"/>
                <a:cs typeface="Calibri"/>
              </a:rPr>
              <a:t> </a:t>
            </a:r>
            <a:r>
              <a:rPr sz="1400" spc="-10" dirty="0">
                <a:solidFill>
                  <a:srgbClr val="585858"/>
                </a:solidFill>
                <a:latin typeface="Calibri"/>
                <a:cs typeface="Calibri"/>
              </a:rPr>
              <a:t>online delivery</a:t>
            </a:r>
            <a:endParaRPr sz="1400" dirty="0">
              <a:latin typeface="Calibri"/>
              <a:cs typeface="Calibri"/>
            </a:endParaRPr>
          </a:p>
        </p:txBody>
      </p:sp>
      <p:sp>
        <p:nvSpPr>
          <p:cNvPr id="23" name="object 23"/>
          <p:cNvSpPr txBox="1"/>
          <p:nvPr/>
        </p:nvSpPr>
        <p:spPr>
          <a:xfrm>
            <a:off x="7177785" y="1313814"/>
            <a:ext cx="3363941" cy="228909"/>
          </a:xfrm>
          <a:prstGeom prst="rect">
            <a:avLst/>
          </a:prstGeom>
        </p:spPr>
        <p:txBody>
          <a:bodyPr vert="horz" wrap="square" lIns="0" tIns="13335" rIns="0" bIns="0" rtlCol="0">
            <a:spAutoFit/>
          </a:bodyPr>
          <a:lstStyle/>
          <a:p>
            <a:pPr marL="12700">
              <a:lnSpc>
                <a:spcPct val="100000"/>
              </a:lnSpc>
              <a:spcBef>
                <a:spcPts val="105"/>
              </a:spcBef>
            </a:pPr>
            <a:r>
              <a:rPr lang="en-US" sz="1400" spc="-30" dirty="0">
                <a:solidFill>
                  <a:srgbClr val="585858"/>
                </a:solidFill>
                <a:latin typeface="Calibri"/>
                <a:cs typeface="Calibri"/>
              </a:rPr>
              <a:t>Percentage</a:t>
            </a:r>
            <a:r>
              <a:rPr sz="1400" spc="-30" dirty="0">
                <a:solidFill>
                  <a:srgbClr val="585858"/>
                </a:solidFill>
                <a:latin typeface="Calibri"/>
                <a:cs typeface="Calibri"/>
              </a:rPr>
              <a:t> </a:t>
            </a:r>
            <a:r>
              <a:rPr sz="1400" dirty="0">
                <a:solidFill>
                  <a:srgbClr val="585858"/>
                </a:solidFill>
                <a:latin typeface="Calibri"/>
                <a:cs typeface="Calibri"/>
              </a:rPr>
              <a:t>of</a:t>
            </a:r>
            <a:r>
              <a:rPr sz="1400" spc="-40" dirty="0">
                <a:solidFill>
                  <a:srgbClr val="585858"/>
                </a:solidFill>
                <a:latin typeface="Calibri"/>
                <a:cs typeface="Calibri"/>
              </a:rPr>
              <a:t> </a:t>
            </a:r>
            <a:r>
              <a:rPr sz="1400" spc="-20" dirty="0">
                <a:solidFill>
                  <a:srgbClr val="585858"/>
                </a:solidFill>
                <a:latin typeface="Calibri"/>
                <a:cs typeface="Calibri"/>
              </a:rPr>
              <a:t>restaurants</a:t>
            </a:r>
            <a:r>
              <a:rPr sz="1400" spc="-50" dirty="0">
                <a:solidFill>
                  <a:srgbClr val="585858"/>
                </a:solidFill>
                <a:latin typeface="Calibri"/>
                <a:cs typeface="Calibri"/>
              </a:rPr>
              <a:t> </a:t>
            </a:r>
            <a:r>
              <a:rPr sz="1400" dirty="0">
                <a:solidFill>
                  <a:srgbClr val="585858"/>
                </a:solidFill>
                <a:latin typeface="Calibri"/>
                <a:cs typeface="Calibri"/>
              </a:rPr>
              <a:t>having</a:t>
            </a:r>
            <a:r>
              <a:rPr sz="1400" spc="-35" dirty="0">
                <a:solidFill>
                  <a:srgbClr val="585858"/>
                </a:solidFill>
                <a:latin typeface="Calibri"/>
                <a:cs typeface="Calibri"/>
              </a:rPr>
              <a:t> </a:t>
            </a:r>
            <a:r>
              <a:rPr sz="1400" dirty="0">
                <a:solidFill>
                  <a:srgbClr val="585858"/>
                </a:solidFill>
                <a:latin typeface="Calibri"/>
                <a:cs typeface="Calibri"/>
              </a:rPr>
              <a:t>table</a:t>
            </a:r>
            <a:r>
              <a:rPr sz="1400" spc="-40" dirty="0">
                <a:solidFill>
                  <a:srgbClr val="585858"/>
                </a:solidFill>
                <a:latin typeface="Calibri"/>
                <a:cs typeface="Calibri"/>
              </a:rPr>
              <a:t> </a:t>
            </a:r>
            <a:r>
              <a:rPr sz="1400" spc="-10" dirty="0">
                <a:solidFill>
                  <a:srgbClr val="585858"/>
                </a:solidFill>
                <a:latin typeface="Calibri"/>
                <a:cs typeface="Calibri"/>
              </a:rPr>
              <a:t>booking</a:t>
            </a:r>
            <a:endParaRPr sz="1400" dirty="0">
              <a:latin typeface="Calibri"/>
              <a:cs typeface="Calibri"/>
            </a:endParaRPr>
          </a:p>
        </p:txBody>
      </p:sp>
      <p:graphicFrame>
        <p:nvGraphicFramePr>
          <p:cNvPr id="27" name="Chart 26">
            <a:extLst>
              <a:ext uri="{FF2B5EF4-FFF2-40B4-BE49-F238E27FC236}">
                <a16:creationId xmlns:a16="http://schemas.microsoft.com/office/drawing/2014/main" id="{DF68183E-9C67-62E1-DFE1-D5DFFEF43518}"/>
              </a:ext>
            </a:extLst>
          </p:cNvPr>
          <p:cNvGraphicFramePr>
            <a:graphicFrameLocks/>
          </p:cNvGraphicFramePr>
          <p:nvPr>
            <p:extLst>
              <p:ext uri="{D42A27DB-BD31-4B8C-83A1-F6EECF244321}">
                <p14:modId xmlns:p14="http://schemas.microsoft.com/office/powerpoint/2010/main" val="3197976132"/>
              </p:ext>
            </p:extLst>
          </p:nvPr>
        </p:nvGraphicFramePr>
        <p:xfrm>
          <a:off x="7303333" y="1773808"/>
          <a:ext cx="2916737" cy="24018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a:extLst>
              <a:ext uri="{FF2B5EF4-FFF2-40B4-BE49-F238E27FC236}">
                <a16:creationId xmlns:a16="http://schemas.microsoft.com/office/drawing/2014/main" id="{9C868B0D-9424-B976-7675-1D7CA753B18B}"/>
              </a:ext>
            </a:extLst>
          </p:cNvPr>
          <p:cNvGraphicFramePr>
            <a:graphicFrameLocks/>
          </p:cNvGraphicFramePr>
          <p:nvPr>
            <p:extLst>
              <p:ext uri="{D42A27DB-BD31-4B8C-83A1-F6EECF244321}">
                <p14:modId xmlns:p14="http://schemas.microsoft.com/office/powerpoint/2010/main" val="2394058630"/>
              </p:ext>
            </p:extLst>
          </p:nvPr>
        </p:nvGraphicFramePr>
        <p:xfrm>
          <a:off x="1971931" y="1773808"/>
          <a:ext cx="2782950" cy="2401825"/>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268730" y="4741545"/>
            <a:ext cx="9126855" cy="1243930"/>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5600" algn="l"/>
              </a:tabLst>
            </a:pPr>
            <a:r>
              <a:rPr lang="en-IN" sz="2000" dirty="0">
                <a:latin typeface="Calibri"/>
                <a:cs typeface="Calibri"/>
              </a:rPr>
              <a:t>This chart gives us the average expense for two person country wise.</a:t>
            </a:r>
            <a:endParaRPr sz="2000" dirty="0">
              <a:latin typeface="Calibri"/>
              <a:cs typeface="Calibri"/>
            </a:endParaRPr>
          </a:p>
          <a:p>
            <a:pPr marL="354965" indent="-342265">
              <a:lnSpc>
                <a:spcPct val="100000"/>
              </a:lnSpc>
              <a:buFont typeface="Arial"/>
              <a:buChar char="•"/>
              <a:tabLst>
                <a:tab pos="354965" algn="l"/>
              </a:tabLst>
            </a:pPr>
            <a:r>
              <a:rPr sz="2000" dirty="0">
                <a:latin typeface="Calibri"/>
                <a:cs typeface="Calibri"/>
              </a:rPr>
              <a:t>This</a:t>
            </a:r>
            <a:r>
              <a:rPr sz="2000" spc="-85" dirty="0">
                <a:latin typeface="Calibri"/>
                <a:cs typeface="Calibri"/>
              </a:rPr>
              <a:t> </a:t>
            </a:r>
            <a:r>
              <a:rPr sz="2000" dirty="0">
                <a:latin typeface="Calibri"/>
                <a:cs typeface="Calibri"/>
              </a:rPr>
              <a:t>gives</a:t>
            </a:r>
            <a:r>
              <a:rPr sz="2000" spc="-80" dirty="0">
                <a:latin typeface="Calibri"/>
                <a:cs typeface="Calibri"/>
              </a:rPr>
              <a:t> </a:t>
            </a:r>
            <a:r>
              <a:rPr sz="2000" dirty="0">
                <a:latin typeface="Calibri"/>
                <a:cs typeface="Calibri"/>
              </a:rPr>
              <a:t>us</a:t>
            </a:r>
            <a:r>
              <a:rPr sz="2000" spc="-100" dirty="0">
                <a:latin typeface="Calibri"/>
                <a:cs typeface="Calibri"/>
              </a:rPr>
              <a:t> </a:t>
            </a:r>
            <a:r>
              <a:rPr sz="2000" dirty="0">
                <a:latin typeface="Calibri"/>
                <a:cs typeface="Calibri"/>
              </a:rPr>
              <a:t>proper</a:t>
            </a:r>
            <a:r>
              <a:rPr sz="2000" spc="-70" dirty="0">
                <a:latin typeface="Calibri"/>
                <a:cs typeface="Calibri"/>
              </a:rPr>
              <a:t> </a:t>
            </a:r>
            <a:r>
              <a:rPr sz="2000" dirty="0">
                <a:latin typeface="Calibri"/>
                <a:cs typeface="Calibri"/>
              </a:rPr>
              <a:t>control</a:t>
            </a:r>
            <a:r>
              <a:rPr sz="2000" spc="-114" dirty="0">
                <a:latin typeface="Calibri"/>
                <a:cs typeface="Calibri"/>
              </a:rPr>
              <a:t> </a:t>
            </a:r>
            <a:r>
              <a:rPr sz="2000" dirty="0">
                <a:latin typeface="Calibri"/>
                <a:cs typeface="Calibri"/>
              </a:rPr>
              <a:t>over</a:t>
            </a:r>
            <a:r>
              <a:rPr sz="2000" spc="-75" dirty="0">
                <a:latin typeface="Calibri"/>
                <a:cs typeface="Calibri"/>
              </a:rPr>
              <a:t> </a:t>
            </a:r>
            <a:r>
              <a:rPr sz="2000" dirty="0">
                <a:latin typeface="Calibri"/>
                <a:cs typeface="Calibri"/>
              </a:rPr>
              <a:t>the</a:t>
            </a:r>
            <a:r>
              <a:rPr sz="2000" spc="-85" dirty="0">
                <a:latin typeface="Calibri"/>
                <a:cs typeface="Calibri"/>
              </a:rPr>
              <a:t> </a:t>
            </a:r>
            <a:r>
              <a:rPr sz="2000" spc="-20" dirty="0">
                <a:latin typeface="Calibri"/>
                <a:cs typeface="Calibri"/>
              </a:rPr>
              <a:t>expenditure</a:t>
            </a:r>
            <a:r>
              <a:rPr sz="2000" spc="-70" dirty="0">
                <a:latin typeface="Calibri"/>
                <a:cs typeface="Calibri"/>
              </a:rPr>
              <a:t> </a:t>
            </a:r>
            <a:r>
              <a:rPr sz="2000" dirty="0">
                <a:latin typeface="Calibri"/>
                <a:cs typeface="Calibri"/>
              </a:rPr>
              <a:t>on</a:t>
            </a:r>
            <a:r>
              <a:rPr sz="2000" spc="-90" dirty="0">
                <a:latin typeface="Calibri"/>
                <a:cs typeface="Calibri"/>
              </a:rPr>
              <a:t> </a:t>
            </a:r>
            <a:r>
              <a:rPr sz="2000" dirty="0">
                <a:latin typeface="Calibri"/>
                <a:cs typeface="Calibri"/>
              </a:rPr>
              <a:t>the</a:t>
            </a:r>
            <a:r>
              <a:rPr sz="2000" spc="-80" dirty="0">
                <a:latin typeface="Calibri"/>
                <a:cs typeface="Calibri"/>
              </a:rPr>
              <a:t> </a:t>
            </a:r>
            <a:r>
              <a:rPr sz="2000" spc="-10" dirty="0">
                <a:latin typeface="Calibri"/>
                <a:cs typeface="Calibri"/>
              </a:rPr>
              <a:t>food.</a:t>
            </a:r>
            <a:endParaRPr lang="en-US" sz="2000" spc="-10" dirty="0">
              <a:latin typeface="Calibri"/>
              <a:cs typeface="Calibri"/>
            </a:endParaRPr>
          </a:p>
          <a:p>
            <a:pPr marL="354965" indent="-342265">
              <a:lnSpc>
                <a:spcPct val="100000"/>
              </a:lnSpc>
              <a:buFont typeface="Arial"/>
              <a:buChar char="•"/>
              <a:tabLst>
                <a:tab pos="354965" algn="l"/>
              </a:tabLst>
            </a:pPr>
            <a:r>
              <a:rPr lang="en-IN" sz="2000" spc="-10" dirty="0">
                <a:latin typeface="Calibri"/>
                <a:cs typeface="Calibri"/>
              </a:rPr>
              <a:t>With this also we will get the idea at what expense we need to open the new restaurant.</a:t>
            </a:r>
            <a:endParaRPr sz="2000" dirty="0">
              <a:latin typeface="Calibri"/>
              <a:cs typeface="Calibri"/>
            </a:endParaRPr>
          </a:p>
        </p:txBody>
      </p:sp>
      <p:graphicFrame>
        <p:nvGraphicFramePr>
          <p:cNvPr id="52" name="Chart 51">
            <a:extLst>
              <a:ext uri="{FF2B5EF4-FFF2-40B4-BE49-F238E27FC236}">
                <a16:creationId xmlns:a16="http://schemas.microsoft.com/office/drawing/2014/main" id="{AA33775F-2CDB-8735-2C7F-E8AAAB9D5A3E}"/>
              </a:ext>
            </a:extLst>
          </p:cNvPr>
          <p:cNvGraphicFramePr>
            <a:graphicFrameLocks/>
          </p:cNvGraphicFramePr>
          <p:nvPr>
            <p:extLst>
              <p:ext uri="{D42A27DB-BD31-4B8C-83A1-F6EECF244321}">
                <p14:modId xmlns:p14="http://schemas.microsoft.com/office/powerpoint/2010/main" val="39755259"/>
              </p:ext>
            </p:extLst>
          </p:nvPr>
        </p:nvGraphicFramePr>
        <p:xfrm>
          <a:off x="2312127" y="946527"/>
          <a:ext cx="7889964" cy="3697117"/>
        </p:xfrm>
        <a:graphic>
          <a:graphicData uri="http://schemas.openxmlformats.org/drawingml/2006/chart">
            <c:chart xmlns:c="http://schemas.openxmlformats.org/drawingml/2006/chart" xmlns:r="http://schemas.openxmlformats.org/officeDocument/2006/relationships" r:id="rId2"/>
          </a:graphicData>
        </a:graphic>
      </p:graphicFrame>
      <p:sp>
        <p:nvSpPr>
          <p:cNvPr id="53" name="Rectangle 52">
            <a:extLst>
              <a:ext uri="{FF2B5EF4-FFF2-40B4-BE49-F238E27FC236}">
                <a16:creationId xmlns:a16="http://schemas.microsoft.com/office/drawing/2014/main" id="{36DB20A6-BC9C-06D4-7FA2-3A8B64539696}"/>
              </a:ext>
            </a:extLst>
          </p:cNvPr>
          <p:cNvSpPr/>
          <p:nvPr/>
        </p:nvSpPr>
        <p:spPr>
          <a:xfrm>
            <a:off x="980661" y="238641"/>
            <a:ext cx="9939887" cy="707886"/>
          </a:xfrm>
          <a:prstGeom prst="rect">
            <a:avLst/>
          </a:prstGeom>
          <a:noFill/>
        </p:spPr>
        <p:txBody>
          <a:bodyPr wrap="squar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Country wise Average cost of two in INR </a:t>
            </a:r>
            <a:endParaRPr lang="en-GB" sz="4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3"/>
        <p:cNvGrpSpPr/>
        <p:nvPr/>
      </p:nvGrpSpPr>
      <p:grpSpPr>
        <a:xfrm>
          <a:off x="0" y="0"/>
          <a:ext cx="0" cy="0"/>
          <a:chOff x="0" y="0"/>
          <a:chExt cx="0" cy="0"/>
        </a:xfrm>
      </p:grpSpPr>
      <p:sp>
        <p:nvSpPr>
          <p:cNvPr id="2" name="Rectangle 1">
            <a:extLst>
              <a:ext uri="{FF2B5EF4-FFF2-40B4-BE49-F238E27FC236}">
                <a16:creationId xmlns:a16="http://schemas.microsoft.com/office/drawing/2014/main" id="{211C46DB-5357-E539-C317-06CB63F0B97C}"/>
              </a:ext>
            </a:extLst>
          </p:cNvPr>
          <p:cNvSpPr/>
          <p:nvPr/>
        </p:nvSpPr>
        <p:spPr>
          <a:xfrm>
            <a:off x="1268729" y="238641"/>
            <a:ext cx="9651819" cy="707886"/>
          </a:xfrm>
          <a:prstGeom prst="rect">
            <a:avLst/>
          </a:prstGeom>
          <a:noFill/>
        </p:spPr>
        <p:txBody>
          <a:bodyPr wrap="squar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Country wise top Cuisines </a:t>
            </a:r>
          </a:p>
        </p:txBody>
      </p:sp>
      <p:graphicFrame>
        <p:nvGraphicFramePr>
          <p:cNvPr id="4" name="Chart 3">
            <a:extLst>
              <a:ext uri="{FF2B5EF4-FFF2-40B4-BE49-F238E27FC236}">
                <a16:creationId xmlns:a16="http://schemas.microsoft.com/office/drawing/2014/main" id="{D295DE2B-5356-5A40-B9E3-9F5BC370D318}"/>
              </a:ext>
            </a:extLst>
          </p:cNvPr>
          <p:cNvGraphicFramePr>
            <a:graphicFrameLocks/>
          </p:cNvGraphicFramePr>
          <p:nvPr>
            <p:extLst>
              <p:ext uri="{D42A27DB-BD31-4B8C-83A1-F6EECF244321}">
                <p14:modId xmlns:p14="http://schemas.microsoft.com/office/powerpoint/2010/main" val="389865858"/>
              </p:ext>
            </p:extLst>
          </p:nvPr>
        </p:nvGraphicFramePr>
        <p:xfrm>
          <a:off x="1268729" y="1218520"/>
          <a:ext cx="9392709" cy="3114675"/>
        </p:xfrm>
        <a:graphic>
          <a:graphicData uri="http://schemas.openxmlformats.org/drawingml/2006/chart">
            <c:chart xmlns:c="http://schemas.openxmlformats.org/drawingml/2006/chart" xmlns:r="http://schemas.openxmlformats.org/officeDocument/2006/relationships" r:id="rId3"/>
          </a:graphicData>
        </a:graphic>
      </p:graphicFrame>
      <p:sp>
        <p:nvSpPr>
          <p:cNvPr id="5" name="object 8">
            <a:extLst>
              <a:ext uri="{FF2B5EF4-FFF2-40B4-BE49-F238E27FC236}">
                <a16:creationId xmlns:a16="http://schemas.microsoft.com/office/drawing/2014/main" id="{ED783992-325A-6F55-7573-3ACD8935AA04}"/>
              </a:ext>
            </a:extLst>
          </p:cNvPr>
          <p:cNvSpPr txBox="1"/>
          <p:nvPr/>
        </p:nvSpPr>
        <p:spPr>
          <a:xfrm>
            <a:off x="1268729" y="4969813"/>
            <a:ext cx="9782447" cy="936154"/>
          </a:xfrm>
          <a:prstGeom prst="rect">
            <a:avLst/>
          </a:prstGeom>
        </p:spPr>
        <p:txBody>
          <a:bodyPr vert="horz" wrap="square" lIns="0" tIns="12700" rIns="0" bIns="0" rtlCol="0">
            <a:spAutoFit/>
          </a:bodyPr>
          <a:lstStyle/>
          <a:p>
            <a:pPr marL="355600" marR="5080" indent="-342900">
              <a:lnSpc>
                <a:spcPct val="100000"/>
              </a:lnSpc>
              <a:spcBef>
                <a:spcPts val="100"/>
              </a:spcBef>
              <a:buFont typeface="Arial"/>
              <a:buChar char="•"/>
              <a:tabLst>
                <a:tab pos="355600" algn="l"/>
              </a:tabLst>
            </a:pPr>
            <a:r>
              <a:rPr lang="en-IN" sz="2000" dirty="0">
                <a:latin typeface="Calibri"/>
                <a:cs typeface="Calibri"/>
              </a:rPr>
              <a:t>This chart gives us the top cuisine based on the rating given by the customer.</a:t>
            </a:r>
            <a:endParaRPr sz="2000" dirty="0">
              <a:latin typeface="Calibri"/>
              <a:cs typeface="Calibri"/>
            </a:endParaRPr>
          </a:p>
          <a:p>
            <a:pPr marL="354965" indent="-342265">
              <a:lnSpc>
                <a:spcPct val="100000"/>
              </a:lnSpc>
              <a:buFont typeface="Arial"/>
              <a:buChar char="•"/>
              <a:tabLst>
                <a:tab pos="354965" algn="l"/>
              </a:tabLst>
            </a:pPr>
            <a:r>
              <a:rPr sz="2000" dirty="0">
                <a:latin typeface="Calibri"/>
                <a:cs typeface="Calibri"/>
              </a:rPr>
              <a:t>This</a:t>
            </a:r>
            <a:r>
              <a:rPr sz="2000" spc="-85" dirty="0">
                <a:latin typeface="Calibri"/>
                <a:cs typeface="Calibri"/>
              </a:rPr>
              <a:t> </a:t>
            </a:r>
            <a:r>
              <a:rPr sz="2000" dirty="0">
                <a:latin typeface="Calibri"/>
                <a:cs typeface="Calibri"/>
              </a:rPr>
              <a:t>gives</a:t>
            </a:r>
            <a:r>
              <a:rPr sz="2000" spc="-80" dirty="0">
                <a:latin typeface="Calibri"/>
                <a:cs typeface="Calibri"/>
              </a:rPr>
              <a:t> </a:t>
            </a:r>
            <a:r>
              <a:rPr sz="2000" dirty="0">
                <a:latin typeface="Calibri"/>
                <a:cs typeface="Calibri"/>
              </a:rPr>
              <a:t>us</a:t>
            </a:r>
            <a:r>
              <a:rPr sz="2000" spc="-100" dirty="0">
                <a:latin typeface="Calibri"/>
                <a:cs typeface="Calibri"/>
              </a:rPr>
              <a:t> </a:t>
            </a:r>
            <a:r>
              <a:rPr sz="2000" dirty="0">
                <a:latin typeface="Calibri"/>
                <a:cs typeface="Calibri"/>
              </a:rPr>
              <a:t>proper</a:t>
            </a:r>
            <a:r>
              <a:rPr sz="2000" spc="-70" dirty="0">
                <a:latin typeface="Calibri"/>
                <a:cs typeface="Calibri"/>
              </a:rPr>
              <a:t> </a:t>
            </a:r>
            <a:r>
              <a:rPr sz="2000" dirty="0">
                <a:latin typeface="Calibri"/>
                <a:cs typeface="Calibri"/>
              </a:rPr>
              <a:t>control</a:t>
            </a:r>
            <a:r>
              <a:rPr sz="2000" spc="-114" dirty="0">
                <a:latin typeface="Calibri"/>
                <a:cs typeface="Calibri"/>
              </a:rPr>
              <a:t> </a:t>
            </a:r>
            <a:r>
              <a:rPr sz="2000" dirty="0">
                <a:latin typeface="Calibri"/>
                <a:cs typeface="Calibri"/>
              </a:rPr>
              <a:t>over</a:t>
            </a:r>
            <a:r>
              <a:rPr sz="2000" spc="-75" dirty="0">
                <a:latin typeface="Calibri"/>
                <a:cs typeface="Calibri"/>
              </a:rPr>
              <a:t> </a:t>
            </a:r>
            <a:r>
              <a:rPr sz="2000" dirty="0">
                <a:latin typeface="Calibri"/>
                <a:cs typeface="Calibri"/>
              </a:rPr>
              <a:t>the</a:t>
            </a:r>
            <a:r>
              <a:rPr sz="2000" spc="-85" dirty="0">
                <a:latin typeface="Calibri"/>
                <a:cs typeface="Calibri"/>
              </a:rPr>
              <a:t> </a:t>
            </a:r>
            <a:r>
              <a:rPr lang="en-US" sz="2000" spc="-20" dirty="0">
                <a:latin typeface="Calibri"/>
                <a:cs typeface="Calibri"/>
              </a:rPr>
              <a:t>cuisines that we need to provide to the customer in the new restaurant</a:t>
            </a:r>
            <a:r>
              <a:rPr sz="2000" spc="-10" dirty="0">
                <a:latin typeface="Calibri"/>
                <a:cs typeface="Calibri"/>
              </a:rPr>
              <a:t>.</a:t>
            </a:r>
            <a:endParaRPr lang="en-US" sz="2000" spc="-1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ADC6BAEA-D2C5-B9D3-9CEF-6B6410771447}"/>
              </a:ext>
            </a:extLst>
          </p:cNvPr>
          <p:cNvPicPr>
            <a:picLocks noChangeAspect="1"/>
          </p:cNvPicPr>
          <p:nvPr/>
        </p:nvPicPr>
        <p:blipFill>
          <a:blip r:embed="rId2"/>
          <a:stretch>
            <a:fillRect/>
          </a:stretch>
        </p:blipFill>
        <p:spPr>
          <a:xfrm>
            <a:off x="-1" y="0"/>
            <a:ext cx="12188951" cy="6858000"/>
          </a:xfrm>
          <a:prstGeom prst="rect">
            <a:avLst/>
          </a:prstGeom>
        </p:spPr>
      </p:pic>
    </p:spTree>
    <p:extLst>
      <p:ext uri="{BB962C8B-B14F-4D97-AF65-F5344CB8AC3E}">
        <p14:creationId xmlns:p14="http://schemas.microsoft.com/office/powerpoint/2010/main" val="1635340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D4865-BF11-3E89-FBC1-D50730CE3FDD}"/>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E975ACFD-3BB7-39BC-8CCF-22FB08C4AC41}"/>
              </a:ext>
            </a:extLst>
          </p:cNvPr>
          <p:cNvSpPr txBox="1"/>
          <p:nvPr/>
        </p:nvSpPr>
        <p:spPr>
          <a:xfrm>
            <a:off x="1361821" y="4124342"/>
            <a:ext cx="9491980" cy="2444259"/>
          </a:xfrm>
          <a:prstGeom prst="rect">
            <a:avLst/>
          </a:prstGeom>
        </p:spPr>
        <p:txBody>
          <a:bodyPr vert="horz" wrap="square" lIns="0" tIns="12700" rIns="0" bIns="0" rtlCol="0">
            <a:spAutoFit/>
          </a:bodyPr>
          <a:lstStyle/>
          <a:p>
            <a:r>
              <a:rPr lang="en-US" sz="2400" b="1" dirty="0">
                <a:latin typeface="Calibri"/>
                <a:cs typeface="Calibri"/>
                <a:sym typeface="Comic Sans MS"/>
              </a:rPr>
              <a:t>Countries Shortlisted:-</a:t>
            </a:r>
          </a:p>
          <a:p>
            <a:pPr marL="342900" indent="-342900">
              <a:lnSpc>
                <a:spcPct val="115000"/>
              </a:lnSpc>
              <a:buFont typeface="Arial" panose="020B0604020202020204" pitchFamily="34" charset="0"/>
              <a:buChar char="•"/>
            </a:pPr>
            <a:r>
              <a:rPr lang="en-US" sz="2000" dirty="0">
                <a:latin typeface="Calibri"/>
                <a:cs typeface="Calibri"/>
                <a:sym typeface="Comic Sans MS"/>
              </a:rPr>
              <a:t>South Africa</a:t>
            </a:r>
          </a:p>
          <a:p>
            <a:pPr marL="342900" indent="-342900">
              <a:lnSpc>
                <a:spcPct val="115000"/>
              </a:lnSpc>
              <a:buFont typeface="Arial" panose="020B0604020202020204" pitchFamily="34" charset="0"/>
              <a:buChar char="•"/>
            </a:pPr>
            <a:r>
              <a:rPr lang="en-US" sz="2000" dirty="0">
                <a:latin typeface="Calibri"/>
                <a:cs typeface="Calibri"/>
                <a:sym typeface="Comic Sans MS"/>
              </a:rPr>
              <a:t>Brazil</a:t>
            </a:r>
          </a:p>
          <a:p>
            <a:pPr marL="342900" indent="-342900">
              <a:lnSpc>
                <a:spcPct val="115000"/>
              </a:lnSpc>
              <a:buFont typeface="Arial" panose="020B0604020202020204" pitchFamily="34" charset="0"/>
              <a:buChar char="•"/>
            </a:pPr>
            <a:r>
              <a:rPr lang="en-US" sz="2000" dirty="0">
                <a:latin typeface="Calibri"/>
                <a:cs typeface="Calibri"/>
                <a:sym typeface="Comic Sans MS"/>
              </a:rPr>
              <a:t>Philippines</a:t>
            </a:r>
          </a:p>
          <a:p>
            <a:pPr marL="342900" indent="-342900">
              <a:lnSpc>
                <a:spcPct val="115000"/>
              </a:lnSpc>
              <a:buFont typeface="Arial" panose="020B0604020202020204" pitchFamily="34" charset="0"/>
              <a:buChar char="•"/>
            </a:pPr>
            <a:r>
              <a:rPr lang="en-US" sz="2000" dirty="0">
                <a:latin typeface="Calibri"/>
                <a:cs typeface="Calibri"/>
                <a:sym typeface="Comic Sans MS"/>
              </a:rPr>
              <a:t>Indonesia</a:t>
            </a:r>
          </a:p>
          <a:p>
            <a:pPr marL="342900" indent="-342900">
              <a:lnSpc>
                <a:spcPct val="115000"/>
              </a:lnSpc>
              <a:buFont typeface="Arial" panose="020B0604020202020204" pitchFamily="34" charset="0"/>
              <a:buChar char="•"/>
            </a:pPr>
            <a:r>
              <a:rPr lang="en-US" sz="2000" dirty="0">
                <a:latin typeface="Calibri"/>
                <a:cs typeface="Calibri"/>
                <a:sym typeface="Comic Sans MS"/>
              </a:rPr>
              <a:t>Canada</a:t>
            </a:r>
          </a:p>
          <a:p>
            <a:pPr marL="299085">
              <a:lnSpc>
                <a:spcPct val="100000"/>
              </a:lnSpc>
            </a:pPr>
            <a:endParaRPr sz="2000" dirty="0">
              <a:latin typeface="Calibri"/>
              <a:cs typeface="Calibri"/>
            </a:endParaRPr>
          </a:p>
        </p:txBody>
      </p:sp>
      <p:pic>
        <p:nvPicPr>
          <p:cNvPr id="6" name="object 6">
            <a:extLst>
              <a:ext uri="{FF2B5EF4-FFF2-40B4-BE49-F238E27FC236}">
                <a16:creationId xmlns:a16="http://schemas.microsoft.com/office/drawing/2014/main" id="{F531B0B3-0ECC-EBFE-0058-365C4ED0373E}"/>
              </a:ext>
            </a:extLst>
          </p:cNvPr>
          <p:cNvPicPr/>
          <p:nvPr/>
        </p:nvPicPr>
        <p:blipFill>
          <a:blip r:embed="rId2" cstate="print"/>
          <a:stretch>
            <a:fillRect/>
          </a:stretch>
        </p:blipFill>
        <p:spPr>
          <a:xfrm>
            <a:off x="3451477" y="1305309"/>
            <a:ext cx="4994023" cy="2086837"/>
          </a:xfrm>
          <a:prstGeom prst="rect">
            <a:avLst/>
          </a:prstGeom>
        </p:spPr>
      </p:pic>
      <p:sp>
        <p:nvSpPr>
          <p:cNvPr id="7" name="Rectangle 6">
            <a:extLst>
              <a:ext uri="{FF2B5EF4-FFF2-40B4-BE49-F238E27FC236}">
                <a16:creationId xmlns:a16="http://schemas.microsoft.com/office/drawing/2014/main" id="{C066BAD0-E971-6F45-2334-00EFD2C6554E}"/>
              </a:ext>
            </a:extLst>
          </p:cNvPr>
          <p:cNvSpPr/>
          <p:nvPr/>
        </p:nvSpPr>
        <p:spPr>
          <a:xfrm>
            <a:off x="3722515" y="366659"/>
            <a:ext cx="4487127" cy="707886"/>
          </a:xfrm>
          <a:prstGeom prst="rect">
            <a:avLst/>
          </a:prstGeom>
          <a:noFill/>
        </p:spPr>
        <p:txBody>
          <a:bodyPr wrap="non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Recommendation</a:t>
            </a:r>
          </a:p>
        </p:txBody>
      </p:sp>
    </p:spTree>
    <p:extLst>
      <p:ext uri="{BB962C8B-B14F-4D97-AF65-F5344CB8AC3E}">
        <p14:creationId xmlns:p14="http://schemas.microsoft.com/office/powerpoint/2010/main" val="2953152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6858000" y="1676400"/>
            <a:ext cx="4114800" cy="3715385"/>
          </a:xfrm>
          <a:prstGeom prst="rect">
            <a:avLst/>
          </a:prstGeom>
        </p:spPr>
      </p:pic>
      <p:sp>
        <p:nvSpPr>
          <p:cNvPr id="6" name="object 6"/>
          <p:cNvSpPr txBox="1"/>
          <p:nvPr/>
        </p:nvSpPr>
        <p:spPr>
          <a:xfrm>
            <a:off x="1380871" y="1490217"/>
            <a:ext cx="4715129" cy="4026743"/>
          </a:xfrm>
          <a:prstGeom prst="rect">
            <a:avLst/>
          </a:prstGeom>
        </p:spPr>
        <p:txBody>
          <a:bodyPr vert="horz" wrap="square" lIns="0" tIns="12700" rIns="0" bIns="0" rtlCol="0">
            <a:spAutoFit/>
          </a:bodyPr>
          <a:lstStyle/>
          <a:p>
            <a:pPr marL="354965" marR="448309" indent="-342900">
              <a:lnSpc>
                <a:spcPct val="100000"/>
              </a:lnSpc>
              <a:spcBef>
                <a:spcPts val="100"/>
              </a:spcBef>
              <a:buFont typeface="Arial"/>
              <a:buChar char="•"/>
              <a:tabLst>
                <a:tab pos="354965" algn="l"/>
              </a:tabLst>
            </a:pPr>
            <a:r>
              <a:rPr sz="2000" spc="-20" dirty="0">
                <a:latin typeface="Calibri"/>
                <a:cs typeface="Calibri"/>
              </a:rPr>
              <a:t>Analyzed</a:t>
            </a:r>
            <a:r>
              <a:rPr sz="2000" spc="-100" dirty="0">
                <a:latin typeface="Calibri"/>
                <a:cs typeface="Calibri"/>
              </a:rPr>
              <a:t> </a:t>
            </a:r>
            <a:r>
              <a:rPr sz="2000" dirty="0">
                <a:latin typeface="Calibri"/>
                <a:cs typeface="Calibri"/>
              </a:rPr>
              <a:t>the</a:t>
            </a:r>
            <a:r>
              <a:rPr sz="2000" spc="-75" dirty="0">
                <a:latin typeface="Calibri"/>
                <a:cs typeface="Calibri"/>
              </a:rPr>
              <a:t> </a:t>
            </a:r>
            <a:r>
              <a:rPr sz="2000" dirty="0">
                <a:latin typeface="Calibri"/>
                <a:cs typeface="Calibri"/>
              </a:rPr>
              <a:t>data</a:t>
            </a:r>
            <a:r>
              <a:rPr sz="2000" spc="-90" dirty="0">
                <a:latin typeface="Calibri"/>
                <a:cs typeface="Calibri"/>
              </a:rPr>
              <a:t> </a:t>
            </a:r>
            <a:r>
              <a:rPr sz="2000" dirty="0">
                <a:latin typeface="Calibri"/>
                <a:cs typeface="Calibri"/>
              </a:rPr>
              <a:t>and</a:t>
            </a:r>
            <a:r>
              <a:rPr sz="2000" spc="-90" dirty="0">
                <a:latin typeface="Calibri"/>
                <a:cs typeface="Calibri"/>
              </a:rPr>
              <a:t> </a:t>
            </a:r>
            <a:r>
              <a:rPr sz="2000" spc="-10" dirty="0">
                <a:latin typeface="Calibri"/>
                <a:cs typeface="Calibri"/>
              </a:rPr>
              <a:t>identified countries</a:t>
            </a:r>
            <a:r>
              <a:rPr sz="2000" spc="-110" dirty="0">
                <a:latin typeface="Calibri"/>
                <a:cs typeface="Calibri"/>
              </a:rPr>
              <a:t> </a:t>
            </a:r>
            <a:r>
              <a:rPr sz="2000" spc="-10" dirty="0">
                <a:latin typeface="Calibri"/>
                <a:cs typeface="Calibri"/>
              </a:rPr>
              <a:t>where</a:t>
            </a:r>
            <a:r>
              <a:rPr sz="2000" spc="-85" dirty="0">
                <a:latin typeface="Calibri"/>
                <a:cs typeface="Calibri"/>
              </a:rPr>
              <a:t> </a:t>
            </a:r>
            <a:r>
              <a:rPr sz="2000" spc="-10" dirty="0">
                <a:latin typeface="Calibri"/>
                <a:cs typeface="Calibri"/>
              </a:rPr>
              <a:t>newer</a:t>
            </a:r>
            <a:r>
              <a:rPr sz="2000" spc="-85" dirty="0">
                <a:latin typeface="Calibri"/>
                <a:cs typeface="Calibri"/>
              </a:rPr>
              <a:t> </a:t>
            </a:r>
            <a:r>
              <a:rPr sz="2000" spc="-10" dirty="0">
                <a:latin typeface="Calibri"/>
                <a:cs typeface="Calibri"/>
              </a:rPr>
              <a:t>restaurants </a:t>
            </a:r>
            <a:r>
              <a:rPr sz="2000" dirty="0">
                <a:latin typeface="Calibri"/>
                <a:cs typeface="Calibri"/>
              </a:rPr>
              <a:t>can</a:t>
            </a:r>
            <a:r>
              <a:rPr sz="2000" spc="-65" dirty="0">
                <a:latin typeface="Calibri"/>
                <a:cs typeface="Calibri"/>
              </a:rPr>
              <a:t> </a:t>
            </a:r>
            <a:r>
              <a:rPr sz="2000" dirty="0">
                <a:latin typeface="Calibri"/>
                <a:cs typeface="Calibri"/>
              </a:rPr>
              <a:t>be</a:t>
            </a:r>
            <a:r>
              <a:rPr sz="2000" spc="-50" dirty="0">
                <a:latin typeface="Calibri"/>
                <a:cs typeface="Calibri"/>
              </a:rPr>
              <a:t> </a:t>
            </a:r>
            <a:r>
              <a:rPr sz="2000" spc="-10" dirty="0">
                <a:latin typeface="Calibri"/>
                <a:cs typeface="Calibri"/>
              </a:rPr>
              <a:t>opened.</a:t>
            </a:r>
            <a:endParaRPr lang="en-US" sz="2000" spc="-10" dirty="0">
              <a:latin typeface="Calibri"/>
              <a:cs typeface="Calibri"/>
            </a:endParaRPr>
          </a:p>
          <a:p>
            <a:pPr marL="12065" marR="448309">
              <a:lnSpc>
                <a:spcPct val="100000"/>
              </a:lnSpc>
              <a:spcBef>
                <a:spcPts val="100"/>
              </a:spcBef>
              <a:tabLst>
                <a:tab pos="354965" algn="l"/>
              </a:tabLst>
            </a:pPr>
            <a:endParaRPr sz="2000" dirty="0">
              <a:latin typeface="Calibri"/>
              <a:cs typeface="Calibri"/>
            </a:endParaRPr>
          </a:p>
          <a:p>
            <a:pPr marL="354965" marR="108585" indent="-342900">
              <a:lnSpc>
                <a:spcPct val="100000"/>
              </a:lnSpc>
              <a:buFont typeface="Arial"/>
              <a:buChar char="•"/>
              <a:tabLst>
                <a:tab pos="354965" algn="l"/>
              </a:tabLst>
            </a:pPr>
            <a:r>
              <a:rPr sz="2000" spc="-10" dirty="0">
                <a:latin typeface="Calibri"/>
                <a:cs typeface="Calibri"/>
              </a:rPr>
              <a:t>Identified</a:t>
            </a:r>
            <a:r>
              <a:rPr sz="2000" spc="-85" dirty="0">
                <a:latin typeface="Calibri"/>
                <a:cs typeface="Calibri"/>
              </a:rPr>
              <a:t> </a:t>
            </a:r>
            <a:r>
              <a:rPr sz="2000" dirty="0">
                <a:latin typeface="Calibri"/>
                <a:cs typeface="Calibri"/>
              </a:rPr>
              <a:t>the</a:t>
            </a:r>
            <a:r>
              <a:rPr sz="2000" spc="-85" dirty="0">
                <a:latin typeface="Calibri"/>
                <a:cs typeface="Calibri"/>
              </a:rPr>
              <a:t> </a:t>
            </a:r>
            <a:r>
              <a:rPr sz="2000" spc="-20" dirty="0">
                <a:latin typeface="Calibri"/>
                <a:cs typeface="Calibri"/>
              </a:rPr>
              <a:t>states</a:t>
            </a:r>
            <a:r>
              <a:rPr sz="2000" spc="-114" dirty="0">
                <a:latin typeface="Calibri"/>
                <a:cs typeface="Calibri"/>
              </a:rPr>
              <a:t> </a:t>
            </a:r>
            <a:r>
              <a:rPr sz="2000" dirty="0">
                <a:latin typeface="Calibri"/>
                <a:cs typeface="Calibri"/>
              </a:rPr>
              <a:t>and</a:t>
            </a:r>
            <a:r>
              <a:rPr sz="2000" spc="-75" dirty="0">
                <a:latin typeface="Calibri"/>
                <a:cs typeface="Calibri"/>
              </a:rPr>
              <a:t> </a:t>
            </a:r>
            <a:r>
              <a:rPr sz="2000" dirty="0">
                <a:latin typeface="Calibri"/>
                <a:cs typeface="Calibri"/>
              </a:rPr>
              <a:t>the</a:t>
            </a:r>
            <a:r>
              <a:rPr sz="2000" spc="-95" dirty="0">
                <a:latin typeface="Calibri"/>
                <a:cs typeface="Calibri"/>
              </a:rPr>
              <a:t> </a:t>
            </a:r>
            <a:r>
              <a:rPr sz="2000" spc="-10" dirty="0">
                <a:latin typeface="Calibri"/>
                <a:cs typeface="Calibri"/>
              </a:rPr>
              <a:t>cities </a:t>
            </a:r>
            <a:r>
              <a:rPr sz="2000" dirty="0">
                <a:latin typeface="Calibri"/>
                <a:cs typeface="Calibri"/>
              </a:rPr>
              <a:t>where</a:t>
            </a:r>
            <a:r>
              <a:rPr sz="2000" spc="-100" dirty="0">
                <a:latin typeface="Calibri"/>
                <a:cs typeface="Calibri"/>
              </a:rPr>
              <a:t> </a:t>
            </a:r>
            <a:r>
              <a:rPr sz="2000" dirty="0">
                <a:latin typeface="Calibri"/>
                <a:cs typeface="Calibri"/>
              </a:rPr>
              <a:t>we</a:t>
            </a:r>
            <a:r>
              <a:rPr sz="2000" spc="-95" dirty="0">
                <a:latin typeface="Calibri"/>
                <a:cs typeface="Calibri"/>
              </a:rPr>
              <a:t> </a:t>
            </a:r>
            <a:r>
              <a:rPr sz="2000" dirty="0">
                <a:latin typeface="Calibri"/>
                <a:cs typeface="Calibri"/>
              </a:rPr>
              <a:t>can</a:t>
            </a:r>
            <a:r>
              <a:rPr sz="2000" spc="-110" dirty="0">
                <a:latin typeface="Calibri"/>
                <a:cs typeface="Calibri"/>
              </a:rPr>
              <a:t> </a:t>
            </a:r>
            <a:r>
              <a:rPr sz="2000" dirty="0">
                <a:latin typeface="Calibri"/>
                <a:cs typeface="Calibri"/>
              </a:rPr>
              <a:t>open</a:t>
            </a:r>
            <a:r>
              <a:rPr sz="2000" spc="-85" dirty="0">
                <a:latin typeface="Calibri"/>
                <a:cs typeface="Calibri"/>
              </a:rPr>
              <a:t> </a:t>
            </a:r>
            <a:r>
              <a:rPr sz="2000" dirty="0">
                <a:latin typeface="Calibri"/>
                <a:cs typeface="Calibri"/>
              </a:rPr>
              <a:t>the</a:t>
            </a:r>
            <a:r>
              <a:rPr sz="2000" spc="-110" dirty="0">
                <a:latin typeface="Calibri"/>
                <a:cs typeface="Calibri"/>
              </a:rPr>
              <a:t> </a:t>
            </a:r>
            <a:r>
              <a:rPr sz="2000" spc="-10" dirty="0">
                <a:latin typeface="Calibri"/>
                <a:cs typeface="Calibri"/>
              </a:rPr>
              <a:t>restaurant </a:t>
            </a:r>
            <a:r>
              <a:rPr sz="2000" dirty="0">
                <a:latin typeface="Calibri"/>
                <a:cs typeface="Calibri"/>
              </a:rPr>
              <a:t>within</a:t>
            </a:r>
            <a:r>
              <a:rPr sz="2000" spc="-80" dirty="0">
                <a:latin typeface="Calibri"/>
                <a:cs typeface="Calibri"/>
              </a:rPr>
              <a:t> </a:t>
            </a:r>
            <a:r>
              <a:rPr sz="2000" dirty="0">
                <a:latin typeface="Calibri"/>
                <a:cs typeface="Calibri"/>
              </a:rPr>
              <a:t>the</a:t>
            </a:r>
            <a:r>
              <a:rPr sz="2000" spc="-65" dirty="0">
                <a:latin typeface="Calibri"/>
                <a:cs typeface="Calibri"/>
              </a:rPr>
              <a:t> </a:t>
            </a:r>
            <a:r>
              <a:rPr sz="2000" dirty="0">
                <a:latin typeface="Calibri"/>
                <a:cs typeface="Calibri"/>
              </a:rPr>
              <a:t>suggested</a:t>
            </a:r>
            <a:r>
              <a:rPr sz="2000" spc="-65" dirty="0">
                <a:latin typeface="Calibri"/>
                <a:cs typeface="Calibri"/>
              </a:rPr>
              <a:t> </a:t>
            </a:r>
            <a:r>
              <a:rPr sz="2000" dirty="0">
                <a:latin typeface="Calibri"/>
                <a:cs typeface="Calibri"/>
              </a:rPr>
              <a:t>country</a:t>
            </a:r>
            <a:r>
              <a:rPr sz="2000" spc="-85" dirty="0">
                <a:latin typeface="Calibri"/>
                <a:cs typeface="Calibri"/>
              </a:rPr>
              <a:t> </a:t>
            </a:r>
            <a:r>
              <a:rPr sz="2000" dirty="0">
                <a:latin typeface="Calibri"/>
                <a:cs typeface="Calibri"/>
              </a:rPr>
              <a:t>on</a:t>
            </a:r>
            <a:r>
              <a:rPr sz="2000" spc="-65" dirty="0">
                <a:latin typeface="Calibri"/>
                <a:cs typeface="Calibri"/>
              </a:rPr>
              <a:t> </a:t>
            </a:r>
            <a:r>
              <a:rPr sz="2000" spc="-25" dirty="0">
                <a:latin typeface="Calibri"/>
                <a:cs typeface="Calibri"/>
              </a:rPr>
              <a:t>the </a:t>
            </a:r>
            <a:r>
              <a:rPr sz="2000" dirty="0">
                <a:latin typeface="Calibri"/>
                <a:cs typeface="Calibri"/>
              </a:rPr>
              <a:t>basis</a:t>
            </a:r>
            <a:r>
              <a:rPr sz="2000" spc="-90" dirty="0">
                <a:latin typeface="Calibri"/>
                <a:cs typeface="Calibri"/>
              </a:rPr>
              <a:t> </a:t>
            </a:r>
            <a:r>
              <a:rPr sz="2000" dirty="0">
                <a:latin typeface="Calibri"/>
                <a:cs typeface="Calibri"/>
              </a:rPr>
              <a:t>of</a:t>
            </a:r>
            <a:r>
              <a:rPr sz="2000" spc="-65" dirty="0">
                <a:latin typeface="Calibri"/>
                <a:cs typeface="Calibri"/>
              </a:rPr>
              <a:t> </a:t>
            </a:r>
            <a:r>
              <a:rPr sz="2000" dirty="0">
                <a:latin typeface="Calibri"/>
                <a:cs typeface="Calibri"/>
              </a:rPr>
              <a:t>the</a:t>
            </a:r>
            <a:r>
              <a:rPr sz="2000" spc="-75" dirty="0">
                <a:latin typeface="Calibri"/>
                <a:cs typeface="Calibri"/>
              </a:rPr>
              <a:t> </a:t>
            </a:r>
            <a:r>
              <a:rPr sz="2000" spc="-10" dirty="0">
                <a:latin typeface="Calibri"/>
                <a:cs typeface="Calibri"/>
              </a:rPr>
              <a:t>average</a:t>
            </a:r>
            <a:r>
              <a:rPr sz="2000" spc="-70" dirty="0">
                <a:latin typeface="Calibri"/>
                <a:cs typeface="Calibri"/>
              </a:rPr>
              <a:t> </a:t>
            </a:r>
            <a:r>
              <a:rPr sz="2000" dirty="0">
                <a:latin typeface="Calibri"/>
                <a:cs typeface="Calibri"/>
              </a:rPr>
              <a:t>cost</a:t>
            </a:r>
            <a:r>
              <a:rPr sz="2000" spc="-105" dirty="0">
                <a:latin typeface="Calibri"/>
                <a:cs typeface="Calibri"/>
              </a:rPr>
              <a:t> </a:t>
            </a:r>
            <a:r>
              <a:rPr sz="2000" dirty="0">
                <a:latin typeface="Calibri"/>
                <a:cs typeface="Calibri"/>
              </a:rPr>
              <a:t>,</a:t>
            </a:r>
            <a:r>
              <a:rPr sz="2000" spc="-75" dirty="0">
                <a:latin typeface="Calibri"/>
                <a:cs typeface="Calibri"/>
              </a:rPr>
              <a:t> </a:t>
            </a:r>
            <a:r>
              <a:rPr sz="2000" dirty="0">
                <a:latin typeface="Calibri"/>
                <a:cs typeface="Calibri"/>
              </a:rPr>
              <a:t>ratings</a:t>
            </a:r>
            <a:r>
              <a:rPr sz="2000" spc="-95" dirty="0">
                <a:latin typeface="Calibri"/>
                <a:cs typeface="Calibri"/>
              </a:rPr>
              <a:t> </a:t>
            </a:r>
            <a:r>
              <a:rPr sz="2000" dirty="0">
                <a:latin typeface="Calibri"/>
                <a:cs typeface="Calibri"/>
              </a:rPr>
              <a:t>,</a:t>
            </a:r>
            <a:r>
              <a:rPr sz="2000" spc="-75" dirty="0">
                <a:latin typeface="Calibri"/>
                <a:cs typeface="Calibri"/>
              </a:rPr>
              <a:t> </a:t>
            </a:r>
            <a:r>
              <a:rPr sz="2000" spc="-25" dirty="0">
                <a:latin typeface="Calibri"/>
                <a:cs typeface="Calibri"/>
              </a:rPr>
              <a:t>no. </a:t>
            </a:r>
            <a:r>
              <a:rPr sz="2000" dirty="0">
                <a:latin typeface="Calibri"/>
                <a:cs typeface="Calibri"/>
              </a:rPr>
              <a:t>of</a:t>
            </a:r>
            <a:r>
              <a:rPr sz="2000" spc="-105" dirty="0">
                <a:latin typeface="Calibri"/>
                <a:cs typeface="Calibri"/>
              </a:rPr>
              <a:t> </a:t>
            </a:r>
            <a:r>
              <a:rPr sz="2000" spc="-30" dirty="0">
                <a:latin typeface="Calibri"/>
                <a:cs typeface="Calibri"/>
              </a:rPr>
              <a:t>restaurants</a:t>
            </a:r>
            <a:r>
              <a:rPr sz="2000" spc="-100" dirty="0">
                <a:latin typeface="Calibri"/>
                <a:cs typeface="Calibri"/>
              </a:rPr>
              <a:t> </a:t>
            </a:r>
            <a:r>
              <a:rPr sz="2000" spc="-10" dirty="0">
                <a:latin typeface="Calibri"/>
                <a:cs typeface="Calibri"/>
              </a:rPr>
              <a:t>already</a:t>
            </a:r>
            <a:r>
              <a:rPr sz="2000" spc="-95" dirty="0">
                <a:latin typeface="Calibri"/>
                <a:cs typeface="Calibri"/>
              </a:rPr>
              <a:t> </a:t>
            </a:r>
            <a:r>
              <a:rPr sz="2000" spc="-10" dirty="0">
                <a:latin typeface="Calibri"/>
                <a:cs typeface="Calibri"/>
              </a:rPr>
              <a:t>opened</a:t>
            </a:r>
            <a:r>
              <a:rPr sz="2000" spc="-65" dirty="0">
                <a:latin typeface="Calibri"/>
                <a:cs typeface="Calibri"/>
              </a:rPr>
              <a:t> </a:t>
            </a:r>
            <a:r>
              <a:rPr sz="2000" dirty="0">
                <a:latin typeface="Calibri"/>
                <a:cs typeface="Calibri"/>
              </a:rPr>
              <a:t>there</a:t>
            </a:r>
            <a:r>
              <a:rPr sz="2000" spc="-105" dirty="0">
                <a:latin typeface="Calibri"/>
                <a:cs typeface="Calibri"/>
              </a:rPr>
              <a:t> </a:t>
            </a:r>
            <a:r>
              <a:rPr sz="2000" spc="-50" dirty="0">
                <a:latin typeface="Calibri"/>
                <a:cs typeface="Calibri"/>
              </a:rPr>
              <a:t>, </a:t>
            </a:r>
            <a:r>
              <a:rPr sz="2000" dirty="0">
                <a:latin typeface="Calibri"/>
                <a:cs typeface="Calibri"/>
              </a:rPr>
              <a:t>price</a:t>
            </a:r>
            <a:r>
              <a:rPr sz="2000" spc="-105" dirty="0">
                <a:latin typeface="Calibri"/>
                <a:cs typeface="Calibri"/>
              </a:rPr>
              <a:t> </a:t>
            </a:r>
            <a:r>
              <a:rPr sz="2000" spc="-10" dirty="0">
                <a:latin typeface="Calibri"/>
                <a:cs typeface="Calibri"/>
              </a:rPr>
              <a:t>range</a:t>
            </a:r>
            <a:r>
              <a:rPr sz="2000" spc="-85" dirty="0">
                <a:latin typeface="Calibri"/>
                <a:cs typeface="Calibri"/>
              </a:rPr>
              <a:t> </a:t>
            </a:r>
            <a:r>
              <a:rPr sz="2000" spc="-20" dirty="0">
                <a:latin typeface="Calibri"/>
                <a:cs typeface="Calibri"/>
              </a:rPr>
              <a:t>etc.</a:t>
            </a:r>
            <a:endParaRPr lang="en-US" sz="2000" spc="-20" dirty="0">
              <a:latin typeface="Calibri"/>
              <a:cs typeface="Calibri"/>
            </a:endParaRPr>
          </a:p>
          <a:p>
            <a:pPr marL="12065" marR="108585">
              <a:lnSpc>
                <a:spcPct val="100000"/>
              </a:lnSpc>
              <a:tabLst>
                <a:tab pos="354965" algn="l"/>
              </a:tabLst>
            </a:pPr>
            <a:endParaRPr sz="2000" dirty="0">
              <a:latin typeface="Calibri"/>
              <a:cs typeface="Calibri"/>
            </a:endParaRPr>
          </a:p>
          <a:p>
            <a:pPr marL="354965" marR="5080" indent="-342900">
              <a:lnSpc>
                <a:spcPct val="100000"/>
              </a:lnSpc>
              <a:spcBef>
                <a:spcPts val="5"/>
              </a:spcBef>
              <a:buFont typeface="Arial"/>
              <a:buChar char="•"/>
              <a:tabLst>
                <a:tab pos="354965" algn="l"/>
              </a:tabLst>
            </a:pPr>
            <a:r>
              <a:rPr sz="2000" dirty="0">
                <a:latin typeface="Calibri"/>
                <a:cs typeface="Calibri"/>
              </a:rPr>
              <a:t>All</a:t>
            </a:r>
            <a:r>
              <a:rPr sz="2000" spc="-65" dirty="0">
                <a:latin typeface="Calibri"/>
                <a:cs typeface="Calibri"/>
              </a:rPr>
              <a:t> </a:t>
            </a:r>
            <a:r>
              <a:rPr sz="2000" dirty="0">
                <a:latin typeface="Calibri"/>
                <a:cs typeface="Calibri"/>
              </a:rPr>
              <a:t>these</a:t>
            </a:r>
            <a:r>
              <a:rPr sz="2000" spc="-50" dirty="0">
                <a:latin typeface="Calibri"/>
                <a:cs typeface="Calibri"/>
              </a:rPr>
              <a:t> </a:t>
            </a:r>
            <a:r>
              <a:rPr sz="2000" dirty="0">
                <a:latin typeface="Calibri"/>
                <a:cs typeface="Calibri"/>
              </a:rPr>
              <a:t>cities</a:t>
            </a:r>
            <a:r>
              <a:rPr sz="2000" spc="-85" dirty="0">
                <a:latin typeface="Calibri"/>
                <a:cs typeface="Calibri"/>
              </a:rPr>
              <a:t> </a:t>
            </a:r>
            <a:r>
              <a:rPr sz="2000" dirty="0">
                <a:latin typeface="Calibri"/>
                <a:cs typeface="Calibri"/>
              </a:rPr>
              <a:t>has</a:t>
            </a:r>
            <a:r>
              <a:rPr sz="2000" spc="-5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highest</a:t>
            </a:r>
            <a:r>
              <a:rPr sz="2000" spc="-65" dirty="0">
                <a:latin typeface="Calibri"/>
                <a:cs typeface="Calibri"/>
              </a:rPr>
              <a:t> </a:t>
            </a:r>
            <a:r>
              <a:rPr sz="2000" spc="-10" dirty="0">
                <a:latin typeface="Calibri"/>
                <a:cs typeface="Calibri"/>
              </a:rPr>
              <a:t>average </a:t>
            </a:r>
            <a:r>
              <a:rPr sz="2000" dirty="0">
                <a:latin typeface="Calibri"/>
                <a:cs typeface="Calibri"/>
              </a:rPr>
              <a:t>cost</a:t>
            </a:r>
            <a:r>
              <a:rPr sz="2000" spc="-100" dirty="0">
                <a:latin typeface="Calibri"/>
                <a:cs typeface="Calibri"/>
              </a:rPr>
              <a:t> </a:t>
            </a:r>
            <a:r>
              <a:rPr sz="2000" dirty="0">
                <a:latin typeface="Calibri"/>
                <a:cs typeface="Calibri"/>
              </a:rPr>
              <a:t>for</a:t>
            </a:r>
            <a:r>
              <a:rPr sz="2000" spc="-85" dirty="0">
                <a:latin typeface="Calibri"/>
                <a:cs typeface="Calibri"/>
              </a:rPr>
              <a:t> </a:t>
            </a:r>
            <a:r>
              <a:rPr sz="2000" dirty="0">
                <a:latin typeface="Calibri"/>
                <a:cs typeface="Calibri"/>
              </a:rPr>
              <a:t>two</a:t>
            </a:r>
            <a:r>
              <a:rPr sz="2000" spc="-85" dirty="0">
                <a:latin typeface="Calibri"/>
                <a:cs typeface="Calibri"/>
              </a:rPr>
              <a:t> </a:t>
            </a:r>
            <a:r>
              <a:rPr sz="2000" dirty="0">
                <a:latin typeface="Calibri"/>
                <a:cs typeface="Calibri"/>
              </a:rPr>
              <a:t>and</a:t>
            </a:r>
            <a:r>
              <a:rPr sz="2000" spc="-75" dirty="0">
                <a:latin typeface="Calibri"/>
                <a:cs typeface="Calibri"/>
              </a:rPr>
              <a:t> </a:t>
            </a:r>
            <a:r>
              <a:rPr sz="2000" dirty="0">
                <a:latin typeface="Calibri"/>
                <a:cs typeface="Calibri"/>
              </a:rPr>
              <a:t>less</a:t>
            </a:r>
            <a:r>
              <a:rPr sz="2000" spc="-70" dirty="0">
                <a:latin typeface="Calibri"/>
                <a:cs typeface="Calibri"/>
              </a:rPr>
              <a:t> </a:t>
            </a:r>
            <a:r>
              <a:rPr sz="2000" spc="-10" dirty="0">
                <a:latin typeface="Calibri"/>
                <a:cs typeface="Calibri"/>
              </a:rPr>
              <a:t>market</a:t>
            </a:r>
            <a:r>
              <a:rPr sz="2000" dirty="0">
                <a:latin typeface="Calibri"/>
                <a:cs typeface="Calibri"/>
              </a:rPr>
              <a:t> saturation</a:t>
            </a:r>
            <a:r>
              <a:rPr sz="2000" spc="-100" dirty="0">
                <a:latin typeface="Calibri"/>
                <a:cs typeface="Calibri"/>
              </a:rPr>
              <a:t> </a:t>
            </a:r>
            <a:r>
              <a:rPr sz="2000" dirty="0">
                <a:latin typeface="Calibri"/>
                <a:cs typeface="Calibri"/>
              </a:rPr>
              <a:t>that</a:t>
            </a:r>
            <a:r>
              <a:rPr sz="2000" spc="-100" dirty="0">
                <a:latin typeface="Calibri"/>
                <a:cs typeface="Calibri"/>
              </a:rPr>
              <a:t> </a:t>
            </a:r>
            <a:r>
              <a:rPr sz="2000" spc="-10" dirty="0">
                <a:latin typeface="Calibri"/>
                <a:cs typeface="Calibri"/>
              </a:rPr>
              <a:t>means</a:t>
            </a:r>
            <a:r>
              <a:rPr sz="2000" spc="-105" dirty="0">
                <a:latin typeface="Calibri"/>
                <a:cs typeface="Calibri"/>
              </a:rPr>
              <a:t> </a:t>
            </a:r>
            <a:r>
              <a:rPr sz="2000" spc="-20" dirty="0">
                <a:latin typeface="Calibri"/>
                <a:cs typeface="Calibri"/>
              </a:rPr>
              <a:t>less </a:t>
            </a:r>
            <a:r>
              <a:rPr sz="2000" spc="-10" dirty="0">
                <a:latin typeface="Calibri"/>
                <a:cs typeface="Calibri"/>
              </a:rPr>
              <a:t>competition.</a:t>
            </a:r>
            <a:endParaRPr sz="2000" dirty="0">
              <a:latin typeface="Calibri"/>
              <a:cs typeface="Calibri"/>
            </a:endParaRPr>
          </a:p>
        </p:txBody>
      </p:sp>
      <p:sp>
        <p:nvSpPr>
          <p:cNvPr id="7" name="Rectangle 6">
            <a:extLst>
              <a:ext uri="{FF2B5EF4-FFF2-40B4-BE49-F238E27FC236}">
                <a16:creationId xmlns:a16="http://schemas.microsoft.com/office/drawing/2014/main" id="{183804E5-C0FF-D7B3-2B21-47BA8316027B}"/>
              </a:ext>
            </a:extLst>
          </p:cNvPr>
          <p:cNvSpPr/>
          <p:nvPr/>
        </p:nvSpPr>
        <p:spPr>
          <a:xfrm>
            <a:off x="4609054" y="228600"/>
            <a:ext cx="2973891" cy="707886"/>
          </a:xfrm>
          <a:prstGeom prst="rect">
            <a:avLst/>
          </a:prstGeom>
          <a:noFill/>
        </p:spPr>
        <p:txBody>
          <a:bodyPr wrap="non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Conclusion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08015" y="1619250"/>
            <a:ext cx="5865621" cy="3619500"/>
          </a:xfrm>
          <a:prstGeom prst="rect">
            <a:avLst/>
          </a:prstGeom>
        </p:spPr>
      </p:pic>
      <p:sp>
        <p:nvSpPr>
          <p:cNvPr id="6" name="object 6"/>
          <p:cNvSpPr txBox="1"/>
          <p:nvPr/>
        </p:nvSpPr>
        <p:spPr>
          <a:xfrm>
            <a:off x="1339341" y="2693670"/>
            <a:ext cx="3385059" cy="1860125"/>
          </a:xfrm>
          <a:prstGeom prst="rect">
            <a:avLst/>
          </a:prstGeom>
        </p:spPr>
        <p:txBody>
          <a:bodyPr vert="horz" wrap="square" lIns="0" tIns="13335" rIns="0" bIns="0" rtlCol="0">
            <a:spAutoFit/>
          </a:bodyPr>
          <a:lstStyle/>
          <a:p>
            <a:pPr marL="299085" indent="-286385">
              <a:lnSpc>
                <a:spcPct val="100000"/>
              </a:lnSpc>
              <a:spcBef>
                <a:spcPts val="105"/>
              </a:spcBef>
              <a:buFont typeface="Arial"/>
              <a:buChar char="•"/>
              <a:tabLst>
                <a:tab pos="299085" algn="l"/>
              </a:tabLst>
            </a:pPr>
            <a:r>
              <a:rPr sz="2000" b="1" dirty="0">
                <a:latin typeface="Calibri"/>
                <a:cs typeface="Calibri"/>
              </a:rPr>
              <a:t>Raw</a:t>
            </a:r>
            <a:r>
              <a:rPr sz="2000" b="1" spc="-80" dirty="0">
                <a:latin typeface="Calibri"/>
                <a:cs typeface="Calibri"/>
              </a:rPr>
              <a:t> </a:t>
            </a:r>
            <a:r>
              <a:rPr sz="2000" b="1" dirty="0">
                <a:latin typeface="Calibri"/>
                <a:cs typeface="Calibri"/>
              </a:rPr>
              <a:t>data</a:t>
            </a:r>
            <a:r>
              <a:rPr sz="2000" b="1" spc="-65"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provided</a:t>
            </a:r>
            <a:r>
              <a:rPr sz="2000" spc="-70" dirty="0">
                <a:latin typeface="Calibri"/>
                <a:cs typeface="Calibri"/>
              </a:rPr>
              <a:t> </a:t>
            </a:r>
            <a:r>
              <a:rPr sz="2000" spc="-25" dirty="0">
                <a:latin typeface="Calibri"/>
                <a:cs typeface="Calibri"/>
              </a:rPr>
              <a:t>by</a:t>
            </a:r>
            <a:endParaRPr sz="2000" dirty="0">
              <a:latin typeface="Calibri"/>
              <a:cs typeface="Calibri"/>
            </a:endParaRPr>
          </a:p>
          <a:p>
            <a:pPr marL="299085">
              <a:lnSpc>
                <a:spcPct val="100000"/>
              </a:lnSpc>
            </a:pPr>
            <a:r>
              <a:rPr sz="2000" b="1" dirty="0">
                <a:latin typeface="Calibri"/>
                <a:cs typeface="Calibri"/>
              </a:rPr>
              <a:t>Newton</a:t>
            </a:r>
            <a:r>
              <a:rPr sz="2000" b="1" spc="-70" dirty="0">
                <a:latin typeface="Calibri"/>
                <a:cs typeface="Calibri"/>
              </a:rPr>
              <a:t> </a:t>
            </a:r>
            <a:r>
              <a:rPr sz="2000" b="1" dirty="0">
                <a:latin typeface="Calibri"/>
                <a:cs typeface="Calibri"/>
              </a:rPr>
              <a:t>School</a:t>
            </a:r>
            <a:r>
              <a:rPr sz="2000" b="1" spc="-80" dirty="0">
                <a:latin typeface="Calibri"/>
                <a:cs typeface="Calibri"/>
              </a:rPr>
              <a:t> </a:t>
            </a:r>
            <a:r>
              <a:rPr sz="2000" b="1" spc="-20" dirty="0">
                <a:latin typeface="Calibri"/>
                <a:cs typeface="Calibri"/>
              </a:rPr>
              <a:t>team</a:t>
            </a:r>
            <a:r>
              <a:rPr sz="2000" spc="-20" dirty="0">
                <a:latin typeface="Calibri"/>
                <a:cs typeface="Calibri"/>
              </a:rPr>
              <a:t>.</a:t>
            </a:r>
            <a:endParaRPr lang="en-US" sz="2000" spc="-20" dirty="0">
              <a:latin typeface="Calibri"/>
              <a:cs typeface="Calibri"/>
            </a:endParaRPr>
          </a:p>
          <a:p>
            <a:pPr marL="299085">
              <a:lnSpc>
                <a:spcPct val="100000"/>
              </a:lnSpc>
            </a:pPr>
            <a:endParaRPr lang="en-US" sz="2000" dirty="0">
              <a:latin typeface="Calibri"/>
              <a:cs typeface="Calibri"/>
            </a:endParaRPr>
          </a:p>
          <a:p>
            <a:pPr marL="299085">
              <a:lnSpc>
                <a:spcPct val="100000"/>
              </a:lnSpc>
            </a:pPr>
            <a:r>
              <a:rPr sz="2000" dirty="0">
                <a:latin typeface="Calibri"/>
                <a:cs typeface="Calibri"/>
              </a:rPr>
              <a:t>Used</a:t>
            </a:r>
            <a:r>
              <a:rPr sz="2000" spc="-15" dirty="0">
                <a:latin typeface="Calibri"/>
                <a:cs typeface="Calibri"/>
              </a:rPr>
              <a:t> </a:t>
            </a:r>
            <a:r>
              <a:rPr lang="en-US" sz="2000" b="1" spc="-15" dirty="0">
                <a:latin typeface="Calibri"/>
                <a:cs typeface="Calibri"/>
              </a:rPr>
              <a:t>MS Excel, MS Word, MS PowerPoint</a:t>
            </a:r>
            <a:r>
              <a:rPr sz="2000" b="1" spc="-85" dirty="0">
                <a:latin typeface="Calibri"/>
                <a:cs typeface="Calibri"/>
              </a:rPr>
              <a:t> </a:t>
            </a:r>
            <a:r>
              <a:rPr sz="2000" spc="-25" dirty="0">
                <a:latin typeface="Calibri"/>
                <a:cs typeface="Calibri"/>
              </a:rPr>
              <a:t>to</a:t>
            </a:r>
            <a:r>
              <a:rPr lang="en-US" sz="2000" spc="-25" dirty="0">
                <a:latin typeface="Calibri"/>
                <a:cs typeface="Calibri"/>
              </a:rPr>
              <a:t> </a:t>
            </a:r>
            <a:r>
              <a:rPr lang="en-US" sz="2000" spc="-10" dirty="0">
                <a:latin typeface="Calibri"/>
                <a:cs typeface="Calibri"/>
              </a:rPr>
              <a:t>complete</a:t>
            </a:r>
            <a:r>
              <a:rPr sz="2000" spc="-95" dirty="0">
                <a:latin typeface="Calibri"/>
                <a:cs typeface="Calibri"/>
              </a:rPr>
              <a:t> </a:t>
            </a:r>
            <a:r>
              <a:rPr sz="2000" dirty="0">
                <a:latin typeface="Calibri"/>
                <a:cs typeface="Calibri"/>
              </a:rPr>
              <a:t>this</a:t>
            </a:r>
            <a:r>
              <a:rPr sz="2000" spc="-100" dirty="0">
                <a:latin typeface="Calibri"/>
                <a:cs typeface="Calibri"/>
              </a:rPr>
              <a:t> </a:t>
            </a:r>
            <a:r>
              <a:rPr lang="en-US" sz="2000" spc="-10" dirty="0">
                <a:latin typeface="Calibri"/>
                <a:cs typeface="Calibri"/>
              </a:rPr>
              <a:t>project.</a:t>
            </a:r>
            <a:endParaRPr sz="2000" dirty="0">
              <a:latin typeface="Calibri"/>
              <a:cs typeface="Calibri"/>
            </a:endParaRPr>
          </a:p>
        </p:txBody>
      </p:sp>
      <p:sp>
        <p:nvSpPr>
          <p:cNvPr id="7" name="Rectangle 6">
            <a:extLst>
              <a:ext uri="{FF2B5EF4-FFF2-40B4-BE49-F238E27FC236}">
                <a16:creationId xmlns:a16="http://schemas.microsoft.com/office/drawing/2014/main" id="{D7B226AC-B380-F26F-EC8C-37576B5C10A0}"/>
              </a:ext>
            </a:extLst>
          </p:cNvPr>
          <p:cNvSpPr/>
          <p:nvPr/>
        </p:nvSpPr>
        <p:spPr>
          <a:xfrm>
            <a:off x="4374958" y="152400"/>
            <a:ext cx="2666114" cy="707886"/>
          </a:xfrm>
          <a:prstGeom prst="rect">
            <a:avLst/>
          </a:prstGeom>
          <a:noFill/>
        </p:spPr>
        <p:txBody>
          <a:bodyPr wrap="none" lIns="91440" tIns="45720" rIns="91440" bIns="45720">
            <a:spAutoFit/>
          </a:bodyPr>
          <a:lstStyle/>
          <a:p>
            <a:pPr algn="ctr"/>
            <a:r>
              <a:rPr lang="en-GB" sz="4000" b="1" dirty="0">
                <a:ln w="9525">
                  <a:solidFill>
                    <a:schemeClr val="bg1"/>
                  </a:solidFill>
                  <a:prstDash val="solid"/>
                </a:ln>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Reference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grpSp>
        <p:nvGrpSpPr>
          <p:cNvPr id="399" name="Google Shape;399;p31"/>
          <p:cNvGrpSpPr/>
          <p:nvPr/>
        </p:nvGrpSpPr>
        <p:grpSpPr>
          <a:xfrm>
            <a:off x="-713884" y="6114427"/>
            <a:ext cx="13619768" cy="1166024"/>
            <a:chOff x="0" y="0"/>
            <a:chExt cx="27239536" cy="2332049"/>
          </a:xfrm>
        </p:grpSpPr>
        <p:sp>
          <p:nvSpPr>
            <p:cNvPr id="400" name="Google Shape;400;p31"/>
            <p:cNvSpPr/>
            <p:nvPr/>
          </p:nvSpPr>
          <p:spPr>
            <a:xfrm>
              <a:off x="0" y="0"/>
              <a:ext cx="13693284" cy="2332049"/>
            </a:xfrm>
            <a:custGeom>
              <a:avLst/>
              <a:gdLst/>
              <a:ahLst/>
              <a:cxnLst/>
              <a:rect l="l" t="t" r="r" b="b"/>
              <a:pathLst>
                <a:path w="13693284" h="2332049" extrusionOk="0">
                  <a:moveTo>
                    <a:pt x="0" y="0"/>
                  </a:moveTo>
                  <a:lnTo>
                    <a:pt x="13693284" y="0"/>
                  </a:lnTo>
                  <a:lnTo>
                    <a:pt x="13693284" y="2332049"/>
                  </a:lnTo>
                  <a:lnTo>
                    <a:pt x="0" y="2332049"/>
                  </a:lnTo>
                  <a:lnTo>
                    <a:pt x="0" y="0"/>
                  </a:lnTo>
                  <a:close/>
                </a:path>
              </a:pathLst>
            </a:custGeom>
            <a:blipFill rotWithShape="1">
              <a:blip r:embed="rId3">
                <a:alphaModFix/>
              </a:blip>
              <a:stretch>
                <a:fillRect l="-894" t="-18661"/>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1" name="Google Shape;401;p31"/>
            <p:cNvSpPr/>
            <p:nvPr/>
          </p:nvSpPr>
          <p:spPr>
            <a:xfrm>
              <a:off x="13546252" y="0"/>
              <a:ext cx="13693284" cy="2332049"/>
            </a:xfrm>
            <a:custGeom>
              <a:avLst/>
              <a:gdLst/>
              <a:ahLst/>
              <a:cxnLst/>
              <a:rect l="l" t="t" r="r" b="b"/>
              <a:pathLst>
                <a:path w="13693284" h="2332049" extrusionOk="0">
                  <a:moveTo>
                    <a:pt x="0" y="0"/>
                  </a:moveTo>
                  <a:lnTo>
                    <a:pt x="13693284" y="0"/>
                  </a:lnTo>
                  <a:lnTo>
                    <a:pt x="13693284" y="2332049"/>
                  </a:lnTo>
                  <a:lnTo>
                    <a:pt x="0" y="2332049"/>
                  </a:lnTo>
                  <a:lnTo>
                    <a:pt x="0" y="0"/>
                  </a:lnTo>
                  <a:close/>
                </a:path>
              </a:pathLst>
            </a:custGeom>
            <a:blipFill rotWithShape="1">
              <a:blip r:embed="rId3">
                <a:alphaModFix/>
              </a:blip>
              <a:stretch>
                <a:fillRect l="-894" t="-18661"/>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grpSp>
      <p:sp>
        <p:nvSpPr>
          <p:cNvPr id="402" name="Google Shape;402;p31"/>
          <p:cNvSpPr/>
          <p:nvPr/>
        </p:nvSpPr>
        <p:spPr>
          <a:xfrm>
            <a:off x="2968634" y="2536229"/>
            <a:ext cx="6621801" cy="3635971"/>
          </a:xfrm>
          <a:custGeom>
            <a:avLst/>
            <a:gdLst/>
            <a:ahLst/>
            <a:cxnLst/>
            <a:rect l="l" t="t" r="r" b="b"/>
            <a:pathLst>
              <a:path w="9932701" h="5453956" extrusionOk="0">
                <a:moveTo>
                  <a:pt x="0" y="0"/>
                </a:moveTo>
                <a:lnTo>
                  <a:pt x="9932701" y="0"/>
                </a:lnTo>
                <a:lnTo>
                  <a:pt x="9932701" y="5453956"/>
                </a:lnTo>
                <a:lnTo>
                  <a:pt x="0" y="5453956"/>
                </a:lnTo>
                <a:lnTo>
                  <a:pt x="0" y="0"/>
                </a:lnTo>
                <a:close/>
              </a:path>
            </a:pathLst>
          </a:custGeom>
          <a:blipFill rotWithShape="1">
            <a:blip r:embed="rId4">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3" name="Google Shape;403;p31"/>
          <p:cNvSpPr/>
          <p:nvPr/>
        </p:nvSpPr>
        <p:spPr>
          <a:xfrm>
            <a:off x="1623546" y="3100917"/>
            <a:ext cx="1528160" cy="3296032"/>
          </a:xfrm>
          <a:custGeom>
            <a:avLst/>
            <a:gdLst/>
            <a:ahLst/>
            <a:cxnLst/>
            <a:rect l="l" t="t" r="r" b="b"/>
            <a:pathLst>
              <a:path w="2292240" h="4944048" extrusionOk="0">
                <a:moveTo>
                  <a:pt x="0" y="0"/>
                </a:moveTo>
                <a:lnTo>
                  <a:pt x="2292241" y="0"/>
                </a:lnTo>
                <a:lnTo>
                  <a:pt x="2292241" y="4944048"/>
                </a:lnTo>
                <a:lnTo>
                  <a:pt x="0" y="4944048"/>
                </a:lnTo>
                <a:lnTo>
                  <a:pt x="0" y="0"/>
                </a:lnTo>
                <a:close/>
              </a:path>
            </a:pathLst>
          </a:custGeom>
          <a:blipFill rotWithShape="1">
            <a:blip r:embed="rId5">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4" name="Google Shape;404;p31"/>
          <p:cNvSpPr/>
          <p:nvPr/>
        </p:nvSpPr>
        <p:spPr>
          <a:xfrm>
            <a:off x="-768631" y="3100917"/>
            <a:ext cx="2126651" cy="3533711"/>
          </a:xfrm>
          <a:custGeom>
            <a:avLst/>
            <a:gdLst/>
            <a:ahLst/>
            <a:cxnLst/>
            <a:rect l="l" t="t" r="r" b="b"/>
            <a:pathLst>
              <a:path w="3189977" h="5300566" extrusionOk="0">
                <a:moveTo>
                  <a:pt x="0" y="0"/>
                </a:moveTo>
                <a:lnTo>
                  <a:pt x="3189977" y="0"/>
                </a:lnTo>
                <a:lnTo>
                  <a:pt x="3189977" y="5300566"/>
                </a:lnTo>
                <a:lnTo>
                  <a:pt x="0" y="5300566"/>
                </a:lnTo>
                <a:lnTo>
                  <a:pt x="0" y="0"/>
                </a:lnTo>
                <a:close/>
              </a:path>
            </a:pathLst>
          </a:custGeom>
          <a:blipFill rotWithShape="1">
            <a:blip r:embed="rId6">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5" name="Google Shape;405;p31"/>
          <p:cNvSpPr/>
          <p:nvPr/>
        </p:nvSpPr>
        <p:spPr>
          <a:xfrm>
            <a:off x="9395696" y="2930949"/>
            <a:ext cx="2796304" cy="3661827"/>
          </a:xfrm>
          <a:custGeom>
            <a:avLst/>
            <a:gdLst/>
            <a:ahLst/>
            <a:cxnLst/>
            <a:rect l="l" t="t" r="r" b="b"/>
            <a:pathLst>
              <a:path w="4194456" h="5492741" extrusionOk="0">
                <a:moveTo>
                  <a:pt x="0" y="0"/>
                </a:moveTo>
                <a:lnTo>
                  <a:pt x="4194456" y="0"/>
                </a:lnTo>
                <a:lnTo>
                  <a:pt x="4194456" y="5492741"/>
                </a:lnTo>
                <a:lnTo>
                  <a:pt x="0" y="5492741"/>
                </a:lnTo>
                <a:lnTo>
                  <a:pt x="0" y="0"/>
                </a:lnTo>
                <a:close/>
              </a:path>
            </a:pathLst>
          </a:custGeom>
          <a:blipFill rotWithShape="1">
            <a:blip r:embed="rId7">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6" name="Google Shape;406;p31"/>
          <p:cNvSpPr/>
          <p:nvPr/>
        </p:nvSpPr>
        <p:spPr>
          <a:xfrm>
            <a:off x="-1227535" y="139521"/>
            <a:ext cx="3467093" cy="1783977"/>
          </a:xfrm>
          <a:custGeom>
            <a:avLst/>
            <a:gdLst/>
            <a:ahLst/>
            <a:cxnLst/>
            <a:rect l="l" t="t" r="r" b="b"/>
            <a:pathLst>
              <a:path w="5200640" h="2675966" extrusionOk="0">
                <a:moveTo>
                  <a:pt x="0" y="0"/>
                </a:moveTo>
                <a:lnTo>
                  <a:pt x="5200641" y="0"/>
                </a:lnTo>
                <a:lnTo>
                  <a:pt x="5200641" y="2675966"/>
                </a:lnTo>
                <a:lnTo>
                  <a:pt x="0" y="2675966"/>
                </a:lnTo>
                <a:lnTo>
                  <a:pt x="0" y="0"/>
                </a:lnTo>
                <a:close/>
              </a:path>
            </a:pathLst>
          </a:custGeom>
          <a:blipFill rotWithShape="1">
            <a:blip r:embed="rId8">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7" name="Google Shape;407;p31"/>
          <p:cNvSpPr/>
          <p:nvPr/>
        </p:nvSpPr>
        <p:spPr>
          <a:xfrm>
            <a:off x="10148717" y="0"/>
            <a:ext cx="2921729" cy="1907092"/>
          </a:xfrm>
          <a:custGeom>
            <a:avLst/>
            <a:gdLst/>
            <a:ahLst/>
            <a:cxnLst/>
            <a:rect l="l" t="t" r="r" b="b"/>
            <a:pathLst>
              <a:path w="4382593" h="2860638" extrusionOk="0">
                <a:moveTo>
                  <a:pt x="0" y="0"/>
                </a:moveTo>
                <a:lnTo>
                  <a:pt x="4382593" y="0"/>
                </a:lnTo>
                <a:lnTo>
                  <a:pt x="4382593" y="2860638"/>
                </a:lnTo>
                <a:lnTo>
                  <a:pt x="0" y="2860638"/>
                </a:lnTo>
                <a:lnTo>
                  <a:pt x="0" y="0"/>
                </a:lnTo>
                <a:close/>
              </a:path>
            </a:pathLst>
          </a:custGeom>
          <a:blipFill rotWithShape="1">
            <a:blip r:embed="rId9">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8" name="Google Shape;408;p31"/>
          <p:cNvSpPr/>
          <p:nvPr/>
        </p:nvSpPr>
        <p:spPr>
          <a:xfrm flipH="1">
            <a:off x="409908" y="139521"/>
            <a:ext cx="1685929" cy="459799"/>
          </a:xfrm>
          <a:custGeom>
            <a:avLst/>
            <a:gdLst/>
            <a:ahLst/>
            <a:cxnLst/>
            <a:rect l="l" t="t" r="r" b="b"/>
            <a:pathLst>
              <a:path w="2528893" h="689698" extrusionOk="0">
                <a:moveTo>
                  <a:pt x="2528893" y="0"/>
                </a:moveTo>
                <a:lnTo>
                  <a:pt x="0" y="0"/>
                </a:lnTo>
                <a:lnTo>
                  <a:pt x="0" y="689699"/>
                </a:lnTo>
                <a:lnTo>
                  <a:pt x="2528893" y="689699"/>
                </a:lnTo>
                <a:lnTo>
                  <a:pt x="2528893" y="0"/>
                </a:lnTo>
                <a:close/>
              </a:path>
            </a:pathLst>
          </a:custGeom>
          <a:blipFill rotWithShape="1">
            <a:blip r:embed="rId10">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09" name="Google Shape;409;p31"/>
          <p:cNvSpPr/>
          <p:nvPr/>
        </p:nvSpPr>
        <p:spPr>
          <a:xfrm>
            <a:off x="9815405" y="139521"/>
            <a:ext cx="1541587" cy="420433"/>
          </a:xfrm>
          <a:custGeom>
            <a:avLst/>
            <a:gdLst/>
            <a:ahLst/>
            <a:cxnLst/>
            <a:rect l="l" t="t" r="r" b="b"/>
            <a:pathLst>
              <a:path w="2312381" h="630649" extrusionOk="0">
                <a:moveTo>
                  <a:pt x="0" y="0"/>
                </a:moveTo>
                <a:lnTo>
                  <a:pt x="2312381" y="0"/>
                </a:lnTo>
                <a:lnTo>
                  <a:pt x="2312381" y="630650"/>
                </a:lnTo>
                <a:lnTo>
                  <a:pt x="0" y="630650"/>
                </a:lnTo>
                <a:lnTo>
                  <a:pt x="0" y="0"/>
                </a:lnTo>
                <a:close/>
              </a:path>
            </a:pathLst>
          </a:custGeom>
          <a:blipFill rotWithShape="1">
            <a:blip r:embed="rId10">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10" name="Google Shape;410;p31"/>
          <p:cNvSpPr txBox="1"/>
          <p:nvPr/>
        </p:nvSpPr>
        <p:spPr>
          <a:xfrm>
            <a:off x="716246" y="1409273"/>
            <a:ext cx="10168334" cy="906530"/>
          </a:xfrm>
          <a:prstGeom prst="rect">
            <a:avLst/>
          </a:prstGeom>
          <a:noFill/>
          <a:ln>
            <a:noFill/>
          </a:ln>
        </p:spPr>
        <p:txBody>
          <a:bodyPr spcFirstLastPara="1" wrap="square" lIns="0" tIns="0" rIns="0" bIns="0" anchor="t" anchorCtr="0">
            <a:spAutoFit/>
          </a:bodyPr>
          <a:lstStyle/>
          <a:p>
            <a:pPr algn="ctr">
              <a:lnSpc>
                <a:spcPct val="97002"/>
              </a:lnSpc>
            </a:pPr>
            <a:r>
              <a:rPr lang="en-US" sz="6073">
                <a:solidFill>
                  <a:srgbClr val="3B435F"/>
                </a:solidFill>
                <a:latin typeface="Sen"/>
                <a:ea typeface="Sen"/>
                <a:cs typeface="Sen"/>
                <a:sym typeface="Sen"/>
              </a:rPr>
              <a:t>Thank you for Your Time!</a:t>
            </a:r>
            <a:endParaRPr sz="1200"/>
          </a:p>
        </p:txBody>
      </p:sp>
      <p:sp>
        <p:nvSpPr>
          <p:cNvPr id="411" name="Google Shape;411;p31"/>
          <p:cNvSpPr/>
          <p:nvPr/>
        </p:nvSpPr>
        <p:spPr>
          <a:xfrm>
            <a:off x="4339548" y="-1116163"/>
            <a:ext cx="2921729" cy="1907092"/>
          </a:xfrm>
          <a:custGeom>
            <a:avLst/>
            <a:gdLst/>
            <a:ahLst/>
            <a:cxnLst/>
            <a:rect l="l" t="t" r="r" b="b"/>
            <a:pathLst>
              <a:path w="4382593" h="2860638" extrusionOk="0">
                <a:moveTo>
                  <a:pt x="0" y="0"/>
                </a:moveTo>
                <a:lnTo>
                  <a:pt x="4382593" y="0"/>
                </a:lnTo>
                <a:lnTo>
                  <a:pt x="4382593" y="2860638"/>
                </a:lnTo>
                <a:lnTo>
                  <a:pt x="0" y="2860638"/>
                </a:lnTo>
                <a:lnTo>
                  <a:pt x="0" y="0"/>
                </a:lnTo>
                <a:close/>
              </a:path>
            </a:pathLst>
          </a:custGeom>
          <a:blipFill rotWithShape="1">
            <a:blip r:embed="rId9">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
        <p:nvSpPr>
          <p:cNvPr id="412" name="Google Shape;412;p31"/>
          <p:cNvSpPr/>
          <p:nvPr/>
        </p:nvSpPr>
        <p:spPr>
          <a:xfrm>
            <a:off x="5604562" y="685800"/>
            <a:ext cx="1541587" cy="420433"/>
          </a:xfrm>
          <a:custGeom>
            <a:avLst/>
            <a:gdLst/>
            <a:ahLst/>
            <a:cxnLst/>
            <a:rect l="l" t="t" r="r" b="b"/>
            <a:pathLst>
              <a:path w="2312381" h="630649" extrusionOk="0">
                <a:moveTo>
                  <a:pt x="0" y="0"/>
                </a:moveTo>
                <a:lnTo>
                  <a:pt x="2312381" y="0"/>
                </a:lnTo>
                <a:lnTo>
                  <a:pt x="2312381" y="630649"/>
                </a:lnTo>
                <a:lnTo>
                  <a:pt x="0" y="630649"/>
                </a:lnTo>
                <a:lnTo>
                  <a:pt x="0" y="0"/>
                </a:lnTo>
                <a:close/>
              </a:path>
            </a:pathLst>
          </a:custGeom>
          <a:blipFill rotWithShape="1">
            <a:blip r:embed="rId10">
              <a:alphaModFix/>
            </a:blip>
            <a:stretch>
              <a:fillRect/>
            </a:stretch>
          </a:blipFill>
          <a:ln>
            <a:noFill/>
          </a:ln>
        </p:spPr>
        <p:txBody>
          <a:bodyPr spcFirstLastPara="1" wrap="square" lIns="60950" tIns="30467" rIns="60950" bIns="30467" anchor="t" anchorCtr="0">
            <a:noAutofit/>
          </a:bodyPr>
          <a:lstStyle/>
          <a:p>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321</TotalTime>
  <Words>1362</Words>
  <Application>Microsoft Macintosh PowerPoint</Application>
  <PresentationFormat>Widescreen</PresentationFormat>
  <Paragraphs>130</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Calibri</vt:lpstr>
      <vt:lpstr>Sen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Country vs Average Rating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Lavanya j, Lavanya j</dc:creator>
  <cp:lastModifiedBy>Lavanya j, Lavanya j</cp:lastModifiedBy>
  <cp:revision>11</cp:revision>
  <dcterms:created xsi:type="dcterms:W3CDTF">2025-09-19T13:14:53Z</dcterms:created>
  <dcterms:modified xsi:type="dcterms:W3CDTF">2025-11-13T06:09:37Z</dcterms:modified>
</cp:coreProperties>
</file>